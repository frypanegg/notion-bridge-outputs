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작년 수립한 HR 중기전략 3대 방향은 유지하되, 올해는 전사 '원가' 축의 ④ 인당생산성 향상을 '30년까지 어떻게 구체화할 것인가의 관점에서 Rolling했습니다.
작년 대비 달라진 여건은 네 가지입니다. ① S직군 직영 전환으로 직영/협력 구분 관리가 무의미해졌고, ② 통상임금 확대로 인원수보다 노무비 단가가 원가를 좌우하며, ③ AI·로보틱스가 노동력을 대체하고, ④ 인력규모를 인위적으로 조정하기 어려워졌습니다.
이에 따라 관리 대상은 Total 인력, 관리 기준은 노무비, 관리 범위는 AI·로보틱스를 포함한 Total Workforce, 관리 방식은 TO 선제 설계로 전환합니다.
핵심은 사람(PO)을 줄이는 것이 아니라 일의 기준(TO)을 낮추고, PO는 자연감소와 재배치로 따라오게 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'30년 목표는 Total TO(직영+협력) OO% 감축, 인당 생산성 OO% 향상, Total 노무비 매출액 대비 OO% 이내 관리입니다.
S직군 직영 전환은 총량이 변하지 않는 구성 변화이므로, 실질 감축은 자동화·라인 효율화·업무 Span 확대의 3대 Lever로 달성합니다.
TO를 먼저 낮추고, PO는 정년퇴직 등 자연감소와 Re-skilling 후 신사업·해외 재배치를 통해 단계적으로 수렴시켜 노사 수용성을 확보합니다.
이를 위해 노무비 기반 관리체계(신규)와 작년 수립한 3대 전략을 실행기반으로 재배치하고, '26 기반 구축 → '27~'28 본격 실행 → '29~'30 정착의 3단계로 추진합니다.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원가 경쟁력</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Ⅰ. 인당생산성 향상 중기전략 Rolling 방향</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원가 ④ 인당생산성 향상</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근지위 소송·협력작업 혁신에 따른 인력구조 변화와 저수익 구조 장기화를 반영하여, 인력운영 관리기준을 『직영 인원수(Volume)』에서 『Total 인력·노무비(Cost)』 중심으로 전환</a:t>
            </a:r>
            <a:endParaRPr lang="en-US" sz="1200" dirty="0"/>
          </a:p>
        </p:txBody>
      </p:sp>
      <p:sp>
        <p:nvSpPr>
          <p:cNvPr id="9" name="Text 7"/>
          <p:cNvSpPr/>
          <p:nvPr/>
        </p:nvSpPr>
        <p:spPr>
          <a:xfrm>
            <a:off x="365760" y="1572768"/>
            <a:ext cx="2743200"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전사 중기경영전략 연계</a:t>
            </a:r>
            <a:endParaRPr lang="en-US" sz="1100" dirty="0"/>
          </a:p>
        </p:txBody>
      </p:sp>
      <p:sp>
        <p:nvSpPr>
          <p:cNvPr id="10" name="Shape 8"/>
          <p:cNvSpPr/>
          <p:nvPr/>
        </p:nvSpPr>
        <p:spPr>
          <a:xfrm>
            <a:off x="365760" y="1883664"/>
            <a:ext cx="2743200" cy="4005072"/>
          </a:xfrm>
          <a:prstGeom prst="rect">
            <a:avLst/>
          </a:prstGeom>
          <a:solidFill>
            <a:srgbClr val="FFFFFF"/>
          </a:solidFill>
          <a:ln w="9525">
            <a:solidFill>
              <a:srgbClr val="BFC7D2"/>
            </a:solidFill>
            <a:prstDash val="solid"/>
          </a:ln>
        </p:spPr>
      </p:sp>
      <p:sp>
        <p:nvSpPr>
          <p:cNvPr id="11" name="Text 9"/>
          <p:cNvSpPr/>
          <p:nvPr/>
        </p:nvSpPr>
        <p:spPr>
          <a:xfrm>
            <a:off x="457200" y="1938528"/>
            <a:ext cx="2560320" cy="237744"/>
          </a:xfrm>
          <a:prstGeom prst="rect">
            <a:avLst/>
          </a:prstGeom>
          <a:noFill/>
          <a:ln/>
        </p:spPr>
        <p:txBody>
          <a:bodyPr wrap="square" lIns="0" tIns="0" rIns="0" bIns="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'30 중기 경영전략 5대 축</a:t>
            </a:r>
            <a:endParaRPr lang="en-US" sz="950" dirty="0"/>
          </a:p>
        </p:txBody>
      </p:sp>
      <p:sp>
        <p:nvSpPr>
          <p:cNvPr id="12" name="Text 10"/>
          <p:cNvSpPr/>
          <p:nvPr/>
        </p:nvSpPr>
        <p:spPr>
          <a:xfrm>
            <a:off x="457200"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성장</a:t>
            </a:r>
            <a:endParaRPr lang="en-US" sz="850" dirty="0"/>
          </a:p>
        </p:txBody>
      </p:sp>
      <p:sp>
        <p:nvSpPr>
          <p:cNvPr id="13" name="Text 11"/>
          <p:cNvSpPr/>
          <p:nvPr/>
        </p:nvSpPr>
        <p:spPr>
          <a:xfrm>
            <a:off x="978408" y="2212848"/>
            <a:ext cx="475488" cy="438912"/>
          </a:xfrm>
          <a:prstGeom prst="rect">
            <a:avLst/>
          </a:prstGeom>
          <a:solidFill>
            <a:srgbClr val="E8541E"/>
          </a:solidFill>
          <a:ln w="9525">
            <a:solidFill>
              <a:srgbClr val="E8541E"/>
            </a:solidFill>
          </a:ln>
        </p:spPr>
        <p:txBody>
          <a:bodyPr wrap="square" lIns="0" tIns="0" rIns="0" bIns="0"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원가</a:t>
            </a:r>
            <a:endParaRPr lang="en-US" sz="850" dirty="0"/>
          </a:p>
        </p:txBody>
      </p:sp>
      <p:sp>
        <p:nvSpPr>
          <p:cNvPr id="14" name="Text 12"/>
          <p:cNvSpPr/>
          <p:nvPr/>
        </p:nvSpPr>
        <p:spPr>
          <a:xfrm>
            <a:off x="1499616"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기술</a:t>
            </a:r>
            <a:endParaRPr lang="en-US" sz="850" dirty="0"/>
          </a:p>
          <a:p>
            <a:pPr algn="ctr" indent="0" marL="0">
              <a:buNone/>
            </a:pPr>
            <a:r>
              <a:rPr lang="en-US" sz="850" dirty="0">
                <a:solidFill>
                  <a:srgbClr val="555555"/>
                </a:solidFill>
                <a:latin typeface="맑은 고딕" pitchFamily="34" charset="0"/>
                <a:ea typeface="맑은 고딕" pitchFamily="34" charset="-122"/>
                <a:cs typeface="맑은 고딕" pitchFamily="34" charset="-120"/>
              </a:rPr>
              <a:t>제품</a:t>
            </a:r>
            <a:endParaRPr lang="en-US" sz="850" dirty="0"/>
          </a:p>
        </p:txBody>
      </p:sp>
      <p:sp>
        <p:nvSpPr>
          <p:cNvPr id="15" name="Text 13"/>
          <p:cNvSpPr/>
          <p:nvPr/>
        </p:nvSpPr>
        <p:spPr>
          <a:xfrm>
            <a:off x="2020824"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미래</a:t>
            </a:r>
            <a:endParaRPr lang="en-US" sz="850" dirty="0"/>
          </a:p>
        </p:txBody>
      </p:sp>
      <p:sp>
        <p:nvSpPr>
          <p:cNvPr id="16" name="Text 14"/>
          <p:cNvSpPr/>
          <p:nvPr/>
        </p:nvSpPr>
        <p:spPr>
          <a:xfrm>
            <a:off x="2542032"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사업</a:t>
            </a:r>
            <a:endParaRPr lang="en-US" sz="850" dirty="0"/>
          </a:p>
          <a:p>
            <a:pPr algn="ctr" indent="0" marL="0">
              <a:buNone/>
            </a:pPr>
            <a:r>
              <a:rPr lang="en-US" sz="850" dirty="0">
                <a:solidFill>
                  <a:srgbClr val="555555"/>
                </a:solidFill>
                <a:latin typeface="맑은 고딕" pitchFamily="34" charset="0"/>
                <a:ea typeface="맑은 고딕" pitchFamily="34" charset="-122"/>
                <a:cs typeface="맑은 고딕" pitchFamily="34" charset="-120"/>
              </a:rPr>
              <a:t>재편</a:t>
            </a:r>
            <a:endParaRPr lang="en-US" sz="850" dirty="0"/>
          </a:p>
        </p:txBody>
      </p:sp>
      <p:sp>
        <p:nvSpPr>
          <p:cNvPr id="17" name="Shape 15"/>
          <p:cNvSpPr/>
          <p:nvPr/>
        </p:nvSpPr>
        <p:spPr>
          <a:xfrm>
            <a:off x="1097280" y="2697480"/>
            <a:ext cx="237744" cy="201168"/>
          </a:xfrm>
          <a:prstGeom prst="downArrow">
            <a:avLst/>
          </a:prstGeom>
          <a:solidFill>
            <a:srgbClr val="E8541E"/>
          </a:solidFill>
          <a:ln w="12700">
            <a:solidFill>
              <a:srgbClr val="E8541E"/>
            </a:solidFill>
            <a:prstDash val="solid"/>
          </a:ln>
        </p:spPr>
      </p:sp>
      <p:sp>
        <p:nvSpPr>
          <p:cNvPr id="18" name="Text 16"/>
          <p:cNvSpPr/>
          <p:nvPr/>
        </p:nvSpPr>
        <p:spPr>
          <a:xfrm>
            <a:off x="457200" y="2926080"/>
            <a:ext cx="2560320" cy="658368"/>
          </a:xfrm>
          <a:prstGeom prst="rect">
            <a:avLst/>
          </a:prstGeom>
          <a:solidFill>
            <a:srgbClr val="FDEDE6"/>
          </a:solidFill>
          <a:ln w="19050">
            <a:solidFill>
              <a:srgbClr val="E8541E"/>
            </a:solidFill>
          </a:ln>
        </p:spPr>
        <p:txBody>
          <a:bodyPr wrap="square" lIns="25400" tIns="25400" rIns="25400" bIns="25400" rtlCol="0" anchor="ctr"/>
          <a:lstStyle/>
          <a:p>
            <a:pPr algn="ctr" indent="0" marL="0">
              <a:buNone/>
            </a:pPr>
            <a:r>
              <a:rPr lang="en-US" sz="1200" b="1" dirty="0">
                <a:solidFill>
                  <a:srgbClr val="C2410C"/>
                </a:solidFill>
                <a:latin typeface="맑은 고딕" pitchFamily="34" charset="0"/>
                <a:ea typeface="맑은 고딕" pitchFamily="34" charset="-122"/>
                <a:cs typeface="맑은 고딕" pitchFamily="34" charset="-120"/>
              </a:rPr>
              <a:t>④ 인당생산성 향상</a:t>
            </a:r>
            <a:endParaRPr lang="en-US" sz="900" dirty="0"/>
          </a:p>
          <a:p>
            <a:pPr algn="ctr" indent="0" marL="0">
              <a:buNone/>
            </a:pPr>
            <a:r>
              <a:rPr lang="en-US" sz="950" dirty="0">
                <a:solidFill>
                  <a:srgbClr val="222222"/>
                </a:solidFill>
                <a:latin typeface="맑은 고딕" pitchFamily="34" charset="0"/>
                <a:ea typeface="맑은 고딕" pitchFamily="34" charset="-122"/>
                <a:cs typeface="맑은 고딕" pitchFamily="34" charset="-120"/>
              </a:rPr>
              <a:t>자동화 및 WX 기반 인력 최적화</a:t>
            </a:r>
            <a:endParaRPr lang="en-US" sz="900" dirty="0"/>
          </a:p>
        </p:txBody>
      </p:sp>
      <p:sp>
        <p:nvSpPr>
          <p:cNvPr id="19" name="Text 17"/>
          <p:cNvSpPr/>
          <p:nvPr/>
        </p:nvSpPr>
        <p:spPr>
          <a:xfrm>
            <a:off x="457200" y="3657600"/>
            <a:ext cx="2560320" cy="237744"/>
          </a:xfrm>
          <a:prstGeom prst="rect">
            <a:avLst/>
          </a:prstGeom>
          <a:noFill/>
          <a:ln/>
        </p:spPr>
        <p:txBody>
          <a:bodyPr wrap="square" lIns="0" tIns="0" rIns="0" bIns="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'25 수립 HR 중기전략 (3대 방향)</a:t>
            </a:r>
            <a:endParaRPr lang="en-US" sz="950" dirty="0"/>
          </a:p>
        </p:txBody>
      </p:sp>
      <p:sp>
        <p:nvSpPr>
          <p:cNvPr id="20" name="Shape 18"/>
          <p:cNvSpPr/>
          <p:nvPr/>
        </p:nvSpPr>
        <p:spPr>
          <a:xfrm>
            <a:off x="457200" y="3931920"/>
            <a:ext cx="2560320" cy="338328"/>
          </a:xfrm>
          <a:prstGeom prst="rect">
            <a:avLst/>
          </a:prstGeom>
          <a:solidFill>
            <a:srgbClr val="F2F4F7"/>
          </a:solidFill>
          <a:ln w="12700">
            <a:solidFill>
              <a:srgbClr val="F2F4F7"/>
            </a:solidFill>
            <a:prstDash val="solid"/>
          </a:ln>
        </p:spPr>
      </p:sp>
      <p:sp>
        <p:nvSpPr>
          <p:cNvPr id="21" name="Text 19"/>
          <p:cNvSpPr/>
          <p:nvPr/>
        </p:nvSpPr>
        <p:spPr>
          <a:xfrm>
            <a:off x="512064" y="4000500"/>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1</a:t>
            </a:r>
            <a:endParaRPr lang="en-US" sz="800" dirty="0"/>
          </a:p>
        </p:txBody>
      </p:sp>
      <p:sp>
        <p:nvSpPr>
          <p:cNvPr id="22" name="Text 20"/>
          <p:cNvSpPr/>
          <p:nvPr/>
        </p:nvSpPr>
        <p:spPr>
          <a:xfrm>
            <a:off x="758952" y="3931920"/>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DX 연계 인적경쟁력 제고/우수인재 육성</a:t>
            </a:r>
            <a:endParaRPr lang="en-US" sz="850" dirty="0"/>
          </a:p>
        </p:txBody>
      </p:sp>
      <p:sp>
        <p:nvSpPr>
          <p:cNvPr id="23" name="Shape 21"/>
          <p:cNvSpPr/>
          <p:nvPr/>
        </p:nvSpPr>
        <p:spPr>
          <a:xfrm>
            <a:off x="457200" y="4315968"/>
            <a:ext cx="2560320" cy="338328"/>
          </a:xfrm>
          <a:prstGeom prst="rect">
            <a:avLst/>
          </a:prstGeom>
          <a:solidFill>
            <a:srgbClr val="F2F4F7"/>
          </a:solidFill>
          <a:ln w="12700">
            <a:solidFill>
              <a:srgbClr val="F2F4F7"/>
            </a:solidFill>
            <a:prstDash val="solid"/>
          </a:ln>
        </p:spPr>
      </p:sp>
      <p:sp>
        <p:nvSpPr>
          <p:cNvPr id="24" name="Text 22"/>
          <p:cNvSpPr/>
          <p:nvPr/>
        </p:nvSpPr>
        <p:spPr>
          <a:xfrm>
            <a:off x="512064" y="4384548"/>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2</a:t>
            </a:r>
            <a:endParaRPr lang="en-US" sz="800" dirty="0"/>
          </a:p>
        </p:txBody>
      </p:sp>
      <p:sp>
        <p:nvSpPr>
          <p:cNvPr id="25" name="Text 23"/>
          <p:cNvSpPr/>
          <p:nvPr/>
        </p:nvSpPr>
        <p:spPr>
          <a:xfrm>
            <a:off x="758952" y="4315968"/>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노무경쟁력 혁신 통한 노동환경 변화 대응</a:t>
            </a:r>
            <a:endParaRPr lang="en-US" sz="850" dirty="0"/>
          </a:p>
        </p:txBody>
      </p:sp>
      <p:sp>
        <p:nvSpPr>
          <p:cNvPr id="26" name="Shape 24"/>
          <p:cNvSpPr/>
          <p:nvPr/>
        </p:nvSpPr>
        <p:spPr>
          <a:xfrm>
            <a:off x="457200" y="4700016"/>
            <a:ext cx="2560320" cy="338328"/>
          </a:xfrm>
          <a:prstGeom prst="rect">
            <a:avLst/>
          </a:prstGeom>
          <a:solidFill>
            <a:srgbClr val="F2F4F7"/>
          </a:solidFill>
          <a:ln w="12700">
            <a:solidFill>
              <a:srgbClr val="F2F4F7"/>
            </a:solidFill>
            <a:prstDash val="solid"/>
          </a:ln>
        </p:spPr>
      </p:sp>
      <p:sp>
        <p:nvSpPr>
          <p:cNvPr id="27" name="Text 25"/>
          <p:cNvSpPr/>
          <p:nvPr/>
        </p:nvSpPr>
        <p:spPr>
          <a:xfrm>
            <a:off x="512064" y="4768596"/>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a:t>
            </a:r>
            <a:endParaRPr lang="en-US" sz="800" dirty="0"/>
          </a:p>
        </p:txBody>
      </p:sp>
      <p:sp>
        <p:nvSpPr>
          <p:cNvPr id="28" name="Text 26"/>
          <p:cNvSpPr/>
          <p:nvPr/>
        </p:nvSpPr>
        <p:spPr>
          <a:xfrm>
            <a:off x="758952" y="4700016"/>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AI·DX 활용 일하는 방식 근본적 개선</a:t>
            </a:r>
            <a:endParaRPr lang="en-US" sz="850" dirty="0"/>
          </a:p>
        </p:txBody>
      </p:sp>
      <p:sp>
        <p:nvSpPr>
          <p:cNvPr id="29" name="Shape 27"/>
          <p:cNvSpPr/>
          <p:nvPr/>
        </p:nvSpPr>
        <p:spPr>
          <a:xfrm>
            <a:off x="1618488" y="5102352"/>
            <a:ext cx="237744" cy="182880"/>
          </a:xfrm>
          <a:prstGeom prst="downArrow">
            <a:avLst/>
          </a:prstGeom>
          <a:solidFill>
            <a:srgbClr val="0B2D5B"/>
          </a:solidFill>
          <a:ln w="12700">
            <a:solidFill>
              <a:srgbClr val="0B2D5B"/>
            </a:solidFill>
            <a:prstDash val="solid"/>
          </a:ln>
        </p:spPr>
      </p:sp>
      <p:sp>
        <p:nvSpPr>
          <p:cNvPr id="30" name="Text 28"/>
          <p:cNvSpPr/>
          <p:nvPr/>
        </p:nvSpPr>
        <p:spPr>
          <a:xfrm>
            <a:off x="457200" y="5303520"/>
            <a:ext cx="2560320" cy="548640"/>
          </a:xfrm>
          <a:prstGeom prst="rect">
            <a:avLst/>
          </a:prstGeom>
          <a:solidFill>
            <a:srgbClr val="0B2D5B"/>
          </a:solidFill>
          <a:ln>
            <a:solidFill>
              <a:srgbClr val="0B2D5B"/>
            </a:solidFill>
          </a:ln>
        </p:spPr>
        <p:txBody>
          <a:bodyPr wrap="square" lIns="12700" tIns="12700" rIns="12700" bIns="12700" rtlCol="0" anchor="ctr"/>
          <a:lstStyle/>
          <a:p>
            <a:pPr algn="ctr" indent="0" marL="0">
              <a:buNone/>
            </a:pPr>
            <a:r>
              <a:rPr lang="en-US" sz="850" b="1" dirty="0">
                <a:solidFill>
                  <a:srgbClr val="FFC7A8"/>
                </a:solidFill>
                <a:latin typeface="맑은 고딕" pitchFamily="34" charset="0"/>
                <a:ea typeface="맑은 고딕" pitchFamily="34" charset="-122"/>
                <a:cs typeface="맑은 고딕" pitchFamily="34" charset="-120"/>
              </a:rPr>
              <a:t>'26 Rolling 관점</a:t>
            </a:r>
            <a:endParaRPr lang="en-US" sz="900" dirty="0"/>
          </a:p>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인당생산성 향상의 '30년 구체화</a:t>
            </a:r>
            <a:endParaRPr lang="en-US" sz="900" dirty="0"/>
          </a:p>
          <a:p>
            <a:pPr algn="ctr" indent="0" marL="0">
              <a:buNone/>
            </a:pPr>
            <a:r>
              <a:rPr lang="en-US" sz="850" dirty="0">
                <a:solidFill>
                  <a:srgbClr val="FFFFFF"/>
                </a:solidFill>
                <a:latin typeface="맑은 고딕" pitchFamily="34" charset="0"/>
                <a:ea typeface="맑은 고딕" pitchFamily="34" charset="-122"/>
                <a:cs typeface="맑은 고딕" pitchFamily="34" charset="-120"/>
              </a:rPr>
              <a:t>PO가 아닌 TO 감축 중심 재설계</a:t>
            </a:r>
            <a:endParaRPr lang="en-US" sz="900" dirty="0"/>
          </a:p>
        </p:txBody>
      </p:sp>
      <p:sp>
        <p:nvSpPr>
          <p:cNvPr id="31" name="Shape 29"/>
          <p:cNvSpPr/>
          <p:nvPr/>
        </p:nvSpPr>
        <p:spPr>
          <a:xfrm>
            <a:off x="3154680" y="3703320"/>
            <a:ext cx="182880" cy="329184"/>
          </a:xfrm>
          <a:prstGeom prst="chevron">
            <a:avLst/>
          </a:prstGeom>
          <a:solidFill>
            <a:srgbClr val="1F5FA8"/>
          </a:solidFill>
          <a:ln w="12700">
            <a:solidFill>
              <a:srgbClr val="1F5FA8"/>
            </a:solidFill>
            <a:prstDash val="solid"/>
          </a:ln>
        </p:spPr>
      </p:sp>
      <p:sp>
        <p:nvSpPr>
          <p:cNvPr id="32" name="Text 30"/>
          <p:cNvSpPr/>
          <p:nvPr/>
        </p:nvSpPr>
        <p:spPr>
          <a:xfrm>
            <a:off x="3401568" y="1572768"/>
            <a:ext cx="3566160"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여건 변화 (현상 및 문제점)</a:t>
            </a:r>
            <a:endParaRPr lang="en-US" sz="1100" dirty="0"/>
          </a:p>
        </p:txBody>
      </p:sp>
      <p:sp>
        <p:nvSpPr>
          <p:cNvPr id="33" name="Text 31"/>
          <p:cNvSpPr/>
          <p:nvPr/>
        </p:nvSpPr>
        <p:spPr>
          <a:xfrm>
            <a:off x="7269480" y="1572768"/>
            <a:ext cx="4553712"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인력운영 패러다임 전환 (As-Is → To-Be)</a:t>
            </a:r>
            <a:endParaRPr lang="en-US" sz="1100" dirty="0"/>
          </a:p>
        </p:txBody>
      </p:sp>
      <p:sp>
        <p:nvSpPr>
          <p:cNvPr id="34" name="Shape 32"/>
          <p:cNvSpPr/>
          <p:nvPr/>
        </p:nvSpPr>
        <p:spPr>
          <a:xfrm>
            <a:off x="3401568" y="1956816"/>
            <a:ext cx="3566160" cy="914400"/>
          </a:xfrm>
          <a:prstGeom prst="rect">
            <a:avLst/>
          </a:prstGeom>
          <a:solidFill>
            <a:srgbClr val="FFFFFF"/>
          </a:solidFill>
          <a:ln w="9525">
            <a:solidFill>
              <a:srgbClr val="BFC7D2"/>
            </a:solidFill>
            <a:prstDash val="solid"/>
          </a:ln>
        </p:spPr>
      </p:sp>
      <p:sp>
        <p:nvSpPr>
          <p:cNvPr id="35" name="Text 33"/>
          <p:cNvSpPr/>
          <p:nvPr/>
        </p:nvSpPr>
        <p:spPr>
          <a:xfrm>
            <a:off x="3401568" y="195681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①</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인력구성</a:t>
            </a:r>
            <a:endParaRPr lang="en-US" sz="900" dirty="0"/>
          </a:p>
        </p:txBody>
      </p:sp>
      <p:sp>
        <p:nvSpPr>
          <p:cNvPr id="36" name="Text 34"/>
          <p:cNvSpPr/>
          <p:nvPr/>
        </p:nvSpPr>
        <p:spPr>
          <a:xfrm>
            <a:off x="4114800" y="200253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S직군 직영 전환에 따른 인력구조 변화</a:t>
            </a:r>
            <a:endParaRPr lang="en-US" sz="1000" dirty="0"/>
          </a:p>
        </p:txBody>
      </p:sp>
      <p:sp>
        <p:nvSpPr>
          <p:cNvPr id="37" name="Text 35"/>
          <p:cNvSpPr/>
          <p:nvPr/>
        </p:nvSpPr>
        <p:spPr>
          <a:xfrm>
            <a:off x="4114800" y="227685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근지위 소송·협력작업 혁신('26.4월~)으로 직영 인력 증가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직영/협력 구분의 단순 인원수(Volume) 관리 한계 有</a:t>
            </a:r>
            <a:endParaRPr lang="en-US" sz="900" dirty="0"/>
          </a:p>
        </p:txBody>
      </p:sp>
      <p:sp>
        <p:nvSpPr>
          <p:cNvPr id="38" name="Shape 36"/>
          <p:cNvSpPr/>
          <p:nvPr/>
        </p:nvSpPr>
        <p:spPr>
          <a:xfrm>
            <a:off x="6986016" y="2295144"/>
            <a:ext cx="256032" cy="237744"/>
          </a:xfrm>
          <a:prstGeom prst="rightArrow">
            <a:avLst/>
          </a:prstGeom>
          <a:solidFill>
            <a:srgbClr val="1F5FA8"/>
          </a:solidFill>
          <a:ln w="12700">
            <a:solidFill>
              <a:srgbClr val="1F5FA8"/>
            </a:solidFill>
            <a:prstDash val="solid"/>
          </a:ln>
        </p:spPr>
      </p:sp>
      <p:sp>
        <p:nvSpPr>
          <p:cNvPr id="39" name="Text 37"/>
          <p:cNvSpPr/>
          <p:nvPr/>
        </p:nvSpPr>
        <p:spPr>
          <a:xfrm>
            <a:off x="7269480" y="195681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대상</a:t>
            </a:r>
            <a:endParaRPr lang="en-US" sz="950" dirty="0"/>
          </a:p>
        </p:txBody>
      </p:sp>
      <p:sp>
        <p:nvSpPr>
          <p:cNvPr id="40" name="Text 38"/>
          <p:cNvSpPr/>
          <p:nvPr/>
        </p:nvSpPr>
        <p:spPr>
          <a:xfrm>
            <a:off x="8046720" y="195681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직영/협력</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구분 관리</a:t>
            </a:r>
            <a:endParaRPr lang="en-US" sz="900" dirty="0"/>
          </a:p>
        </p:txBody>
      </p:sp>
      <p:sp>
        <p:nvSpPr>
          <p:cNvPr id="41" name="Shape 39"/>
          <p:cNvSpPr/>
          <p:nvPr/>
        </p:nvSpPr>
        <p:spPr>
          <a:xfrm>
            <a:off x="9564624" y="2286000"/>
            <a:ext cx="274320" cy="256032"/>
          </a:xfrm>
          <a:prstGeom prst="rightArrow">
            <a:avLst/>
          </a:prstGeom>
          <a:solidFill>
            <a:srgbClr val="E8541E"/>
          </a:solidFill>
          <a:ln w="12700">
            <a:solidFill>
              <a:srgbClr val="E8541E"/>
            </a:solidFill>
            <a:prstDash val="solid"/>
          </a:ln>
        </p:spPr>
      </p:sp>
      <p:sp>
        <p:nvSpPr>
          <p:cNvPr id="42" name="Text 40"/>
          <p:cNvSpPr/>
          <p:nvPr/>
        </p:nvSpPr>
        <p:spPr>
          <a:xfrm>
            <a:off x="9875520" y="195681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직영+협력</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인력 통합 관리</a:t>
            </a:r>
            <a:endParaRPr lang="en-US" sz="900" dirty="0"/>
          </a:p>
        </p:txBody>
      </p:sp>
      <p:sp>
        <p:nvSpPr>
          <p:cNvPr id="43" name="Shape 41"/>
          <p:cNvSpPr/>
          <p:nvPr/>
        </p:nvSpPr>
        <p:spPr>
          <a:xfrm>
            <a:off x="3401568" y="2962656"/>
            <a:ext cx="3566160" cy="914400"/>
          </a:xfrm>
          <a:prstGeom prst="rect">
            <a:avLst/>
          </a:prstGeom>
          <a:solidFill>
            <a:srgbClr val="FFFFFF"/>
          </a:solidFill>
          <a:ln w="9525">
            <a:solidFill>
              <a:srgbClr val="BFC7D2"/>
            </a:solidFill>
            <a:prstDash val="solid"/>
          </a:ln>
        </p:spPr>
      </p:sp>
      <p:sp>
        <p:nvSpPr>
          <p:cNvPr id="44" name="Text 42"/>
          <p:cNvSpPr/>
          <p:nvPr/>
        </p:nvSpPr>
        <p:spPr>
          <a:xfrm>
            <a:off x="3401568" y="296265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②</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비용구조</a:t>
            </a:r>
            <a:endParaRPr lang="en-US" sz="900" dirty="0"/>
          </a:p>
        </p:txBody>
      </p:sp>
      <p:sp>
        <p:nvSpPr>
          <p:cNvPr id="45" name="Text 43"/>
          <p:cNvSpPr/>
          <p:nvPr/>
        </p:nvSpPr>
        <p:spPr>
          <a:xfrm>
            <a:off x="4114800" y="300837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통상임금 확대 등 노무비 상승 압력 가중</a:t>
            </a:r>
            <a:endParaRPr lang="en-US" sz="1000" dirty="0"/>
          </a:p>
        </p:txBody>
      </p:sp>
      <p:sp>
        <p:nvSpPr>
          <p:cNvPr id="46" name="Text 44"/>
          <p:cNvSpPr/>
          <p:nvPr/>
        </p:nvSpPr>
        <p:spPr>
          <a:xfrm>
            <a:off x="4114800" y="328269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통상임금 범위 확대로 퇴직급여·복리후생 비용 증대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임금차액 소송에 따른 잠재적 매몰비용 증가</a:t>
            </a:r>
            <a:endParaRPr lang="en-US" sz="900" dirty="0"/>
          </a:p>
        </p:txBody>
      </p:sp>
      <p:sp>
        <p:nvSpPr>
          <p:cNvPr id="47" name="Shape 45"/>
          <p:cNvSpPr/>
          <p:nvPr/>
        </p:nvSpPr>
        <p:spPr>
          <a:xfrm>
            <a:off x="6986016" y="3300984"/>
            <a:ext cx="256032" cy="237744"/>
          </a:xfrm>
          <a:prstGeom prst="rightArrow">
            <a:avLst/>
          </a:prstGeom>
          <a:solidFill>
            <a:srgbClr val="1F5FA8"/>
          </a:solidFill>
          <a:ln w="12700">
            <a:solidFill>
              <a:srgbClr val="1F5FA8"/>
            </a:solidFill>
            <a:prstDash val="solid"/>
          </a:ln>
        </p:spPr>
      </p:sp>
      <p:sp>
        <p:nvSpPr>
          <p:cNvPr id="48" name="Text 46"/>
          <p:cNvSpPr/>
          <p:nvPr/>
        </p:nvSpPr>
        <p:spPr>
          <a:xfrm>
            <a:off x="7269480" y="296265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기준</a:t>
            </a:r>
            <a:endParaRPr lang="en-US" sz="950" dirty="0"/>
          </a:p>
        </p:txBody>
      </p:sp>
      <p:sp>
        <p:nvSpPr>
          <p:cNvPr id="49" name="Text 47"/>
          <p:cNvSpPr/>
          <p:nvPr/>
        </p:nvSpPr>
        <p:spPr>
          <a:xfrm>
            <a:off x="8046720" y="296265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인원수</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(Head Count)</a:t>
            </a:r>
            <a:endParaRPr lang="en-US" sz="900" dirty="0"/>
          </a:p>
        </p:txBody>
      </p:sp>
      <p:sp>
        <p:nvSpPr>
          <p:cNvPr id="50" name="Shape 48"/>
          <p:cNvSpPr/>
          <p:nvPr/>
        </p:nvSpPr>
        <p:spPr>
          <a:xfrm>
            <a:off x="9564624" y="3291840"/>
            <a:ext cx="274320" cy="256032"/>
          </a:xfrm>
          <a:prstGeom prst="rightArrow">
            <a:avLst/>
          </a:prstGeom>
          <a:solidFill>
            <a:srgbClr val="E8541E"/>
          </a:solidFill>
          <a:ln w="12700">
            <a:solidFill>
              <a:srgbClr val="E8541E"/>
            </a:solidFill>
            <a:prstDash val="solid"/>
          </a:ln>
        </p:spPr>
      </p:sp>
      <p:sp>
        <p:nvSpPr>
          <p:cNvPr id="51" name="Text 49"/>
          <p:cNvSpPr/>
          <p:nvPr/>
        </p:nvSpPr>
        <p:spPr>
          <a:xfrm>
            <a:off x="9875520" y="296265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노무비(Labor Cost)</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기반 원가 관리</a:t>
            </a:r>
            <a:endParaRPr lang="en-US" sz="900" dirty="0"/>
          </a:p>
        </p:txBody>
      </p:sp>
      <p:sp>
        <p:nvSpPr>
          <p:cNvPr id="52" name="Shape 50"/>
          <p:cNvSpPr/>
          <p:nvPr/>
        </p:nvSpPr>
        <p:spPr>
          <a:xfrm>
            <a:off x="3401568" y="3968496"/>
            <a:ext cx="3566160" cy="914400"/>
          </a:xfrm>
          <a:prstGeom prst="rect">
            <a:avLst/>
          </a:prstGeom>
          <a:solidFill>
            <a:srgbClr val="FFFFFF"/>
          </a:solidFill>
          <a:ln w="9525">
            <a:solidFill>
              <a:srgbClr val="BFC7D2"/>
            </a:solidFill>
            <a:prstDash val="solid"/>
          </a:ln>
        </p:spPr>
      </p:sp>
      <p:sp>
        <p:nvSpPr>
          <p:cNvPr id="53" name="Text 51"/>
          <p:cNvSpPr/>
          <p:nvPr/>
        </p:nvSpPr>
        <p:spPr>
          <a:xfrm>
            <a:off x="3401568" y="396849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③</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생산주체</a:t>
            </a:r>
            <a:endParaRPr lang="en-US" sz="900" dirty="0"/>
          </a:p>
        </p:txBody>
      </p:sp>
      <p:sp>
        <p:nvSpPr>
          <p:cNvPr id="54" name="Text 52"/>
          <p:cNvSpPr/>
          <p:nvPr/>
        </p:nvSpPr>
        <p:spPr>
          <a:xfrm>
            <a:off x="4114800" y="401421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AI/로보틱스 등 생산·업무처리 주체 다변화</a:t>
            </a:r>
            <a:endParaRPr lang="en-US" sz="1000" dirty="0"/>
          </a:p>
        </p:txBody>
      </p:sp>
      <p:sp>
        <p:nvSpPr>
          <p:cNvPr id="55" name="Text 53"/>
          <p:cNvSpPr/>
          <p:nvPr/>
        </p:nvSpPr>
        <p:spPr>
          <a:xfrm>
            <a:off x="4114800" y="428853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직영/협력 노동력을 대체하는 AI·로보틱스 및 유지보수 인력 확대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사람 중심 인력계획으로는 실질 생산역량 파악 한계</a:t>
            </a:r>
            <a:endParaRPr lang="en-US" sz="900" dirty="0"/>
          </a:p>
        </p:txBody>
      </p:sp>
      <p:sp>
        <p:nvSpPr>
          <p:cNvPr id="56" name="Shape 54"/>
          <p:cNvSpPr/>
          <p:nvPr/>
        </p:nvSpPr>
        <p:spPr>
          <a:xfrm>
            <a:off x="6986016" y="4306824"/>
            <a:ext cx="256032" cy="237744"/>
          </a:xfrm>
          <a:prstGeom prst="rightArrow">
            <a:avLst/>
          </a:prstGeom>
          <a:solidFill>
            <a:srgbClr val="1F5FA8"/>
          </a:solidFill>
          <a:ln w="12700">
            <a:solidFill>
              <a:srgbClr val="1F5FA8"/>
            </a:solidFill>
            <a:prstDash val="solid"/>
          </a:ln>
        </p:spPr>
      </p:sp>
      <p:sp>
        <p:nvSpPr>
          <p:cNvPr id="57" name="Text 55"/>
          <p:cNvSpPr/>
          <p:nvPr/>
        </p:nvSpPr>
        <p:spPr>
          <a:xfrm>
            <a:off x="7269480" y="396849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범위</a:t>
            </a:r>
            <a:endParaRPr lang="en-US" sz="950" dirty="0"/>
          </a:p>
        </p:txBody>
      </p:sp>
      <p:sp>
        <p:nvSpPr>
          <p:cNvPr id="58" name="Text 56"/>
          <p:cNvSpPr/>
          <p:nvPr/>
        </p:nvSpPr>
        <p:spPr>
          <a:xfrm>
            <a:off x="8046720" y="396849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사람(직영/협력)</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중심 인력계획</a:t>
            </a:r>
            <a:endParaRPr lang="en-US" sz="900" dirty="0"/>
          </a:p>
        </p:txBody>
      </p:sp>
      <p:sp>
        <p:nvSpPr>
          <p:cNvPr id="59" name="Shape 57"/>
          <p:cNvSpPr/>
          <p:nvPr/>
        </p:nvSpPr>
        <p:spPr>
          <a:xfrm>
            <a:off x="9564624" y="4297680"/>
            <a:ext cx="274320" cy="256032"/>
          </a:xfrm>
          <a:prstGeom prst="rightArrow">
            <a:avLst/>
          </a:prstGeom>
          <a:solidFill>
            <a:srgbClr val="E8541E"/>
          </a:solidFill>
          <a:ln w="12700">
            <a:solidFill>
              <a:srgbClr val="E8541E"/>
            </a:solidFill>
            <a:prstDash val="solid"/>
          </a:ln>
        </p:spPr>
      </p:sp>
      <p:sp>
        <p:nvSpPr>
          <p:cNvPr id="60" name="Text 58"/>
          <p:cNvSpPr/>
          <p:nvPr/>
        </p:nvSpPr>
        <p:spPr>
          <a:xfrm>
            <a:off x="9875520" y="396849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人+AI/로보틱스 포함</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Workforce 설계</a:t>
            </a:r>
            <a:endParaRPr lang="en-US" sz="900" dirty="0"/>
          </a:p>
        </p:txBody>
      </p:sp>
      <p:sp>
        <p:nvSpPr>
          <p:cNvPr id="61" name="Shape 59"/>
          <p:cNvSpPr/>
          <p:nvPr/>
        </p:nvSpPr>
        <p:spPr>
          <a:xfrm>
            <a:off x="3401568" y="4974336"/>
            <a:ext cx="3566160" cy="914400"/>
          </a:xfrm>
          <a:prstGeom prst="rect">
            <a:avLst/>
          </a:prstGeom>
          <a:solidFill>
            <a:srgbClr val="FFFFFF"/>
          </a:solidFill>
          <a:ln w="9525">
            <a:solidFill>
              <a:srgbClr val="BFC7D2"/>
            </a:solidFill>
            <a:prstDash val="solid"/>
          </a:ln>
        </p:spPr>
      </p:sp>
      <p:sp>
        <p:nvSpPr>
          <p:cNvPr id="62" name="Text 60"/>
          <p:cNvSpPr/>
          <p:nvPr/>
        </p:nvSpPr>
        <p:spPr>
          <a:xfrm>
            <a:off x="3401568" y="497433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④</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규모통제</a:t>
            </a:r>
            <a:endParaRPr lang="en-US" sz="900" dirty="0"/>
          </a:p>
        </p:txBody>
      </p:sp>
      <p:sp>
        <p:nvSpPr>
          <p:cNvPr id="63" name="Text 61"/>
          <p:cNvSpPr/>
          <p:nvPr/>
        </p:nvSpPr>
        <p:spPr>
          <a:xfrm>
            <a:off x="4114800" y="502005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유연한 인력규모 통제 難</a:t>
            </a:r>
            <a:endParaRPr lang="en-US" sz="1000" dirty="0"/>
          </a:p>
        </p:txBody>
      </p:sp>
      <p:sp>
        <p:nvSpPr>
          <p:cNvPr id="64" name="Text 62"/>
          <p:cNvSpPr/>
          <p:nvPr/>
        </p:nvSpPr>
        <p:spPr>
          <a:xfrm>
            <a:off x="4114800" y="529437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親노동 정책 기조下 채용규모 축소 부담, 대의기구의 인력 충원 요구 확대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인위적 PO 조정 곤란 → 구조적 TO 관리 필요</a:t>
            </a:r>
            <a:endParaRPr lang="en-US" sz="900" dirty="0"/>
          </a:p>
        </p:txBody>
      </p:sp>
      <p:sp>
        <p:nvSpPr>
          <p:cNvPr id="65" name="Shape 63"/>
          <p:cNvSpPr/>
          <p:nvPr/>
        </p:nvSpPr>
        <p:spPr>
          <a:xfrm>
            <a:off x="6986016" y="5312664"/>
            <a:ext cx="256032" cy="237744"/>
          </a:xfrm>
          <a:prstGeom prst="rightArrow">
            <a:avLst/>
          </a:prstGeom>
          <a:solidFill>
            <a:srgbClr val="1F5FA8"/>
          </a:solidFill>
          <a:ln w="12700">
            <a:solidFill>
              <a:srgbClr val="1F5FA8"/>
            </a:solidFill>
            <a:prstDash val="solid"/>
          </a:ln>
        </p:spPr>
      </p:sp>
      <p:sp>
        <p:nvSpPr>
          <p:cNvPr id="66" name="Text 64"/>
          <p:cNvSpPr/>
          <p:nvPr/>
        </p:nvSpPr>
        <p:spPr>
          <a:xfrm>
            <a:off x="7269480" y="497433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방식</a:t>
            </a:r>
            <a:endParaRPr lang="en-US" sz="950" dirty="0"/>
          </a:p>
        </p:txBody>
      </p:sp>
      <p:sp>
        <p:nvSpPr>
          <p:cNvPr id="67" name="Text 65"/>
          <p:cNvSpPr/>
          <p:nvPr/>
        </p:nvSpPr>
        <p:spPr>
          <a:xfrm>
            <a:off x="8046720" y="497433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충원요구 대응형</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PO 사후 통제</a:t>
            </a:r>
            <a:endParaRPr lang="en-US" sz="900" dirty="0"/>
          </a:p>
        </p:txBody>
      </p:sp>
      <p:sp>
        <p:nvSpPr>
          <p:cNvPr id="68" name="Shape 66"/>
          <p:cNvSpPr/>
          <p:nvPr/>
        </p:nvSpPr>
        <p:spPr>
          <a:xfrm>
            <a:off x="9564624" y="5303520"/>
            <a:ext cx="274320" cy="256032"/>
          </a:xfrm>
          <a:prstGeom prst="rightArrow">
            <a:avLst/>
          </a:prstGeom>
          <a:solidFill>
            <a:srgbClr val="E8541E"/>
          </a:solidFill>
          <a:ln w="12700">
            <a:solidFill>
              <a:srgbClr val="E8541E"/>
            </a:solidFill>
            <a:prstDash val="solid"/>
          </a:ln>
        </p:spPr>
      </p:sp>
      <p:sp>
        <p:nvSpPr>
          <p:cNvPr id="69" name="Text 67"/>
          <p:cNvSpPr/>
          <p:nvPr/>
        </p:nvSpPr>
        <p:spPr>
          <a:xfrm>
            <a:off x="9875520" y="497433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기준인력(TO) 선제 설계</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및 상시 Rolling 통제</a:t>
            </a:r>
            <a:endParaRPr lang="en-US" sz="900" dirty="0"/>
          </a:p>
        </p:txBody>
      </p:sp>
      <p:sp>
        <p:nvSpPr>
          <p:cNvPr id="70" name="Text 68"/>
          <p:cNvSpPr/>
          <p:nvPr/>
        </p:nvSpPr>
        <p:spPr>
          <a:xfrm>
            <a:off x="365760" y="5998464"/>
            <a:ext cx="1325880" cy="475488"/>
          </a:xfrm>
          <a:prstGeom prst="rect">
            <a:avLst/>
          </a:prstGeom>
          <a:solidFill>
            <a:srgbClr val="E8541E"/>
          </a:solidFill>
          <a:ln>
            <a:solidFill>
              <a:srgbClr val="E8541E"/>
            </a:solidFill>
          </a:ln>
        </p:spPr>
        <p:txBody>
          <a:bodyPr wrap="square" lIns="25400" tIns="25400" rIns="25400" bIns="254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Rolling 핵심</a:t>
            </a:r>
            <a:endParaRPr lang="en-US" sz="1100" dirty="0"/>
          </a:p>
        </p:txBody>
      </p:sp>
      <p:sp>
        <p:nvSpPr>
          <p:cNvPr id="71" name="Text 69"/>
          <p:cNvSpPr/>
          <p:nvPr/>
        </p:nvSpPr>
        <p:spPr>
          <a:xfrm>
            <a:off x="1691640" y="5998464"/>
            <a:ext cx="10131552" cy="475488"/>
          </a:xfrm>
          <a:prstGeom prst="rect">
            <a:avLst/>
          </a:prstGeom>
          <a:solidFill>
            <a:srgbClr val="FDEDE6"/>
          </a:solidFill>
          <a:ln w="12700">
            <a:solidFill>
              <a:srgbClr val="E8541E"/>
            </a:solidFill>
          </a:ln>
        </p:spPr>
        <p:txBody>
          <a:bodyPr wrap="square" lIns="76200" tIns="76200" rIns="76200" bIns="76200" rtlCol="0" anchor="ctr"/>
          <a:lstStyle/>
          <a:p>
            <a:pPr indent="0" marL="0">
              <a:buNone/>
            </a:pPr>
            <a:r>
              <a:rPr lang="en-US" sz="1000" b="1" dirty="0">
                <a:solidFill>
                  <a:srgbClr val="0B2D5B"/>
                </a:solidFill>
                <a:latin typeface="맑은 고딕" pitchFamily="34" charset="0"/>
                <a:ea typeface="맑은 고딕" pitchFamily="34" charset="-122"/>
                <a:cs typeface="맑은 고딕" pitchFamily="34" charset="-120"/>
              </a:rPr>
              <a:t>PO(실제인력)가 아닌 </a:t>
            </a:r>
            <a:pPr indent="0" marL="0">
              <a:buNone/>
            </a:pPr>
            <a:r>
              <a:rPr lang="en-US" sz="1000" b="1" dirty="0">
                <a:solidFill>
                  <a:srgbClr val="C2410C"/>
                </a:solidFill>
                <a:latin typeface="맑은 고딕" pitchFamily="34" charset="0"/>
                <a:ea typeface="맑은 고딕" pitchFamily="34" charset="-122"/>
                <a:cs typeface="맑은 고딕" pitchFamily="34" charset="-120"/>
              </a:rPr>
              <a:t>TO(기준인력)를 구조적으로 낮추는 활동</a:t>
            </a:r>
            <a:pPr indent="0" marL="0">
              <a:buNone/>
            </a:pPr>
            <a:r>
              <a:rPr lang="en-US" sz="1000" b="1" dirty="0">
                <a:solidFill>
                  <a:srgbClr val="0B2D5B"/>
                </a:solidFill>
                <a:latin typeface="맑은 고딕" pitchFamily="34" charset="0"/>
                <a:ea typeface="맑은 고딕" pitchFamily="34" charset="-122"/>
                <a:cs typeface="맑은 고딕" pitchFamily="34" charset="-120"/>
              </a:rPr>
              <a:t>으로 재정의 ─ 공정·프로세스 자동화, 저효율 라인 효율화, 개인별 업무 Span 확대로 TO를 선행 감축하고, PO는 자연감소·재배치를 통해 TO에 수렴</a:t>
            </a:r>
            <a:endParaRPr lang="en-US" sz="900" dirty="0"/>
          </a:p>
        </p:txBody>
      </p:sp>
      <p:sp>
        <p:nvSpPr>
          <p:cNvPr id="72" name="Text 70"/>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TO: 기준인력, PO: 실제 운영인력, S직군: 근지위 소송·특별채용을 통해 협력사에서 직영으로 전환된 직군</a:t>
            </a:r>
            <a:endParaRPr lang="en-US" sz="800" dirty="0"/>
          </a:p>
        </p:txBody>
      </p:sp>
      <p:sp>
        <p:nvSpPr>
          <p:cNvPr id="73" name="Text 71"/>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원가 경쟁력</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Ⅱ. '30 인당생산성 향상 추진전략 및 Roadmap</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원가 ④ 인당생산성 향상</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'30년까지 Total TO(직영+협력) OO% 감축을 목표로 3대 TO 감축 Lever를 단계적으로 실행하고, 노무비 기반 관리체계 전환·노무 Risk 대응 등 실행기반을 병행 구축</a:t>
            </a:r>
            <a:endParaRPr lang="en-US" sz="1200" dirty="0"/>
          </a:p>
        </p:txBody>
      </p:sp>
      <p:sp>
        <p:nvSpPr>
          <p:cNvPr id="9" name="Text 7"/>
          <p:cNvSpPr/>
          <p:nvPr/>
        </p:nvSpPr>
        <p:spPr>
          <a:xfrm>
            <a:off x="365760" y="1536192"/>
            <a:ext cx="1188720" cy="566928"/>
          </a:xfrm>
          <a:prstGeom prst="rect">
            <a:avLst/>
          </a:prstGeom>
          <a:solidFill>
            <a:srgbClr val="0B2D5B"/>
          </a:solidFill>
          <a:ln>
            <a:solidFill>
              <a:srgbClr val="0B2D5B"/>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'30 목표</a:t>
            </a:r>
            <a:endParaRPr lang="en-US" sz="1300" dirty="0"/>
          </a:p>
        </p:txBody>
      </p:sp>
      <p:sp>
        <p:nvSpPr>
          <p:cNvPr id="10" name="Shape 8"/>
          <p:cNvSpPr/>
          <p:nvPr/>
        </p:nvSpPr>
        <p:spPr>
          <a:xfrm>
            <a:off x="1627632" y="1536192"/>
            <a:ext cx="3346704" cy="566928"/>
          </a:xfrm>
          <a:prstGeom prst="rect">
            <a:avLst/>
          </a:prstGeom>
          <a:solidFill>
            <a:srgbClr val="EEF3FA"/>
          </a:solidFill>
          <a:ln w="12700">
            <a:solidFill>
              <a:srgbClr val="D6E4F5"/>
            </a:solidFill>
            <a:prstDash val="solid"/>
          </a:ln>
        </p:spPr>
      </p:sp>
      <p:sp>
        <p:nvSpPr>
          <p:cNvPr id="11" name="Text 9"/>
          <p:cNvSpPr/>
          <p:nvPr/>
        </p:nvSpPr>
        <p:spPr>
          <a:xfrm>
            <a:off x="1700784" y="1536192"/>
            <a:ext cx="1115568" cy="566928"/>
          </a:xfrm>
          <a:prstGeom prst="rect">
            <a:avLst/>
          </a:prstGeom>
          <a:noFill/>
          <a:ln/>
        </p:spPr>
        <p:txBody>
          <a:bodyPr wrap="square" lIns="0" tIns="0" rIns="0" bIns="0" rtlCol="0" anchor="ctr"/>
          <a:lstStyle/>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TO</a:t>
            </a:r>
            <a:endParaRPr lang="en-US" sz="95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(직영+협력)</a:t>
            </a:r>
            <a:endParaRPr lang="en-US" sz="950" dirty="0"/>
          </a:p>
        </p:txBody>
      </p:sp>
      <p:sp>
        <p:nvSpPr>
          <p:cNvPr id="12" name="Shape 10"/>
          <p:cNvSpPr/>
          <p:nvPr/>
        </p:nvSpPr>
        <p:spPr>
          <a:xfrm>
            <a:off x="2862072" y="1627632"/>
            <a:ext cx="0" cy="384048"/>
          </a:xfrm>
          <a:prstGeom prst="line">
            <a:avLst/>
          </a:prstGeom>
          <a:noFill/>
          <a:ln w="9525">
            <a:solidFill>
              <a:srgbClr val="BFC7D2"/>
            </a:solidFill>
            <a:prstDash val="solid"/>
          </a:ln>
        </p:spPr>
      </p:sp>
      <p:sp>
        <p:nvSpPr>
          <p:cNvPr id="13" name="Text 11"/>
          <p:cNvSpPr/>
          <p:nvPr/>
        </p:nvSpPr>
        <p:spPr>
          <a:xfrm>
            <a:off x="2926080" y="1554480"/>
            <a:ext cx="2011680" cy="310896"/>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'25比 OO%↓</a:t>
            </a:r>
            <a:endParaRPr lang="en-US" sz="1500" dirty="0"/>
          </a:p>
        </p:txBody>
      </p:sp>
      <p:sp>
        <p:nvSpPr>
          <p:cNvPr id="14" name="Text 12"/>
          <p:cNvSpPr/>
          <p:nvPr/>
        </p:nvSpPr>
        <p:spPr>
          <a:xfrm>
            <a:off x="2926080" y="1856232"/>
            <a:ext cx="2011680" cy="219456"/>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직영 OO%↓  /  협력 OO%↓</a:t>
            </a:r>
            <a:endParaRPr lang="en-US" sz="850" dirty="0"/>
          </a:p>
        </p:txBody>
      </p:sp>
      <p:sp>
        <p:nvSpPr>
          <p:cNvPr id="15" name="Shape 13"/>
          <p:cNvSpPr/>
          <p:nvPr/>
        </p:nvSpPr>
        <p:spPr>
          <a:xfrm>
            <a:off x="5038344" y="1536192"/>
            <a:ext cx="3346704" cy="566928"/>
          </a:xfrm>
          <a:prstGeom prst="rect">
            <a:avLst/>
          </a:prstGeom>
          <a:solidFill>
            <a:srgbClr val="EEF3FA"/>
          </a:solidFill>
          <a:ln w="12700">
            <a:solidFill>
              <a:srgbClr val="D6E4F5"/>
            </a:solidFill>
            <a:prstDash val="solid"/>
          </a:ln>
        </p:spPr>
      </p:sp>
      <p:sp>
        <p:nvSpPr>
          <p:cNvPr id="16" name="Text 14"/>
          <p:cNvSpPr/>
          <p:nvPr/>
        </p:nvSpPr>
        <p:spPr>
          <a:xfrm>
            <a:off x="5111496" y="1536192"/>
            <a:ext cx="1115568" cy="566928"/>
          </a:xfrm>
          <a:prstGeom prst="rect">
            <a:avLst/>
          </a:prstGeom>
          <a:noFill/>
          <a:ln/>
        </p:spPr>
        <p:txBody>
          <a:bodyPr wrap="square" lIns="0" tIns="0" rIns="0" bIns="0" rtlCol="0" anchor="ctr"/>
          <a:lstStyle/>
          <a:p>
            <a:pPr algn="ctr" indent="0" marL="0">
              <a:buNone/>
            </a:pPr>
            <a:r>
              <a:rPr lang="en-US" sz="950" b="1" dirty="0">
                <a:solidFill>
                  <a:srgbClr val="0B2D5B"/>
                </a:solidFill>
                <a:latin typeface="맑은 고딕" pitchFamily="34" charset="0"/>
                <a:ea typeface="맑은 고딕" pitchFamily="34" charset="-122"/>
                <a:cs typeface="맑은 고딕" pitchFamily="34" charset="-120"/>
              </a:rPr>
              <a:t>인당 생산성</a:t>
            </a:r>
            <a:endParaRPr lang="en-US" sz="950" dirty="0"/>
          </a:p>
        </p:txBody>
      </p:sp>
      <p:sp>
        <p:nvSpPr>
          <p:cNvPr id="17" name="Shape 15"/>
          <p:cNvSpPr/>
          <p:nvPr/>
        </p:nvSpPr>
        <p:spPr>
          <a:xfrm>
            <a:off x="6272784" y="1627632"/>
            <a:ext cx="0" cy="384048"/>
          </a:xfrm>
          <a:prstGeom prst="line">
            <a:avLst/>
          </a:prstGeom>
          <a:noFill/>
          <a:ln w="9525">
            <a:solidFill>
              <a:srgbClr val="BFC7D2"/>
            </a:solidFill>
            <a:prstDash val="solid"/>
          </a:ln>
        </p:spPr>
      </p:sp>
      <p:sp>
        <p:nvSpPr>
          <p:cNvPr id="18" name="Text 16"/>
          <p:cNvSpPr/>
          <p:nvPr/>
        </p:nvSpPr>
        <p:spPr>
          <a:xfrm>
            <a:off x="6336792" y="1554480"/>
            <a:ext cx="2011680" cy="310896"/>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'25比 OO%↑</a:t>
            </a:r>
            <a:endParaRPr lang="en-US" sz="1500" dirty="0"/>
          </a:p>
        </p:txBody>
      </p:sp>
      <p:sp>
        <p:nvSpPr>
          <p:cNvPr id="19" name="Text 17"/>
          <p:cNvSpPr/>
          <p:nvPr/>
        </p:nvSpPr>
        <p:spPr>
          <a:xfrm>
            <a:off x="6336792" y="1856232"/>
            <a:ext cx="2011680" cy="219456"/>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인당 생산량(톤/인) 기준</a:t>
            </a:r>
            <a:endParaRPr lang="en-US" sz="850" dirty="0"/>
          </a:p>
        </p:txBody>
      </p:sp>
      <p:sp>
        <p:nvSpPr>
          <p:cNvPr id="20" name="Shape 18"/>
          <p:cNvSpPr/>
          <p:nvPr/>
        </p:nvSpPr>
        <p:spPr>
          <a:xfrm>
            <a:off x="8449056" y="1536192"/>
            <a:ext cx="3346704" cy="566928"/>
          </a:xfrm>
          <a:prstGeom prst="rect">
            <a:avLst/>
          </a:prstGeom>
          <a:solidFill>
            <a:srgbClr val="EEF3FA"/>
          </a:solidFill>
          <a:ln w="12700">
            <a:solidFill>
              <a:srgbClr val="D6E4F5"/>
            </a:solidFill>
            <a:prstDash val="solid"/>
          </a:ln>
        </p:spPr>
      </p:sp>
      <p:sp>
        <p:nvSpPr>
          <p:cNvPr id="21" name="Text 19"/>
          <p:cNvSpPr/>
          <p:nvPr/>
        </p:nvSpPr>
        <p:spPr>
          <a:xfrm>
            <a:off x="8522208" y="1536192"/>
            <a:ext cx="1115568" cy="566928"/>
          </a:xfrm>
          <a:prstGeom prst="rect">
            <a:avLst/>
          </a:prstGeom>
          <a:noFill/>
          <a:ln/>
        </p:spPr>
        <p:txBody>
          <a:bodyPr wrap="square" lIns="0" tIns="0" rIns="0" bIns="0" rtlCol="0" anchor="ctr"/>
          <a:lstStyle/>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노무비</a:t>
            </a:r>
            <a:endParaRPr lang="en-US" sz="950" dirty="0"/>
          </a:p>
        </p:txBody>
      </p:sp>
      <p:sp>
        <p:nvSpPr>
          <p:cNvPr id="22" name="Shape 20"/>
          <p:cNvSpPr/>
          <p:nvPr/>
        </p:nvSpPr>
        <p:spPr>
          <a:xfrm>
            <a:off x="9683496" y="1627632"/>
            <a:ext cx="0" cy="384048"/>
          </a:xfrm>
          <a:prstGeom prst="line">
            <a:avLst/>
          </a:prstGeom>
          <a:noFill/>
          <a:ln w="9525">
            <a:solidFill>
              <a:srgbClr val="BFC7D2"/>
            </a:solidFill>
            <a:prstDash val="solid"/>
          </a:ln>
        </p:spPr>
      </p:sp>
      <p:sp>
        <p:nvSpPr>
          <p:cNvPr id="23" name="Text 21"/>
          <p:cNvSpPr/>
          <p:nvPr/>
        </p:nvSpPr>
        <p:spPr>
          <a:xfrm>
            <a:off x="9747504" y="1554480"/>
            <a:ext cx="2011680" cy="310896"/>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매출액比 OO% 이내</a:t>
            </a:r>
            <a:endParaRPr lang="en-US" sz="1500" dirty="0"/>
          </a:p>
        </p:txBody>
      </p:sp>
      <p:sp>
        <p:nvSpPr>
          <p:cNvPr id="24" name="Text 22"/>
          <p:cNvSpPr/>
          <p:nvPr/>
        </p:nvSpPr>
        <p:spPr>
          <a:xfrm>
            <a:off x="9747504" y="1856232"/>
            <a:ext cx="2011680" cy="219456"/>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직영+협력 노무비 통합 KPI 관리</a:t>
            </a:r>
            <a:endParaRPr lang="en-US" sz="850" dirty="0"/>
          </a:p>
        </p:txBody>
      </p:sp>
      <p:sp>
        <p:nvSpPr>
          <p:cNvPr id="25" name="Text 23"/>
          <p:cNvSpPr/>
          <p:nvPr/>
        </p:nvSpPr>
        <p:spPr>
          <a:xfrm>
            <a:off x="365760" y="2212848"/>
            <a:ext cx="6903720" cy="274320"/>
          </a:xfrm>
          <a:prstGeom prst="rect">
            <a:avLst/>
          </a:prstGeom>
          <a:solidFill>
            <a:srgbClr val="0B2D5B"/>
          </a:solidFill>
          <a:ln>
            <a:solidFill>
              <a:srgbClr val="0B2D5B"/>
            </a:solidFill>
          </a:ln>
        </p:spPr>
        <p:txBody>
          <a:bodyPr wrap="square" lIns="76200" tIns="76200" rIns="76200" bIns="76200" rtlCol="0" anchor="ctr"/>
          <a:lstStyle/>
          <a:p>
            <a:pPr algn="l" indent="0" marL="0">
              <a:buNone/>
            </a:pPr>
            <a:r>
              <a:rPr lang="en-US" sz="1000" b="1" dirty="0">
                <a:solidFill>
                  <a:srgbClr val="FFFFFF"/>
                </a:solidFill>
                <a:latin typeface="맑은 고딕" pitchFamily="34" charset="0"/>
                <a:ea typeface="맑은 고딕" pitchFamily="34" charset="-122"/>
                <a:cs typeface="맑은 고딕" pitchFamily="34" charset="-120"/>
              </a:rPr>
              <a:t>3대 TO 감축 Lever  (Total TO Waterfall 개념도)</a:t>
            </a:r>
            <a:endParaRPr lang="en-US" sz="1000" dirty="0"/>
          </a:p>
        </p:txBody>
      </p:sp>
      <p:sp>
        <p:nvSpPr>
          <p:cNvPr id="26" name="Shape 24"/>
          <p:cNvSpPr/>
          <p:nvPr/>
        </p:nvSpPr>
        <p:spPr>
          <a:xfrm>
            <a:off x="411480" y="3429000"/>
            <a:ext cx="6812280" cy="0"/>
          </a:xfrm>
          <a:prstGeom prst="line">
            <a:avLst/>
          </a:prstGeom>
          <a:noFill/>
          <a:ln w="12700">
            <a:solidFill>
              <a:srgbClr val="BFC7D2"/>
            </a:solidFill>
            <a:prstDash val="solid"/>
          </a:ln>
        </p:spPr>
      </p:sp>
      <p:sp>
        <p:nvSpPr>
          <p:cNvPr id="27" name="Shape 25"/>
          <p:cNvSpPr/>
          <p:nvPr/>
        </p:nvSpPr>
        <p:spPr>
          <a:xfrm>
            <a:off x="666750" y="3026664"/>
            <a:ext cx="548640" cy="402336"/>
          </a:xfrm>
          <a:prstGeom prst="rect">
            <a:avLst/>
          </a:prstGeom>
          <a:solidFill>
            <a:srgbClr val="0B2D5B"/>
          </a:solidFill>
          <a:ln w="12700">
            <a:solidFill>
              <a:srgbClr val="0B2D5B"/>
            </a:solidFill>
            <a:prstDash val="solid"/>
          </a:ln>
        </p:spPr>
      </p:sp>
      <p:sp>
        <p:nvSpPr>
          <p:cNvPr id="28" name="Shape 26"/>
          <p:cNvSpPr/>
          <p:nvPr/>
        </p:nvSpPr>
        <p:spPr>
          <a:xfrm>
            <a:off x="666750" y="2697480"/>
            <a:ext cx="548640" cy="329184"/>
          </a:xfrm>
          <a:prstGeom prst="rect">
            <a:avLst/>
          </a:prstGeom>
          <a:solidFill>
            <a:srgbClr val="8FB3E0"/>
          </a:solidFill>
          <a:ln w="12700">
            <a:solidFill>
              <a:srgbClr val="8FB3E0"/>
            </a:solidFill>
            <a:prstDash val="solid"/>
          </a:ln>
        </p:spPr>
      </p:sp>
      <p:sp>
        <p:nvSpPr>
          <p:cNvPr id="29" name="Text 27"/>
          <p:cNvSpPr/>
          <p:nvPr/>
        </p:nvSpPr>
        <p:spPr>
          <a:xfrm>
            <a:off x="666750" y="3026664"/>
            <a:ext cx="548640"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직영</a:t>
            </a:r>
            <a:endParaRPr lang="en-US" sz="800" dirty="0"/>
          </a:p>
        </p:txBody>
      </p:sp>
      <p:sp>
        <p:nvSpPr>
          <p:cNvPr id="30" name="Text 28"/>
          <p:cNvSpPr/>
          <p:nvPr/>
        </p:nvSpPr>
        <p:spPr>
          <a:xfrm>
            <a:off x="666750" y="2697480"/>
            <a:ext cx="548640" cy="32918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협력</a:t>
            </a:r>
            <a:endParaRPr lang="en-US" sz="800" dirty="0"/>
          </a:p>
        </p:txBody>
      </p:sp>
      <p:sp>
        <p:nvSpPr>
          <p:cNvPr id="31" name="Shape 29"/>
          <p:cNvSpPr/>
          <p:nvPr/>
        </p:nvSpPr>
        <p:spPr>
          <a:xfrm>
            <a:off x="1817370" y="2880360"/>
            <a:ext cx="548640" cy="548640"/>
          </a:xfrm>
          <a:prstGeom prst="rect">
            <a:avLst/>
          </a:prstGeom>
          <a:solidFill>
            <a:srgbClr val="0B2D5B"/>
          </a:solidFill>
          <a:ln w="12700">
            <a:solidFill>
              <a:srgbClr val="0B2D5B"/>
            </a:solidFill>
            <a:prstDash val="solid"/>
          </a:ln>
        </p:spPr>
      </p:sp>
      <p:sp>
        <p:nvSpPr>
          <p:cNvPr id="32" name="Shape 30"/>
          <p:cNvSpPr/>
          <p:nvPr/>
        </p:nvSpPr>
        <p:spPr>
          <a:xfrm>
            <a:off x="1817370" y="2697480"/>
            <a:ext cx="548640" cy="182880"/>
          </a:xfrm>
          <a:prstGeom prst="rect">
            <a:avLst/>
          </a:prstGeom>
          <a:solidFill>
            <a:srgbClr val="8FB3E0"/>
          </a:solidFill>
          <a:ln w="12700">
            <a:solidFill>
              <a:srgbClr val="8FB3E0"/>
            </a:solidFill>
            <a:prstDash val="solid"/>
          </a:ln>
        </p:spPr>
      </p:sp>
      <p:sp>
        <p:nvSpPr>
          <p:cNvPr id="33" name="Text 31"/>
          <p:cNvSpPr/>
          <p:nvPr/>
        </p:nvSpPr>
        <p:spPr>
          <a:xfrm>
            <a:off x="1817370" y="2880360"/>
            <a:ext cx="548640" cy="548640"/>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직영</a:t>
            </a:r>
            <a:endParaRPr lang="en-US" sz="800" dirty="0"/>
          </a:p>
        </p:txBody>
      </p:sp>
      <p:sp>
        <p:nvSpPr>
          <p:cNvPr id="34" name="Text 32"/>
          <p:cNvSpPr/>
          <p:nvPr/>
        </p:nvSpPr>
        <p:spPr>
          <a:xfrm>
            <a:off x="1817370" y="2697480"/>
            <a:ext cx="548640" cy="182880"/>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협력</a:t>
            </a:r>
            <a:endParaRPr lang="en-US" sz="800" dirty="0"/>
          </a:p>
        </p:txBody>
      </p:sp>
      <p:sp>
        <p:nvSpPr>
          <p:cNvPr id="35" name="Text 33"/>
          <p:cNvSpPr/>
          <p:nvPr/>
        </p:nvSpPr>
        <p:spPr>
          <a:xfrm>
            <a:off x="1516380" y="2514600"/>
            <a:ext cx="1150620" cy="164592"/>
          </a:xfrm>
          <a:prstGeom prst="rect">
            <a:avLst/>
          </a:prstGeom>
          <a:noFill/>
          <a:ln/>
        </p:spPr>
        <p:txBody>
          <a:bodyPr wrap="square" lIns="0" tIns="0" rIns="0" bIns="0" rtlCol="0" anchor="ctr"/>
          <a:lstStyle/>
          <a:p>
            <a:pPr algn="ctr" indent="0" marL="0">
              <a:buNone/>
            </a:pPr>
            <a:r>
              <a:rPr lang="en-US" sz="750" dirty="0">
                <a:solidFill>
                  <a:srgbClr val="555555"/>
                </a:solidFill>
                <a:latin typeface="맑은 고딕" pitchFamily="34" charset="0"/>
                <a:ea typeface="맑은 고딕" pitchFamily="34" charset="-122"/>
                <a:cs typeface="맑은 고딕" pitchFamily="34" charset="-120"/>
              </a:rPr>
              <a:t>총량 불변(구성 변화)</a:t>
            </a:r>
            <a:endParaRPr lang="en-US" sz="750" dirty="0"/>
          </a:p>
        </p:txBody>
      </p:sp>
      <p:sp>
        <p:nvSpPr>
          <p:cNvPr id="36" name="Shape 34"/>
          <p:cNvSpPr/>
          <p:nvPr/>
        </p:nvSpPr>
        <p:spPr>
          <a:xfrm>
            <a:off x="2967990" y="2697480"/>
            <a:ext cx="548640" cy="164592"/>
          </a:xfrm>
          <a:prstGeom prst="rect">
            <a:avLst/>
          </a:prstGeom>
          <a:solidFill>
            <a:srgbClr val="E8541E"/>
          </a:solidFill>
          <a:ln w="12700">
            <a:solidFill>
              <a:srgbClr val="E8541E"/>
            </a:solidFill>
            <a:prstDash val="solid"/>
          </a:ln>
        </p:spPr>
      </p:sp>
      <p:sp>
        <p:nvSpPr>
          <p:cNvPr id="37" name="Text 35"/>
          <p:cNvSpPr/>
          <p:nvPr/>
        </p:nvSpPr>
        <p:spPr>
          <a:xfrm>
            <a:off x="2876550" y="2880360"/>
            <a:ext cx="731520" cy="182880"/>
          </a:xfrm>
          <a:prstGeom prst="rect">
            <a:avLst/>
          </a:prstGeom>
          <a:noFill/>
          <a:ln/>
        </p:spPr>
        <p:txBody>
          <a:bodyPr wrap="square" lIns="0" tIns="0" rIns="0" bIns="0" rtlCol="0" anchor="ctr"/>
          <a:lstStyle/>
          <a:p>
            <a:pPr algn="ctr" indent="0" marL="0">
              <a:buNone/>
            </a:pPr>
            <a:r>
              <a:rPr lang="en-US" sz="850" b="1" dirty="0">
                <a:solidFill>
                  <a:srgbClr val="C2410C"/>
                </a:solidFill>
                <a:latin typeface="맑은 고딕" pitchFamily="34" charset="0"/>
                <a:ea typeface="맑은 고딕" pitchFamily="34" charset="-122"/>
                <a:cs typeface="맑은 고딕" pitchFamily="34" charset="-120"/>
              </a:rPr>
              <a:t>▼ OO</a:t>
            </a:r>
            <a:endParaRPr lang="en-US" sz="850" dirty="0"/>
          </a:p>
        </p:txBody>
      </p:sp>
      <p:sp>
        <p:nvSpPr>
          <p:cNvPr id="38" name="Shape 36"/>
          <p:cNvSpPr/>
          <p:nvPr/>
        </p:nvSpPr>
        <p:spPr>
          <a:xfrm>
            <a:off x="4118610" y="2862072"/>
            <a:ext cx="548640" cy="128016"/>
          </a:xfrm>
          <a:prstGeom prst="rect">
            <a:avLst/>
          </a:prstGeom>
          <a:solidFill>
            <a:srgbClr val="E8541E"/>
          </a:solidFill>
          <a:ln w="12700">
            <a:solidFill>
              <a:srgbClr val="E8541E"/>
            </a:solidFill>
            <a:prstDash val="solid"/>
          </a:ln>
        </p:spPr>
      </p:sp>
      <p:sp>
        <p:nvSpPr>
          <p:cNvPr id="39" name="Text 37"/>
          <p:cNvSpPr/>
          <p:nvPr/>
        </p:nvSpPr>
        <p:spPr>
          <a:xfrm>
            <a:off x="4027170" y="3008376"/>
            <a:ext cx="731520" cy="182880"/>
          </a:xfrm>
          <a:prstGeom prst="rect">
            <a:avLst/>
          </a:prstGeom>
          <a:noFill/>
          <a:ln/>
        </p:spPr>
        <p:txBody>
          <a:bodyPr wrap="square" lIns="0" tIns="0" rIns="0" bIns="0" rtlCol="0" anchor="ctr"/>
          <a:lstStyle/>
          <a:p>
            <a:pPr algn="ctr" indent="0" marL="0">
              <a:buNone/>
            </a:pPr>
            <a:r>
              <a:rPr lang="en-US" sz="850" b="1" dirty="0">
                <a:solidFill>
                  <a:srgbClr val="C2410C"/>
                </a:solidFill>
                <a:latin typeface="맑은 고딕" pitchFamily="34" charset="0"/>
                <a:ea typeface="맑은 고딕" pitchFamily="34" charset="-122"/>
                <a:cs typeface="맑은 고딕" pitchFamily="34" charset="-120"/>
              </a:rPr>
              <a:t>▼ OO</a:t>
            </a:r>
            <a:endParaRPr lang="en-US" sz="850" dirty="0"/>
          </a:p>
        </p:txBody>
      </p:sp>
      <p:sp>
        <p:nvSpPr>
          <p:cNvPr id="40" name="Shape 38"/>
          <p:cNvSpPr/>
          <p:nvPr/>
        </p:nvSpPr>
        <p:spPr>
          <a:xfrm>
            <a:off x="5269230" y="2990088"/>
            <a:ext cx="548640" cy="91440"/>
          </a:xfrm>
          <a:prstGeom prst="rect">
            <a:avLst/>
          </a:prstGeom>
          <a:solidFill>
            <a:srgbClr val="E8541E"/>
          </a:solidFill>
          <a:ln w="12700">
            <a:solidFill>
              <a:srgbClr val="E8541E"/>
            </a:solidFill>
            <a:prstDash val="solid"/>
          </a:ln>
        </p:spPr>
      </p:sp>
      <p:sp>
        <p:nvSpPr>
          <p:cNvPr id="41" name="Text 39"/>
          <p:cNvSpPr/>
          <p:nvPr/>
        </p:nvSpPr>
        <p:spPr>
          <a:xfrm>
            <a:off x="5177790" y="3099816"/>
            <a:ext cx="731520" cy="182880"/>
          </a:xfrm>
          <a:prstGeom prst="rect">
            <a:avLst/>
          </a:prstGeom>
          <a:noFill/>
          <a:ln/>
        </p:spPr>
        <p:txBody>
          <a:bodyPr wrap="square" lIns="0" tIns="0" rIns="0" bIns="0" rtlCol="0" anchor="ctr"/>
          <a:lstStyle/>
          <a:p>
            <a:pPr algn="ctr" indent="0" marL="0">
              <a:buNone/>
            </a:pPr>
            <a:r>
              <a:rPr lang="en-US" sz="850" b="1" dirty="0">
                <a:solidFill>
                  <a:srgbClr val="C2410C"/>
                </a:solidFill>
                <a:latin typeface="맑은 고딕" pitchFamily="34" charset="0"/>
                <a:ea typeface="맑은 고딕" pitchFamily="34" charset="-122"/>
                <a:cs typeface="맑은 고딕" pitchFamily="34" charset="-120"/>
              </a:rPr>
              <a:t>▼ OO</a:t>
            </a:r>
            <a:endParaRPr lang="en-US" sz="850" dirty="0"/>
          </a:p>
        </p:txBody>
      </p:sp>
      <p:sp>
        <p:nvSpPr>
          <p:cNvPr id="42" name="Shape 40"/>
          <p:cNvSpPr/>
          <p:nvPr/>
        </p:nvSpPr>
        <p:spPr>
          <a:xfrm>
            <a:off x="6419850" y="3172968"/>
            <a:ext cx="548640" cy="256032"/>
          </a:xfrm>
          <a:prstGeom prst="rect">
            <a:avLst/>
          </a:prstGeom>
          <a:solidFill>
            <a:srgbClr val="0B2D5B"/>
          </a:solidFill>
          <a:ln w="12700">
            <a:solidFill>
              <a:srgbClr val="0B2D5B"/>
            </a:solidFill>
            <a:prstDash val="solid"/>
          </a:ln>
        </p:spPr>
      </p:sp>
      <p:sp>
        <p:nvSpPr>
          <p:cNvPr id="43" name="Shape 41"/>
          <p:cNvSpPr/>
          <p:nvPr/>
        </p:nvSpPr>
        <p:spPr>
          <a:xfrm>
            <a:off x="6419850" y="3081528"/>
            <a:ext cx="548640" cy="91440"/>
          </a:xfrm>
          <a:prstGeom prst="rect">
            <a:avLst/>
          </a:prstGeom>
          <a:solidFill>
            <a:srgbClr val="8FB3E0"/>
          </a:solidFill>
          <a:ln w="12700">
            <a:solidFill>
              <a:srgbClr val="8FB3E0"/>
            </a:solidFill>
            <a:prstDash val="solid"/>
          </a:ln>
        </p:spPr>
      </p:sp>
      <p:sp>
        <p:nvSpPr>
          <p:cNvPr id="44" name="Text 42"/>
          <p:cNvSpPr/>
          <p:nvPr/>
        </p:nvSpPr>
        <p:spPr>
          <a:xfrm>
            <a:off x="6419850" y="3172968"/>
            <a:ext cx="5486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직영</a:t>
            </a:r>
            <a:endParaRPr lang="en-US" sz="800" dirty="0"/>
          </a:p>
        </p:txBody>
      </p:sp>
      <p:sp>
        <p:nvSpPr>
          <p:cNvPr id="45" name="Text 43"/>
          <p:cNvSpPr/>
          <p:nvPr/>
        </p:nvSpPr>
        <p:spPr>
          <a:xfrm>
            <a:off x="6118860" y="2862072"/>
            <a:ext cx="1150620" cy="201168"/>
          </a:xfrm>
          <a:prstGeom prst="rect">
            <a:avLst/>
          </a:prstGeom>
          <a:noFill/>
          <a:ln/>
        </p:spPr>
        <p:txBody>
          <a:bodyPr wrap="square" lIns="0" tIns="0" rIns="0" bIns="0" rtlCol="0" anchor="ctr"/>
          <a:lstStyle/>
          <a:p>
            <a:pPr algn="ctr" indent="0" marL="0">
              <a:buNone/>
            </a:pPr>
            <a:r>
              <a:rPr lang="en-US" sz="900" b="1" dirty="0">
                <a:solidFill>
                  <a:srgbClr val="C2410C"/>
                </a:solidFill>
                <a:latin typeface="맑은 고딕" pitchFamily="34" charset="0"/>
                <a:ea typeface="맑은 고딕" pitchFamily="34" charset="-122"/>
                <a:cs typeface="맑은 고딕" pitchFamily="34" charset="-120"/>
              </a:rPr>
              <a:t>'25比 OO%↓</a:t>
            </a:r>
            <a:endParaRPr lang="en-US" sz="900" dirty="0"/>
          </a:p>
        </p:txBody>
      </p:sp>
      <p:sp>
        <p:nvSpPr>
          <p:cNvPr id="46" name="Shape 44"/>
          <p:cNvSpPr/>
          <p:nvPr/>
        </p:nvSpPr>
        <p:spPr>
          <a:xfrm>
            <a:off x="1215390" y="2697480"/>
            <a:ext cx="601980" cy="0"/>
          </a:xfrm>
          <a:prstGeom prst="line">
            <a:avLst/>
          </a:prstGeom>
          <a:noFill/>
          <a:ln w="9525">
            <a:solidFill>
              <a:srgbClr val="999999"/>
            </a:solidFill>
            <a:prstDash val="dash"/>
          </a:ln>
        </p:spPr>
      </p:sp>
      <p:sp>
        <p:nvSpPr>
          <p:cNvPr id="47" name="Shape 45"/>
          <p:cNvSpPr/>
          <p:nvPr/>
        </p:nvSpPr>
        <p:spPr>
          <a:xfrm>
            <a:off x="2366010" y="2697480"/>
            <a:ext cx="601980" cy="0"/>
          </a:xfrm>
          <a:prstGeom prst="line">
            <a:avLst/>
          </a:prstGeom>
          <a:noFill/>
          <a:ln w="9525">
            <a:solidFill>
              <a:srgbClr val="999999"/>
            </a:solidFill>
            <a:prstDash val="dash"/>
          </a:ln>
        </p:spPr>
      </p:sp>
      <p:sp>
        <p:nvSpPr>
          <p:cNvPr id="48" name="Shape 46"/>
          <p:cNvSpPr/>
          <p:nvPr/>
        </p:nvSpPr>
        <p:spPr>
          <a:xfrm>
            <a:off x="3516630" y="2862072"/>
            <a:ext cx="601980" cy="0"/>
          </a:xfrm>
          <a:prstGeom prst="line">
            <a:avLst/>
          </a:prstGeom>
          <a:noFill/>
          <a:ln w="9525">
            <a:solidFill>
              <a:srgbClr val="999999"/>
            </a:solidFill>
            <a:prstDash val="dash"/>
          </a:ln>
        </p:spPr>
      </p:sp>
      <p:sp>
        <p:nvSpPr>
          <p:cNvPr id="49" name="Shape 47"/>
          <p:cNvSpPr/>
          <p:nvPr/>
        </p:nvSpPr>
        <p:spPr>
          <a:xfrm>
            <a:off x="4667250" y="2990088"/>
            <a:ext cx="601980" cy="0"/>
          </a:xfrm>
          <a:prstGeom prst="line">
            <a:avLst/>
          </a:prstGeom>
          <a:noFill/>
          <a:ln w="9525">
            <a:solidFill>
              <a:srgbClr val="999999"/>
            </a:solidFill>
            <a:prstDash val="dash"/>
          </a:ln>
        </p:spPr>
      </p:sp>
      <p:sp>
        <p:nvSpPr>
          <p:cNvPr id="50" name="Shape 48"/>
          <p:cNvSpPr/>
          <p:nvPr/>
        </p:nvSpPr>
        <p:spPr>
          <a:xfrm>
            <a:off x="5817870" y="3081528"/>
            <a:ext cx="601980" cy="0"/>
          </a:xfrm>
          <a:prstGeom prst="line">
            <a:avLst/>
          </a:prstGeom>
          <a:noFill/>
          <a:ln w="9525">
            <a:solidFill>
              <a:srgbClr val="999999"/>
            </a:solidFill>
            <a:prstDash val="dash"/>
          </a:ln>
        </p:spPr>
      </p:sp>
      <p:sp>
        <p:nvSpPr>
          <p:cNvPr id="51" name="Text 49"/>
          <p:cNvSpPr/>
          <p:nvPr/>
        </p:nvSpPr>
        <p:spPr>
          <a:xfrm>
            <a:off x="365760" y="3456432"/>
            <a:ext cx="1150620" cy="274320"/>
          </a:xfrm>
          <a:prstGeom prst="rect">
            <a:avLst/>
          </a:prstGeom>
          <a:noFill/>
          <a:ln/>
        </p:spPr>
        <p:txBody>
          <a:bodyPr wrap="square" lIns="0" tIns="0" rIns="0" bIns="0" rtlCol="0" anchor="ct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'25 Total TO</a:t>
            </a:r>
            <a:endParaRPr lang="en-US" sz="800" dirty="0"/>
          </a:p>
        </p:txBody>
      </p:sp>
      <p:sp>
        <p:nvSpPr>
          <p:cNvPr id="52" name="Text 50"/>
          <p:cNvSpPr/>
          <p:nvPr/>
        </p:nvSpPr>
        <p:spPr>
          <a:xfrm>
            <a:off x="1516380" y="3456432"/>
            <a:ext cx="1150620" cy="274320"/>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S직군 직영전환</a:t>
            </a:r>
            <a:endParaRPr lang="en-US" sz="800" dirty="0"/>
          </a:p>
          <a:p>
            <a:pPr algn="ctr" indent="0" marL="0">
              <a:buNone/>
            </a:pPr>
            <a:r>
              <a:rPr lang="en-US" sz="800" dirty="0">
                <a:solidFill>
                  <a:srgbClr val="222222"/>
                </a:solidFill>
                <a:latin typeface="맑은 고딕" pitchFamily="34" charset="0"/>
                <a:ea typeface="맑은 고딕" pitchFamily="34" charset="-122"/>
                <a:cs typeface="맑은 고딕" pitchFamily="34" charset="-120"/>
              </a:rPr>
              <a:t>('26.4월~)</a:t>
            </a:r>
            <a:endParaRPr lang="en-US" sz="800" dirty="0"/>
          </a:p>
        </p:txBody>
      </p:sp>
      <p:sp>
        <p:nvSpPr>
          <p:cNvPr id="53" name="Text 51"/>
          <p:cNvSpPr/>
          <p:nvPr/>
        </p:nvSpPr>
        <p:spPr>
          <a:xfrm>
            <a:off x="2667000" y="3456432"/>
            <a:ext cx="1150620" cy="274320"/>
          </a:xfrm>
          <a:prstGeom prst="rect">
            <a:avLst/>
          </a:prstGeom>
          <a:noFill/>
          <a:ln/>
        </p:spPr>
        <p:txBody>
          <a:bodyPr wrap="square" lIns="0" tIns="0" rIns="0" bIns="0" rtlCol="0" anchor="ctr"/>
          <a:lstStyle/>
          <a:p>
            <a:pPr algn="ctr" indent="0" marL="0">
              <a:buNone/>
            </a:pPr>
            <a:r>
              <a:rPr lang="en-US" sz="800" dirty="0">
                <a:solidFill>
                  <a:srgbClr val="C2410C"/>
                </a:solidFill>
                <a:latin typeface="맑은 고딕" pitchFamily="34" charset="0"/>
                <a:ea typeface="맑은 고딕" pitchFamily="34" charset="-122"/>
                <a:cs typeface="맑은 고딕" pitchFamily="34" charset="-120"/>
              </a:rPr>
              <a:t>① 공정·프로세스</a:t>
            </a:r>
            <a:endParaRPr lang="en-US" sz="800" dirty="0"/>
          </a:p>
          <a:p>
            <a:pPr algn="ctr" indent="0" marL="0">
              <a:buNone/>
            </a:pPr>
            <a:r>
              <a:rPr lang="en-US" sz="800" dirty="0">
                <a:solidFill>
                  <a:srgbClr val="C2410C"/>
                </a:solidFill>
                <a:latin typeface="맑은 고딕" pitchFamily="34" charset="0"/>
                <a:ea typeface="맑은 고딕" pitchFamily="34" charset="-122"/>
                <a:cs typeface="맑은 고딕" pitchFamily="34" charset="-120"/>
              </a:rPr>
              <a:t>자동화</a:t>
            </a:r>
            <a:endParaRPr lang="en-US" sz="800" dirty="0"/>
          </a:p>
        </p:txBody>
      </p:sp>
      <p:sp>
        <p:nvSpPr>
          <p:cNvPr id="54" name="Text 52"/>
          <p:cNvSpPr/>
          <p:nvPr/>
        </p:nvSpPr>
        <p:spPr>
          <a:xfrm>
            <a:off x="3817620" y="3456432"/>
            <a:ext cx="1150620" cy="274320"/>
          </a:xfrm>
          <a:prstGeom prst="rect">
            <a:avLst/>
          </a:prstGeom>
          <a:noFill/>
          <a:ln/>
        </p:spPr>
        <p:txBody>
          <a:bodyPr wrap="square" lIns="0" tIns="0" rIns="0" bIns="0" rtlCol="0" anchor="ctr"/>
          <a:lstStyle/>
          <a:p>
            <a:pPr algn="ctr" indent="0" marL="0">
              <a:buNone/>
            </a:pPr>
            <a:r>
              <a:rPr lang="en-US" sz="800" dirty="0">
                <a:solidFill>
                  <a:srgbClr val="C2410C"/>
                </a:solidFill>
                <a:latin typeface="맑은 고딕" pitchFamily="34" charset="0"/>
                <a:ea typeface="맑은 고딕" pitchFamily="34" charset="-122"/>
                <a:cs typeface="맑은 고딕" pitchFamily="34" charset="-120"/>
              </a:rPr>
              <a:t>② 저효율 라인</a:t>
            </a:r>
            <a:endParaRPr lang="en-US" sz="800" dirty="0"/>
          </a:p>
          <a:p>
            <a:pPr algn="ctr" indent="0" marL="0">
              <a:buNone/>
            </a:pPr>
            <a:r>
              <a:rPr lang="en-US" sz="800" dirty="0">
                <a:solidFill>
                  <a:srgbClr val="C2410C"/>
                </a:solidFill>
                <a:latin typeface="맑은 고딕" pitchFamily="34" charset="0"/>
                <a:ea typeface="맑은 고딕" pitchFamily="34" charset="-122"/>
                <a:cs typeface="맑은 고딕" pitchFamily="34" charset="-120"/>
              </a:rPr>
              <a:t>효율화</a:t>
            </a:r>
            <a:endParaRPr lang="en-US" sz="800" dirty="0"/>
          </a:p>
        </p:txBody>
      </p:sp>
      <p:sp>
        <p:nvSpPr>
          <p:cNvPr id="55" name="Text 53"/>
          <p:cNvSpPr/>
          <p:nvPr/>
        </p:nvSpPr>
        <p:spPr>
          <a:xfrm>
            <a:off x="4968240" y="3456432"/>
            <a:ext cx="1150620" cy="274320"/>
          </a:xfrm>
          <a:prstGeom prst="rect">
            <a:avLst/>
          </a:prstGeom>
          <a:noFill/>
          <a:ln/>
        </p:spPr>
        <p:txBody>
          <a:bodyPr wrap="square" lIns="0" tIns="0" rIns="0" bIns="0" rtlCol="0" anchor="ctr"/>
          <a:lstStyle/>
          <a:p>
            <a:pPr algn="ctr" indent="0" marL="0">
              <a:buNone/>
            </a:pPr>
            <a:r>
              <a:rPr lang="en-US" sz="800" dirty="0">
                <a:solidFill>
                  <a:srgbClr val="C2410C"/>
                </a:solidFill>
                <a:latin typeface="맑은 고딕" pitchFamily="34" charset="0"/>
                <a:ea typeface="맑은 고딕" pitchFamily="34" charset="-122"/>
                <a:cs typeface="맑은 고딕" pitchFamily="34" charset="-120"/>
              </a:rPr>
              <a:t>③ 개인별</a:t>
            </a:r>
            <a:endParaRPr lang="en-US" sz="800" dirty="0"/>
          </a:p>
          <a:p>
            <a:pPr algn="ctr" indent="0" marL="0">
              <a:buNone/>
            </a:pPr>
            <a:r>
              <a:rPr lang="en-US" sz="800" dirty="0">
                <a:solidFill>
                  <a:srgbClr val="C2410C"/>
                </a:solidFill>
                <a:latin typeface="맑은 고딕" pitchFamily="34" charset="0"/>
                <a:ea typeface="맑은 고딕" pitchFamily="34" charset="-122"/>
                <a:cs typeface="맑은 고딕" pitchFamily="34" charset="-120"/>
              </a:rPr>
              <a:t>업무 Span 확대</a:t>
            </a:r>
            <a:endParaRPr lang="en-US" sz="800" dirty="0"/>
          </a:p>
        </p:txBody>
      </p:sp>
      <p:sp>
        <p:nvSpPr>
          <p:cNvPr id="56" name="Text 54"/>
          <p:cNvSpPr/>
          <p:nvPr/>
        </p:nvSpPr>
        <p:spPr>
          <a:xfrm>
            <a:off x="6118860" y="3456432"/>
            <a:ext cx="1150620" cy="274320"/>
          </a:xfrm>
          <a:prstGeom prst="rect">
            <a:avLst/>
          </a:prstGeom>
          <a:noFill/>
          <a:ln/>
        </p:spPr>
        <p:txBody>
          <a:bodyPr wrap="square" lIns="0" tIns="0" rIns="0" bIns="0" rtlCol="0" anchor="ct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'30 Total TO</a:t>
            </a:r>
            <a:endParaRPr lang="en-US" sz="800" dirty="0"/>
          </a:p>
        </p:txBody>
      </p:sp>
      <p:sp>
        <p:nvSpPr>
          <p:cNvPr id="57" name="Text 55"/>
          <p:cNvSpPr/>
          <p:nvPr/>
        </p:nvSpPr>
        <p:spPr>
          <a:xfrm>
            <a:off x="365760" y="3767328"/>
            <a:ext cx="2240280" cy="228600"/>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① 공정·프로세스 자동화</a:t>
            </a:r>
            <a:endParaRPr lang="en-US" sz="900" dirty="0"/>
          </a:p>
        </p:txBody>
      </p:sp>
      <p:sp>
        <p:nvSpPr>
          <p:cNvPr id="58" name="Text 56"/>
          <p:cNvSpPr/>
          <p:nvPr/>
        </p:nvSpPr>
        <p:spPr>
          <a:xfrm>
            <a:off x="365760" y="3995928"/>
            <a:ext cx="2240280" cy="557784"/>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Intelligent Factory·AI/로봇 적용 확대</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Inno TF 설비정예화 연계 운전·정비 TO↓</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위험·단순 반복작업 우선 자동화</a:t>
            </a:r>
            <a:endParaRPr lang="en-US" sz="900" dirty="0"/>
          </a:p>
        </p:txBody>
      </p:sp>
      <p:sp>
        <p:nvSpPr>
          <p:cNvPr id="59" name="Text 57"/>
          <p:cNvSpPr/>
          <p:nvPr/>
        </p:nvSpPr>
        <p:spPr>
          <a:xfrm>
            <a:off x="2697480" y="3767328"/>
            <a:ext cx="2240280" cy="228600"/>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② 저효율 제조라인 효율화(폐쇄)</a:t>
            </a:r>
            <a:endParaRPr lang="en-US" sz="900" dirty="0"/>
          </a:p>
        </p:txBody>
      </p:sp>
      <p:sp>
        <p:nvSpPr>
          <p:cNvPr id="60" name="Text 58"/>
          <p:cNvSpPr/>
          <p:nvPr/>
        </p:nvSpPr>
        <p:spPr>
          <a:xfrm>
            <a:off x="2697480" y="3995928"/>
            <a:ext cx="2240280" cy="557784"/>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저수익·저가동 라인 통폐합/폐쇄</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사업재편 연계 라인별 적정 TO 재산정</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신사업·해외법인 전환배치</a:t>
            </a:r>
            <a:endParaRPr lang="en-US" sz="900" dirty="0"/>
          </a:p>
        </p:txBody>
      </p:sp>
      <p:sp>
        <p:nvSpPr>
          <p:cNvPr id="61" name="Text 59"/>
          <p:cNvSpPr/>
          <p:nvPr/>
        </p:nvSpPr>
        <p:spPr>
          <a:xfrm>
            <a:off x="5029200" y="3767328"/>
            <a:ext cx="2240280" cy="228600"/>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③ 개인별 업무 Span 확대</a:t>
            </a:r>
            <a:endParaRPr lang="en-US" sz="900" dirty="0"/>
          </a:p>
        </p:txBody>
      </p:sp>
      <p:sp>
        <p:nvSpPr>
          <p:cNvPr id="62" name="Text 60"/>
          <p:cNvSpPr/>
          <p:nvPr/>
        </p:nvSpPr>
        <p:spPr>
          <a:xfrm>
            <a:off x="5029200" y="3995928"/>
            <a:ext cx="2240280" cy="557784"/>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직무통합·다기능화로 1인당 관리범위↑</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직영-협력, 협력사間 중복기능 통합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사무·지원업무 AI Agent 활용(WX)</a:t>
            </a:r>
            <a:endParaRPr lang="en-US" sz="900" dirty="0"/>
          </a:p>
        </p:txBody>
      </p:sp>
      <p:sp>
        <p:nvSpPr>
          <p:cNvPr id="63" name="Text 61"/>
          <p:cNvSpPr/>
          <p:nvPr/>
        </p:nvSpPr>
        <p:spPr>
          <a:xfrm>
            <a:off x="7406640" y="2212848"/>
            <a:ext cx="4416552" cy="274320"/>
          </a:xfrm>
          <a:prstGeom prst="rect">
            <a:avLst/>
          </a:prstGeom>
          <a:solidFill>
            <a:srgbClr val="0B2D5B"/>
          </a:solidFill>
          <a:ln>
            <a:solidFill>
              <a:srgbClr val="0B2D5B"/>
            </a:solidFill>
          </a:ln>
        </p:spPr>
        <p:txBody>
          <a:bodyPr wrap="square" lIns="76200" tIns="76200" rIns="76200" bIns="76200" rtlCol="0" anchor="ctr"/>
          <a:lstStyle/>
          <a:p>
            <a:pPr algn="l" indent="0" marL="0">
              <a:buNone/>
            </a:pPr>
            <a:r>
              <a:rPr lang="en-US" sz="1000" b="1" dirty="0">
                <a:solidFill>
                  <a:srgbClr val="FFFFFF"/>
                </a:solidFill>
                <a:latin typeface="맑은 고딕" pitchFamily="34" charset="0"/>
                <a:ea typeface="맑은 고딕" pitchFamily="34" charset="-122"/>
                <a:cs typeface="맑은 고딕" pitchFamily="34" charset="-120"/>
              </a:rPr>
              <a:t>TO-PO 운영 원칙  (개념도)</a:t>
            </a:r>
            <a:endParaRPr lang="en-US" sz="1000" dirty="0"/>
          </a:p>
        </p:txBody>
      </p:sp>
      <p:sp>
        <p:nvSpPr>
          <p:cNvPr id="64" name="Shape 62"/>
          <p:cNvSpPr/>
          <p:nvPr/>
        </p:nvSpPr>
        <p:spPr>
          <a:xfrm>
            <a:off x="7589520" y="2560320"/>
            <a:ext cx="0" cy="987552"/>
          </a:xfrm>
          <a:prstGeom prst="line">
            <a:avLst/>
          </a:prstGeom>
          <a:noFill/>
          <a:ln w="12700">
            <a:solidFill>
              <a:srgbClr val="BFC7D2"/>
            </a:solidFill>
            <a:prstDash val="solid"/>
          </a:ln>
        </p:spPr>
      </p:sp>
      <p:sp>
        <p:nvSpPr>
          <p:cNvPr id="65" name="Shape 63"/>
          <p:cNvSpPr/>
          <p:nvPr/>
        </p:nvSpPr>
        <p:spPr>
          <a:xfrm>
            <a:off x="7589520" y="3547872"/>
            <a:ext cx="4206240" cy="0"/>
          </a:xfrm>
          <a:prstGeom prst="line">
            <a:avLst/>
          </a:prstGeom>
          <a:noFill/>
          <a:ln w="12700">
            <a:solidFill>
              <a:srgbClr val="BFC7D2"/>
            </a:solidFill>
            <a:prstDash val="solid"/>
          </a:ln>
        </p:spPr>
      </p:sp>
      <p:sp>
        <p:nvSpPr>
          <p:cNvPr id="66" name="Text 64"/>
          <p:cNvSpPr/>
          <p:nvPr/>
        </p:nvSpPr>
        <p:spPr>
          <a:xfrm>
            <a:off x="7635240" y="3566160"/>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'25</a:t>
            </a:r>
            <a:endParaRPr lang="en-US" sz="800" dirty="0"/>
          </a:p>
        </p:txBody>
      </p:sp>
      <p:sp>
        <p:nvSpPr>
          <p:cNvPr id="67" name="Text 65"/>
          <p:cNvSpPr/>
          <p:nvPr/>
        </p:nvSpPr>
        <p:spPr>
          <a:xfrm>
            <a:off x="8385048" y="3566160"/>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'26</a:t>
            </a:r>
            <a:endParaRPr lang="en-US" sz="800" dirty="0"/>
          </a:p>
        </p:txBody>
      </p:sp>
      <p:sp>
        <p:nvSpPr>
          <p:cNvPr id="68" name="Text 66"/>
          <p:cNvSpPr/>
          <p:nvPr/>
        </p:nvSpPr>
        <p:spPr>
          <a:xfrm>
            <a:off x="9134856" y="3566160"/>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'27</a:t>
            </a:r>
            <a:endParaRPr lang="en-US" sz="800" dirty="0"/>
          </a:p>
        </p:txBody>
      </p:sp>
      <p:sp>
        <p:nvSpPr>
          <p:cNvPr id="69" name="Text 67"/>
          <p:cNvSpPr/>
          <p:nvPr/>
        </p:nvSpPr>
        <p:spPr>
          <a:xfrm>
            <a:off x="9884664" y="3566160"/>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'28</a:t>
            </a:r>
            <a:endParaRPr lang="en-US" sz="800" dirty="0"/>
          </a:p>
        </p:txBody>
      </p:sp>
      <p:sp>
        <p:nvSpPr>
          <p:cNvPr id="70" name="Text 68"/>
          <p:cNvSpPr/>
          <p:nvPr/>
        </p:nvSpPr>
        <p:spPr>
          <a:xfrm>
            <a:off x="10634472" y="3566160"/>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'29</a:t>
            </a:r>
            <a:endParaRPr lang="en-US" sz="800" dirty="0"/>
          </a:p>
        </p:txBody>
      </p:sp>
      <p:sp>
        <p:nvSpPr>
          <p:cNvPr id="71" name="Text 69"/>
          <p:cNvSpPr/>
          <p:nvPr/>
        </p:nvSpPr>
        <p:spPr>
          <a:xfrm>
            <a:off x="11384280" y="3566160"/>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'30</a:t>
            </a:r>
            <a:endParaRPr lang="en-US" sz="800" dirty="0"/>
          </a:p>
        </p:txBody>
      </p:sp>
      <p:sp>
        <p:nvSpPr>
          <p:cNvPr id="72" name="Shape 70"/>
          <p:cNvSpPr/>
          <p:nvPr/>
        </p:nvSpPr>
        <p:spPr>
          <a:xfrm>
            <a:off x="7863840" y="2724912"/>
            <a:ext cx="749808" cy="0"/>
          </a:xfrm>
          <a:prstGeom prst="line">
            <a:avLst/>
          </a:prstGeom>
          <a:noFill/>
          <a:ln w="28575">
            <a:solidFill>
              <a:srgbClr val="0B2D5B"/>
            </a:solidFill>
            <a:prstDash val="solid"/>
          </a:ln>
        </p:spPr>
      </p:sp>
      <p:sp>
        <p:nvSpPr>
          <p:cNvPr id="73" name="Shape 71"/>
          <p:cNvSpPr/>
          <p:nvPr/>
        </p:nvSpPr>
        <p:spPr>
          <a:xfrm flipV="1">
            <a:off x="7863840" y="2670048"/>
            <a:ext cx="749808" cy="27432"/>
          </a:xfrm>
          <a:prstGeom prst="line">
            <a:avLst/>
          </a:prstGeom>
          <a:noFill/>
          <a:ln w="25400">
            <a:solidFill>
              <a:srgbClr val="E8541E"/>
            </a:solidFill>
            <a:prstDash val="dash"/>
          </a:ln>
        </p:spPr>
      </p:sp>
      <p:sp>
        <p:nvSpPr>
          <p:cNvPr id="74" name="Shape 72"/>
          <p:cNvSpPr/>
          <p:nvPr/>
        </p:nvSpPr>
        <p:spPr>
          <a:xfrm>
            <a:off x="8613648" y="2724912"/>
            <a:ext cx="749808" cy="182880"/>
          </a:xfrm>
          <a:prstGeom prst="line">
            <a:avLst/>
          </a:prstGeom>
          <a:noFill/>
          <a:ln w="28575">
            <a:solidFill>
              <a:srgbClr val="0B2D5B"/>
            </a:solidFill>
            <a:prstDash val="solid"/>
          </a:ln>
        </p:spPr>
      </p:sp>
      <p:sp>
        <p:nvSpPr>
          <p:cNvPr id="75" name="Shape 73"/>
          <p:cNvSpPr/>
          <p:nvPr/>
        </p:nvSpPr>
        <p:spPr>
          <a:xfrm>
            <a:off x="8613648" y="2670048"/>
            <a:ext cx="749808" cy="73152"/>
          </a:xfrm>
          <a:prstGeom prst="line">
            <a:avLst/>
          </a:prstGeom>
          <a:noFill/>
          <a:ln w="25400">
            <a:solidFill>
              <a:srgbClr val="E8541E"/>
            </a:solidFill>
            <a:prstDash val="dash"/>
          </a:ln>
        </p:spPr>
      </p:sp>
      <p:sp>
        <p:nvSpPr>
          <p:cNvPr id="76" name="Shape 74"/>
          <p:cNvSpPr/>
          <p:nvPr/>
        </p:nvSpPr>
        <p:spPr>
          <a:xfrm>
            <a:off x="9363456" y="2907792"/>
            <a:ext cx="749808" cy="182880"/>
          </a:xfrm>
          <a:prstGeom prst="line">
            <a:avLst/>
          </a:prstGeom>
          <a:noFill/>
          <a:ln w="28575">
            <a:solidFill>
              <a:srgbClr val="0B2D5B"/>
            </a:solidFill>
            <a:prstDash val="solid"/>
          </a:ln>
        </p:spPr>
      </p:sp>
      <p:sp>
        <p:nvSpPr>
          <p:cNvPr id="77" name="Shape 75"/>
          <p:cNvSpPr/>
          <p:nvPr/>
        </p:nvSpPr>
        <p:spPr>
          <a:xfrm>
            <a:off x="9363456" y="2743200"/>
            <a:ext cx="749808" cy="155448"/>
          </a:xfrm>
          <a:prstGeom prst="line">
            <a:avLst/>
          </a:prstGeom>
          <a:noFill/>
          <a:ln w="25400">
            <a:solidFill>
              <a:srgbClr val="E8541E"/>
            </a:solidFill>
            <a:prstDash val="dash"/>
          </a:ln>
        </p:spPr>
      </p:sp>
      <p:sp>
        <p:nvSpPr>
          <p:cNvPr id="78" name="Shape 76"/>
          <p:cNvSpPr/>
          <p:nvPr/>
        </p:nvSpPr>
        <p:spPr>
          <a:xfrm>
            <a:off x="10113264" y="3090672"/>
            <a:ext cx="749808" cy="155448"/>
          </a:xfrm>
          <a:prstGeom prst="line">
            <a:avLst/>
          </a:prstGeom>
          <a:noFill/>
          <a:ln w="28575">
            <a:solidFill>
              <a:srgbClr val="0B2D5B"/>
            </a:solidFill>
            <a:prstDash val="solid"/>
          </a:ln>
        </p:spPr>
      </p:sp>
      <p:sp>
        <p:nvSpPr>
          <p:cNvPr id="79" name="Shape 77"/>
          <p:cNvSpPr/>
          <p:nvPr/>
        </p:nvSpPr>
        <p:spPr>
          <a:xfrm>
            <a:off x="10113264" y="2898648"/>
            <a:ext cx="749808" cy="210312"/>
          </a:xfrm>
          <a:prstGeom prst="line">
            <a:avLst/>
          </a:prstGeom>
          <a:noFill/>
          <a:ln w="25400">
            <a:solidFill>
              <a:srgbClr val="E8541E"/>
            </a:solidFill>
            <a:prstDash val="dash"/>
          </a:ln>
        </p:spPr>
      </p:sp>
      <p:sp>
        <p:nvSpPr>
          <p:cNvPr id="80" name="Shape 78"/>
          <p:cNvSpPr/>
          <p:nvPr/>
        </p:nvSpPr>
        <p:spPr>
          <a:xfrm>
            <a:off x="10863072" y="3246120"/>
            <a:ext cx="749808" cy="137160"/>
          </a:xfrm>
          <a:prstGeom prst="line">
            <a:avLst/>
          </a:prstGeom>
          <a:noFill/>
          <a:ln w="28575">
            <a:solidFill>
              <a:srgbClr val="0B2D5B"/>
            </a:solidFill>
            <a:prstDash val="solid"/>
          </a:ln>
        </p:spPr>
      </p:sp>
      <p:sp>
        <p:nvSpPr>
          <p:cNvPr id="81" name="Shape 79"/>
          <p:cNvSpPr/>
          <p:nvPr/>
        </p:nvSpPr>
        <p:spPr>
          <a:xfrm>
            <a:off x="10863072" y="3108960"/>
            <a:ext cx="749808" cy="237744"/>
          </a:xfrm>
          <a:prstGeom prst="line">
            <a:avLst/>
          </a:prstGeom>
          <a:noFill/>
          <a:ln w="25400">
            <a:solidFill>
              <a:srgbClr val="E8541E"/>
            </a:solidFill>
            <a:prstDash val="dash"/>
          </a:ln>
        </p:spPr>
      </p:sp>
      <p:sp>
        <p:nvSpPr>
          <p:cNvPr id="82" name="Shape 80"/>
          <p:cNvSpPr/>
          <p:nvPr/>
        </p:nvSpPr>
        <p:spPr>
          <a:xfrm>
            <a:off x="7827264" y="2688336"/>
            <a:ext cx="73152" cy="73152"/>
          </a:xfrm>
          <a:prstGeom prst="ellipse">
            <a:avLst/>
          </a:prstGeom>
          <a:solidFill>
            <a:srgbClr val="0B2D5B"/>
          </a:solidFill>
          <a:ln w="6350">
            <a:solidFill>
              <a:srgbClr val="FFFFFF"/>
            </a:solidFill>
            <a:prstDash val="solid"/>
          </a:ln>
        </p:spPr>
      </p:sp>
      <p:sp>
        <p:nvSpPr>
          <p:cNvPr id="83" name="Shape 81"/>
          <p:cNvSpPr/>
          <p:nvPr/>
        </p:nvSpPr>
        <p:spPr>
          <a:xfrm>
            <a:off x="8577072" y="2688336"/>
            <a:ext cx="73152" cy="73152"/>
          </a:xfrm>
          <a:prstGeom prst="ellipse">
            <a:avLst/>
          </a:prstGeom>
          <a:solidFill>
            <a:srgbClr val="0B2D5B"/>
          </a:solidFill>
          <a:ln w="6350">
            <a:solidFill>
              <a:srgbClr val="FFFFFF"/>
            </a:solidFill>
            <a:prstDash val="solid"/>
          </a:ln>
        </p:spPr>
      </p:sp>
      <p:sp>
        <p:nvSpPr>
          <p:cNvPr id="84" name="Shape 82"/>
          <p:cNvSpPr/>
          <p:nvPr/>
        </p:nvSpPr>
        <p:spPr>
          <a:xfrm>
            <a:off x="9326880" y="2871216"/>
            <a:ext cx="73152" cy="73152"/>
          </a:xfrm>
          <a:prstGeom prst="ellipse">
            <a:avLst/>
          </a:prstGeom>
          <a:solidFill>
            <a:srgbClr val="0B2D5B"/>
          </a:solidFill>
          <a:ln w="6350">
            <a:solidFill>
              <a:srgbClr val="FFFFFF"/>
            </a:solidFill>
            <a:prstDash val="solid"/>
          </a:ln>
        </p:spPr>
      </p:sp>
      <p:sp>
        <p:nvSpPr>
          <p:cNvPr id="85" name="Shape 83"/>
          <p:cNvSpPr/>
          <p:nvPr/>
        </p:nvSpPr>
        <p:spPr>
          <a:xfrm>
            <a:off x="10076688" y="3054096"/>
            <a:ext cx="73152" cy="73152"/>
          </a:xfrm>
          <a:prstGeom prst="ellipse">
            <a:avLst/>
          </a:prstGeom>
          <a:solidFill>
            <a:srgbClr val="0B2D5B"/>
          </a:solidFill>
          <a:ln w="6350">
            <a:solidFill>
              <a:srgbClr val="FFFFFF"/>
            </a:solidFill>
            <a:prstDash val="solid"/>
          </a:ln>
        </p:spPr>
      </p:sp>
      <p:sp>
        <p:nvSpPr>
          <p:cNvPr id="86" name="Shape 84"/>
          <p:cNvSpPr/>
          <p:nvPr/>
        </p:nvSpPr>
        <p:spPr>
          <a:xfrm>
            <a:off x="10826496" y="3209544"/>
            <a:ext cx="73152" cy="73152"/>
          </a:xfrm>
          <a:prstGeom prst="ellipse">
            <a:avLst/>
          </a:prstGeom>
          <a:solidFill>
            <a:srgbClr val="0B2D5B"/>
          </a:solidFill>
          <a:ln w="6350">
            <a:solidFill>
              <a:srgbClr val="FFFFFF"/>
            </a:solidFill>
            <a:prstDash val="solid"/>
          </a:ln>
        </p:spPr>
      </p:sp>
      <p:sp>
        <p:nvSpPr>
          <p:cNvPr id="87" name="Shape 85"/>
          <p:cNvSpPr/>
          <p:nvPr/>
        </p:nvSpPr>
        <p:spPr>
          <a:xfrm>
            <a:off x="11576304" y="3346704"/>
            <a:ext cx="73152" cy="73152"/>
          </a:xfrm>
          <a:prstGeom prst="ellipse">
            <a:avLst/>
          </a:prstGeom>
          <a:solidFill>
            <a:srgbClr val="0B2D5B"/>
          </a:solidFill>
          <a:ln w="6350">
            <a:solidFill>
              <a:srgbClr val="FFFFFF"/>
            </a:solidFill>
            <a:prstDash val="solid"/>
          </a:ln>
        </p:spPr>
      </p:sp>
      <p:sp>
        <p:nvSpPr>
          <p:cNvPr id="88" name="Shape 86"/>
          <p:cNvSpPr/>
          <p:nvPr/>
        </p:nvSpPr>
        <p:spPr>
          <a:xfrm>
            <a:off x="10241280" y="2615184"/>
            <a:ext cx="274320" cy="0"/>
          </a:xfrm>
          <a:prstGeom prst="line">
            <a:avLst/>
          </a:prstGeom>
          <a:noFill/>
          <a:ln w="28575">
            <a:solidFill>
              <a:srgbClr val="0B2D5B"/>
            </a:solidFill>
            <a:prstDash val="solid"/>
          </a:ln>
        </p:spPr>
      </p:sp>
      <p:sp>
        <p:nvSpPr>
          <p:cNvPr id="89" name="Text 87"/>
          <p:cNvSpPr/>
          <p:nvPr/>
        </p:nvSpPr>
        <p:spPr>
          <a:xfrm>
            <a:off x="10561320" y="2532888"/>
            <a:ext cx="1280160" cy="164592"/>
          </a:xfrm>
          <a:prstGeom prst="rect">
            <a:avLst/>
          </a:prstGeom>
          <a:noFill/>
          <a:ln/>
        </p:spPr>
        <p:txBody>
          <a:bodyPr wrap="square" lIns="0" tIns="0" rIns="0" bIns="0" rtlCol="0" anchor="ctr"/>
          <a:lstStyle/>
          <a:p>
            <a:pPr indent="0" marL="0">
              <a:buNone/>
            </a:pPr>
            <a:r>
              <a:rPr lang="en-US" sz="750" b="1" dirty="0">
                <a:solidFill>
                  <a:srgbClr val="0B2D5B"/>
                </a:solidFill>
                <a:latin typeface="맑은 고딕" pitchFamily="34" charset="0"/>
                <a:ea typeface="맑은 고딕" pitchFamily="34" charset="-122"/>
                <a:cs typeface="맑은 고딕" pitchFamily="34" charset="-120"/>
              </a:rPr>
              <a:t>TO(기준인력) 선행 감축</a:t>
            </a:r>
            <a:endParaRPr lang="en-US" sz="750" dirty="0"/>
          </a:p>
        </p:txBody>
      </p:sp>
      <p:sp>
        <p:nvSpPr>
          <p:cNvPr id="90" name="Shape 88"/>
          <p:cNvSpPr/>
          <p:nvPr/>
        </p:nvSpPr>
        <p:spPr>
          <a:xfrm>
            <a:off x="10241280" y="2798064"/>
            <a:ext cx="274320" cy="0"/>
          </a:xfrm>
          <a:prstGeom prst="line">
            <a:avLst/>
          </a:prstGeom>
          <a:noFill/>
          <a:ln w="25400">
            <a:solidFill>
              <a:srgbClr val="E8541E"/>
            </a:solidFill>
            <a:prstDash val="dash"/>
          </a:ln>
        </p:spPr>
      </p:sp>
      <p:sp>
        <p:nvSpPr>
          <p:cNvPr id="91" name="Text 89"/>
          <p:cNvSpPr/>
          <p:nvPr/>
        </p:nvSpPr>
        <p:spPr>
          <a:xfrm>
            <a:off x="10561320" y="2715768"/>
            <a:ext cx="1280160" cy="164592"/>
          </a:xfrm>
          <a:prstGeom prst="rect">
            <a:avLst/>
          </a:prstGeom>
          <a:noFill/>
          <a:ln/>
        </p:spPr>
        <p:txBody>
          <a:bodyPr wrap="square" lIns="0" tIns="0" rIns="0" bIns="0" rtlCol="0" anchor="ctr"/>
          <a:lstStyle/>
          <a:p>
            <a:pPr indent="0" marL="0">
              <a:buNone/>
            </a:pPr>
            <a:r>
              <a:rPr lang="en-US" sz="750" b="1" dirty="0">
                <a:solidFill>
                  <a:srgbClr val="C2410C"/>
                </a:solidFill>
                <a:latin typeface="맑은 고딕" pitchFamily="34" charset="0"/>
                <a:ea typeface="맑은 고딕" pitchFamily="34" charset="-122"/>
                <a:cs typeface="맑은 고딕" pitchFamily="34" charset="-120"/>
              </a:rPr>
              <a:t>PO(실제인력) 후행 수렴</a:t>
            </a:r>
            <a:endParaRPr lang="en-US" sz="750" dirty="0"/>
          </a:p>
        </p:txBody>
      </p:sp>
      <p:sp>
        <p:nvSpPr>
          <p:cNvPr id="92" name="Shape 90"/>
          <p:cNvSpPr/>
          <p:nvPr/>
        </p:nvSpPr>
        <p:spPr>
          <a:xfrm>
            <a:off x="10058400" y="2916936"/>
            <a:ext cx="109728" cy="164592"/>
          </a:xfrm>
          <a:prstGeom prst="upDownArrow">
            <a:avLst/>
          </a:prstGeom>
          <a:solidFill>
            <a:srgbClr val="8A94A3"/>
          </a:solidFill>
          <a:ln w="12700">
            <a:solidFill>
              <a:srgbClr val="8A94A3"/>
            </a:solidFill>
            <a:prstDash val="solid"/>
          </a:ln>
        </p:spPr>
      </p:sp>
      <p:sp>
        <p:nvSpPr>
          <p:cNvPr id="93" name="Text 91"/>
          <p:cNvSpPr/>
          <p:nvPr/>
        </p:nvSpPr>
        <p:spPr>
          <a:xfrm>
            <a:off x="7726680" y="3145536"/>
            <a:ext cx="2194560" cy="329184"/>
          </a:xfrm>
          <a:prstGeom prst="rect">
            <a:avLst/>
          </a:prstGeom>
          <a:noFill/>
          <a:ln/>
        </p:spPr>
        <p:txBody>
          <a:bodyPr wrap="square" lIns="0" tIns="0" rIns="0" bIns="0" rtlCol="0" anchor="ctr"/>
          <a:lstStyle/>
          <a:p>
            <a:pPr indent="0" marL="0">
              <a:buNone/>
            </a:pPr>
            <a:r>
              <a:rPr lang="en-US" sz="750" b="1" dirty="0">
                <a:solidFill>
                  <a:srgbClr val="555555"/>
                </a:solidFill>
                <a:latin typeface="맑은 고딕" pitchFamily="34" charset="0"/>
                <a:ea typeface="맑은 고딕" pitchFamily="34" charset="-122"/>
                <a:cs typeface="맑은 고딕" pitchFamily="34" charset="-120"/>
              </a:rPr>
              <a:t>과원(PO &gt; TO) 발생 구간</a:t>
            </a:r>
            <a:endParaRPr lang="en-US" sz="900" dirty="0"/>
          </a:p>
          <a:p>
            <a:pPr indent="0" marL="0">
              <a:buNone/>
            </a:pPr>
            <a:r>
              <a:rPr lang="en-US" sz="750" dirty="0">
                <a:solidFill>
                  <a:srgbClr val="555555"/>
                </a:solidFill>
                <a:latin typeface="맑은 고딕" pitchFamily="34" charset="0"/>
                <a:ea typeface="맑은 고딕" pitchFamily="34" charset="-122"/>
                <a:cs typeface="맑은 고딕" pitchFamily="34" charset="-120"/>
              </a:rPr>
              <a:t>→ 자연감소·재배치로 단계적 해소</a:t>
            </a:r>
            <a:endParaRPr lang="en-US" sz="900" dirty="0"/>
          </a:p>
        </p:txBody>
      </p:sp>
      <p:sp>
        <p:nvSpPr>
          <p:cNvPr id="94" name="Text 92"/>
          <p:cNvSpPr/>
          <p:nvPr/>
        </p:nvSpPr>
        <p:spPr>
          <a:xfrm>
            <a:off x="7406640" y="3767328"/>
            <a:ext cx="4416552" cy="786384"/>
          </a:xfrm>
          <a:prstGeom prst="rect">
            <a:avLst/>
          </a:prstGeom>
          <a:solidFill>
            <a:srgbClr val="F2F4F7"/>
          </a:solidFill>
          <a:ln w="9525">
            <a:solidFill>
              <a:srgbClr val="BFC7D2"/>
            </a:solidFill>
          </a:ln>
        </p:spPr>
        <p:txBody>
          <a:bodyPr wrap="square" lIns="63500" tIns="63500" rIns="63500" bIns="635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 TO 선행 감축 → 정년퇴직 등 자연감소 범위 內 채용 조절로 PO 수렴</a:t>
            </a:r>
            <a:endParaRPr lang="en-US" sz="900" dirty="0"/>
          </a:p>
          <a:p>
            <a:pPr indent="0" marL="0">
              <a:buNone/>
            </a:pPr>
            <a:r>
              <a:rPr lang="en-US" sz="850" dirty="0">
                <a:solidFill>
                  <a:srgbClr val="222222"/>
                </a:solidFill>
                <a:latin typeface="맑은 고딕" pitchFamily="34" charset="0"/>
                <a:ea typeface="맑은 고딕" pitchFamily="34" charset="-122"/>
                <a:cs typeface="맑은 고딕" pitchFamily="34" charset="-120"/>
              </a:rPr>
              <a:t>· 잉여인력 Re-skilling 後 신사업·해외(인도 2기, 美 H社 합작) 재배치</a:t>
            </a:r>
            <a:endParaRPr lang="en-US" sz="900" dirty="0"/>
          </a:p>
          <a:p>
            <a:pPr indent="0" marL="0">
              <a:buNone/>
            </a:pPr>
            <a:r>
              <a:rPr lang="en-US" sz="850" dirty="0">
                <a:solidFill>
                  <a:srgbClr val="222222"/>
                </a:solidFill>
                <a:latin typeface="맑은 고딕" pitchFamily="34" charset="0"/>
                <a:ea typeface="맑은 고딕" pitchFamily="34" charset="-122"/>
                <a:cs typeface="맑은 고딕" pitchFamily="34" charset="-120"/>
              </a:rPr>
              <a:t>· 인위적 PO 조정 지양, 구조적 TO 관리로 노사 수용성 확보</a:t>
            </a:r>
            <a:endParaRPr lang="en-US" sz="900" dirty="0"/>
          </a:p>
        </p:txBody>
      </p:sp>
      <p:sp>
        <p:nvSpPr>
          <p:cNvPr id="95" name="Text 93"/>
          <p:cNvSpPr/>
          <p:nvPr/>
        </p:nvSpPr>
        <p:spPr>
          <a:xfrm>
            <a:off x="365760" y="4663440"/>
            <a:ext cx="914400" cy="1024128"/>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실행기반</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(Enabler)</a:t>
            </a:r>
            <a:endParaRPr lang="en-US" sz="1000" dirty="0"/>
          </a:p>
        </p:txBody>
      </p:sp>
      <p:sp>
        <p:nvSpPr>
          <p:cNvPr id="96" name="Text 94"/>
          <p:cNvSpPr/>
          <p:nvPr/>
        </p:nvSpPr>
        <p:spPr>
          <a:xfrm>
            <a:off x="1353312" y="4663440"/>
            <a:ext cx="2551176" cy="256032"/>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① 노무비 기반 인력관리체계 전환</a:t>
            </a:r>
            <a:pPr indent="0" marL="0">
              <a:buNone/>
            </a:pPr>
            <a:r>
              <a:rPr lang="en-US" sz="750" b="1" dirty="0">
                <a:solidFill>
                  <a:srgbClr val="C2410C"/>
                </a:solidFill>
                <a:latin typeface="맑은 고딕" pitchFamily="34" charset="0"/>
                <a:ea typeface="맑은 고딕" pitchFamily="34" charset="-122"/>
                <a:cs typeface="맑은 고딕" pitchFamily="34" charset="-120"/>
              </a:rPr>
              <a:t>  [신규]</a:t>
            </a:r>
            <a:endParaRPr lang="en-US" sz="900" dirty="0"/>
          </a:p>
        </p:txBody>
      </p:sp>
      <p:sp>
        <p:nvSpPr>
          <p:cNvPr id="97" name="Text 95"/>
          <p:cNvSpPr/>
          <p:nvPr/>
        </p:nvSpPr>
        <p:spPr>
          <a:xfrm>
            <a:off x="1353312" y="4919472"/>
            <a:ext cx="2551176" cy="768096"/>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직영+협력 Total 노무비 Baseline·KPI 정립</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TO 증감의 노무비 환산, 사업부별 목표 부여</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인력계획-예산-성과평가 연계 강화</a:t>
            </a:r>
            <a:endParaRPr lang="en-US" sz="900" dirty="0"/>
          </a:p>
        </p:txBody>
      </p:sp>
      <p:sp>
        <p:nvSpPr>
          <p:cNvPr id="98" name="Text 96"/>
          <p:cNvSpPr/>
          <p:nvPr/>
        </p:nvSpPr>
        <p:spPr>
          <a:xfrm>
            <a:off x="3986784" y="4663440"/>
            <a:ext cx="2551176" cy="256032"/>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② 노무 Risk 선제 대응</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전략2]</a:t>
            </a:r>
            <a:endParaRPr lang="en-US" sz="900" dirty="0"/>
          </a:p>
        </p:txBody>
      </p:sp>
      <p:sp>
        <p:nvSpPr>
          <p:cNvPr id="99" name="Text 97"/>
          <p:cNvSpPr/>
          <p:nvPr/>
        </p:nvSpPr>
        <p:spPr>
          <a:xfrm>
            <a:off x="3986784" y="4919472"/>
            <a:ext cx="2551176" cy="768096"/>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통상임금·임금차액 소송 매몰비용 최소화</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노란봉투법 대비 협력/용역계약 유형별 대응</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정년연장·근로시간 규제 대비 제도 재정비</a:t>
            </a:r>
            <a:endParaRPr lang="en-US" sz="900" dirty="0"/>
          </a:p>
        </p:txBody>
      </p:sp>
      <p:sp>
        <p:nvSpPr>
          <p:cNvPr id="100" name="Text 98"/>
          <p:cNvSpPr/>
          <p:nvPr/>
        </p:nvSpPr>
        <p:spPr>
          <a:xfrm>
            <a:off x="6620256" y="4663440"/>
            <a:ext cx="2551176" cy="256032"/>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③ 인재 전환·재배치</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전략1]</a:t>
            </a:r>
            <a:endParaRPr lang="en-US" sz="900" dirty="0"/>
          </a:p>
        </p:txBody>
      </p:sp>
      <p:sp>
        <p:nvSpPr>
          <p:cNvPr id="101" name="Text 99"/>
          <p:cNvSpPr/>
          <p:nvPr/>
        </p:nvSpPr>
        <p:spPr>
          <a:xfrm>
            <a:off x="6620256" y="4919472"/>
            <a:ext cx="2551176" cy="768096"/>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Domain&amp;AI 전문인력 양성, 뉴칼라 2.0 개편</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Re-skilling 後 전략분야 재배치</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S직군 조기 조직안정·직원 간 화합 도모</a:t>
            </a:r>
            <a:endParaRPr lang="en-US" sz="900" dirty="0"/>
          </a:p>
        </p:txBody>
      </p:sp>
      <p:sp>
        <p:nvSpPr>
          <p:cNvPr id="102" name="Text 100"/>
          <p:cNvSpPr/>
          <p:nvPr/>
        </p:nvSpPr>
        <p:spPr>
          <a:xfrm>
            <a:off x="9253728" y="4663440"/>
            <a:ext cx="2551176" cy="256032"/>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④ 일하는 방식·현장 리더십</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전략3]</a:t>
            </a:r>
            <a:endParaRPr lang="en-US" sz="900" dirty="0"/>
          </a:p>
        </p:txBody>
      </p:sp>
      <p:sp>
        <p:nvSpPr>
          <p:cNvPr id="103" name="Text 101"/>
          <p:cNvSpPr/>
          <p:nvPr/>
        </p:nvSpPr>
        <p:spPr>
          <a:xfrm>
            <a:off x="9253728" y="4919472"/>
            <a:ext cx="2551176" cy="768096"/>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AI 기반 일하는 방식(Workway) 재정립·확산</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직책자 역할·권한 재정립, 솔선수범 리더십</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全 직원 DX 이해 증진 및 변화관리 강화</a:t>
            </a:r>
            <a:endParaRPr lang="en-US" sz="900" dirty="0"/>
          </a:p>
        </p:txBody>
      </p:sp>
      <p:sp>
        <p:nvSpPr>
          <p:cNvPr id="104" name="Text 102"/>
          <p:cNvSpPr/>
          <p:nvPr/>
        </p:nvSpPr>
        <p:spPr>
          <a:xfrm>
            <a:off x="365760" y="5760720"/>
            <a:ext cx="914400" cy="731520"/>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추진</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Roadmap</a:t>
            </a:r>
            <a:endParaRPr lang="en-US" sz="1000" dirty="0"/>
          </a:p>
        </p:txBody>
      </p:sp>
      <p:sp>
        <p:nvSpPr>
          <p:cNvPr id="105" name="Text 103"/>
          <p:cNvSpPr/>
          <p:nvPr/>
        </p:nvSpPr>
        <p:spPr>
          <a:xfrm>
            <a:off x="1353312" y="5760720"/>
            <a:ext cx="3566160" cy="292608"/>
          </a:xfrm>
          <a:prstGeom prst="homePlate">
            <a:avLst/>
          </a:prstGeom>
          <a:solidFill>
            <a:srgbClr val="1F5FA8"/>
          </a:solidFill>
          <a:ln>
            <a:solidFill>
              <a:srgbClr val="1F5FA8"/>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'26   기반 구축</a:t>
            </a:r>
            <a:endParaRPr lang="en-US" sz="950" dirty="0"/>
          </a:p>
        </p:txBody>
      </p:sp>
      <p:sp>
        <p:nvSpPr>
          <p:cNvPr id="106" name="Text 104"/>
          <p:cNvSpPr/>
          <p:nvPr/>
        </p:nvSpPr>
        <p:spPr>
          <a:xfrm>
            <a:off x="1536192" y="6071616"/>
            <a:ext cx="3200400" cy="402336"/>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Total TO·노무비 Baseline 및 관리체계 정립</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조직혁신 TF 실행 로드맵 수립, S직군 조직안정</a:t>
            </a:r>
            <a:endParaRPr lang="en-US" sz="900" dirty="0"/>
          </a:p>
        </p:txBody>
      </p:sp>
      <p:sp>
        <p:nvSpPr>
          <p:cNvPr id="107" name="Text 105"/>
          <p:cNvSpPr/>
          <p:nvPr/>
        </p:nvSpPr>
        <p:spPr>
          <a:xfrm>
            <a:off x="4791456" y="5760720"/>
            <a:ext cx="3566160" cy="292608"/>
          </a:xfrm>
          <a:prstGeom prst="chevron">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'27~'28   본격 실행</a:t>
            </a:r>
            <a:endParaRPr lang="en-US" sz="950" dirty="0"/>
          </a:p>
        </p:txBody>
      </p:sp>
      <p:sp>
        <p:nvSpPr>
          <p:cNvPr id="108" name="Text 106"/>
          <p:cNvSpPr/>
          <p:nvPr/>
        </p:nvSpPr>
        <p:spPr>
          <a:xfrm>
            <a:off x="4974336" y="6071616"/>
            <a:ext cx="3200400" cy="402336"/>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자동화·라인 효율화 연계 TO 단계적 감축</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직영-협력 중복기능 통합, 협력사 재편</a:t>
            </a:r>
            <a:endParaRPr lang="en-US" sz="900" dirty="0"/>
          </a:p>
        </p:txBody>
      </p:sp>
      <p:sp>
        <p:nvSpPr>
          <p:cNvPr id="109" name="Text 107"/>
          <p:cNvSpPr/>
          <p:nvPr/>
        </p:nvSpPr>
        <p:spPr>
          <a:xfrm>
            <a:off x="8229600" y="5760720"/>
            <a:ext cx="3566160" cy="292608"/>
          </a:xfrm>
          <a:prstGeom prst="chevron">
            <a:avLst/>
          </a:prstGeom>
          <a:solidFill>
            <a:srgbClr val="0B2D5B"/>
          </a:solidFill>
          <a:ln>
            <a:solidFill>
              <a:srgbClr val="0B2D5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'29~'30   정착·고도화</a:t>
            </a:r>
            <a:endParaRPr lang="en-US" sz="950" dirty="0"/>
          </a:p>
        </p:txBody>
      </p:sp>
      <p:sp>
        <p:nvSpPr>
          <p:cNvPr id="110" name="Text 108"/>
          <p:cNvSpPr/>
          <p:nvPr/>
        </p:nvSpPr>
        <p:spPr>
          <a:xfrm>
            <a:off x="8412480" y="6071616"/>
            <a:ext cx="3200400" cy="402336"/>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人+AI/로보틱스 Hybrid 인력구조 정착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'30 Total TO OO%↓·인당생산성 OO%↑ 달성</a:t>
            </a:r>
            <a:endParaRPr lang="en-US" sz="900" dirty="0"/>
          </a:p>
        </p:txBody>
      </p:sp>
      <p:sp>
        <p:nvSpPr>
          <p:cNvPr id="111" name="Text 109"/>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추진체계: 조직혁신 TF(양사업부·인사·DX전략·기술연구원) 주관, 반기 단위 TO·노무비 Rolling 점검  /  OO 수치는 사업계획 확정 後 반영</a:t>
            </a:r>
            <a:endParaRPr lang="en-US" sz="800" dirty="0"/>
          </a:p>
        </p:txBody>
      </p:sp>
      <p:sp>
        <p:nvSpPr>
          <p:cNvPr id="112" name="Text 110"/>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중기전략('26~'30 Rolling) - 인당생산성 향상</dc:title>
  <dc:subject>PptxGenJS Presentation</dc:subject>
  <dc:creator>PptxGenJS</dc:creator>
  <cp:lastModifiedBy>PptxGenJS</cp:lastModifiedBy>
  <cp:revision>1</cp:revision>
  <dcterms:created xsi:type="dcterms:W3CDTF">2026-09-14T10:37:54Z</dcterms:created>
  <dcterms:modified xsi:type="dcterms:W3CDTF">2026-09-14T10:37:54Z</dcterms:modified>
</cp:coreProperties>
</file>