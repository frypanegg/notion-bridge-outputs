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포인트] 작년 수립한 HR 중기전략 3대 방향은 유지하되, 올해는 전사 '원가' 축의 ④ 인당생산성 향상을 '30년까지 어떻게 구체화할 것인가의 관점에서 Rolling했습니다.
작년 대비 달라진 여건은 네 가지입니다. ① S직군 직영 전환으로 직영/협력 구분 관리가 무의미해졌고, ② 통상임금 확대로 인원수보다 노무비 단가가 원가를 좌우하며, ③ AI·로보틱스가 노동력을 대체하고, ④ 인력규모를 인위적으로 조정하기 어려워졌습니다.
이에 따라 관리 대상은 정규직·S직군·계약직·협력 4개 축의 Total 인력, 관리 기준은 노무비, 관리 범위는 AI·로보틱스를 포함한 Total Workforce, 관리 방식은 TO 선제 설계로 전환합니다.
핵심은 사람(PO)을 줄이는 것이 아니라 일의 기준(TO)을 낮추고, PO는 자연감소와 재배치로 따라오게 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포인트] '24년 말 기준 Total 인력(TO)은 28,104명이며, '30년까지 22,231명으로 5,873명(20.9%) 감축하는 것이 목표입니다.
4개 축으로 보면 직영은 S직군 전환과 계약직 증가로 +936명 늘어나지만, 협력이 △6,809명 줄어 총량은 감소합니다. 직영만 보면 늘어나는 것처럼 보이기 때문에 Total 관점 관리가 필요합니다.
직영은 '27.E 22,937명으로 정점을 찍은 뒤, 자동화·라인 효율화·업무 Span 확대의 3대 Lever로 단계적으로 줄어듭니다. 생산량이 동일하다면 인당생산성은 약 26.4% 향상되는 효과입니다.
TO를 먼저 낮추고, PO는 정년퇴직 등 자연감소와 Re-skilling 후 신사업·해외 재배치를 통해 단계적으로 수렴시켜 노사 수용성을 확보합니다.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포인트] 앞의 '30 Rolling이 '어떻게 줄일 것인가'였다면, 이 장은 '30 이후 HR이 도달할 모습입니다. AI 기술·노동 규제·철강 시황의 불확실성이 커서 확정 목표가 아닌 방향성으로 제시드립니다.
조직·WX: 제철소는 공정별로 나뉜 운영에서 하나의 흐름으로 통합된 AI 자율제조로 전환되고, 사람은 감시·판단·예외대응을 맡습니다. 사무는 End-to-End 가치흐름 단위로 인간+AI 팀이 일합니다.
HR 제도: 중앙통제형 HR에서 현업이 자율과 책임으로 성과를 내도록 지원하는 체계로 바뀝니다. 직급·호칭은 수평화되고 직무급 기반으로 운영되며, 고직급 적체가 해소되어 MZ세대가 조직을 이끄는 주축이 됩니다.
인력 규모: '24년 말 28,104명에서 '30년 22,231명, '35년 2만명 수준으로 안정화됩니다. '30년까지가 구조적 감축기라면, 이후는 인당생산성 향상이 포화되면서 Human+AI 최적 규모를 유지하는 단계입니다. 생산량이 같다면 인당생산성은 약 1.4배입니다.
불확실성은 네 가지 변수로 매년 점검합니다. 어떤 시나리오에서도 필요한 직무·역할 중심 제도, AI 인재 확보, TO·노무비 관리체계는 먼저 추진하고, 자율제조·무인화 범위는 기술 성숙과 투자 성과를 확인하며 단계적으로 넓히겠습니다.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65760" y="146304"/>
            <a:ext cx="5486400" cy="201168"/>
          </a:xfrm>
          <a:prstGeom prst="rect">
            <a:avLst/>
          </a:prstGeom>
          <a:noFill/>
          <a:ln/>
        </p:spPr>
        <p:txBody>
          <a:bodyPr wrap="square" lIns="0" tIns="0" rIns="0" bIns="0" rtlCol="0" anchor="ctr"/>
          <a:lstStyle/>
          <a:p>
            <a:pPr indent="0" marL="0">
              <a:buNone/>
            </a:pPr>
            <a:r>
              <a:rPr lang="en-US" sz="900" dirty="0">
                <a:solidFill>
                  <a:srgbClr val="8A94A3"/>
                </a:solidFill>
                <a:latin typeface="맑은 고딕" pitchFamily="34" charset="0"/>
                <a:ea typeface="맑은 고딕" pitchFamily="34" charset="-122"/>
                <a:cs typeface="맑은 고딕" pitchFamily="34" charset="-120"/>
              </a:rPr>
              <a:t>HR 중기전략 ('26~'30 Rolling)  |  원가 경쟁력</a:t>
            </a:r>
            <a:endParaRPr lang="en-US" sz="900" dirty="0"/>
          </a:p>
        </p:txBody>
      </p:sp>
      <p:sp>
        <p:nvSpPr>
          <p:cNvPr id="3" name="Text 1"/>
          <p:cNvSpPr/>
          <p:nvPr/>
        </p:nvSpPr>
        <p:spPr>
          <a:xfrm>
            <a:off x="365760" y="347472"/>
            <a:ext cx="8778240" cy="457200"/>
          </a:xfrm>
          <a:prstGeom prst="rect">
            <a:avLst/>
          </a:prstGeom>
          <a:noFill/>
          <a:ln/>
        </p:spPr>
        <p:txBody>
          <a:bodyPr wrap="square" lIns="0" tIns="0" rIns="0" bIns="0" rtlCol="0" anchor="ctr"/>
          <a:lstStyle/>
          <a:p>
            <a:pPr indent="0" marL="0">
              <a:buNone/>
            </a:pPr>
            <a:r>
              <a:rPr lang="en-US" sz="2200" b="1" dirty="0">
                <a:solidFill>
                  <a:srgbClr val="0B2D5B"/>
                </a:solidFill>
                <a:latin typeface="맑은 고딕" pitchFamily="34" charset="0"/>
                <a:ea typeface="맑은 고딕" pitchFamily="34" charset="-122"/>
                <a:cs typeface="맑은 고딕" pitchFamily="34" charset="-120"/>
              </a:rPr>
              <a:t>Ⅰ. 인당생산성 향상 중기전략 Rolling 방향</a:t>
            </a:r>
            <a:endParaRPr lang="en-US" sz="2200" dirty="0"/>
          </a:p>
        </p:txBody>
      </p:sp>
      <p:sp>
        <p:nvSpPr>
          <p:cNvPr id="4" name="Text 2"/>
          <p:cNvSpPr/>
          <p:nvPr/>
        </p:nvSpPr>
        <p:spPr>
          <a:xfrm>
            <a:off x="9262872" y="429768"/>
            <a:ext cx="2560320" cy="310896"/>
          </a:xfrm>
          <a:prstGeom prst="rect">
            <a:avLst/>
          </a:prstGeom>
          <a:solidFill>
            <a:srgbClr val="FDEDE6"/>
          </a:solidFill>
          <a:ln w="12700">
            <a:solidFill>
              <a:srgbClr val="E8541E"/>
            </a:solidFill>
          </a:ln>
        </p:spPr>
        <p:txBody>
          <a:bodyPr wrap="square" lIns="25400" tIns="25400" rIns="25400" bIns="25400" rtlCol="0" anchor="ctr"/>
          <a:lstStyle/>
          <a:p>
            <a:pPr algn="ctr" indent="0" marL="0">
              <a:buNone/>
            </a:pPr>
            <a:r>
              <a:rPr lang="en-US" sz="1000" b="1" dirty="0">
                <a:solidFill>
                  <a:srgbClr val="C2410C"/>
                </a:solidFill>
                <a:latin typeface="맑은 고딕" pitchFamily="34" charset="0"/>
                <a:ea typeface="맑은 고딕" pitchFamily="34" charset="-122"/>
                <a:cs typeface="맑은 고딕" pitchFamily="34" charset="-120"/>
              </a:rPr>
              <a:t>원가 ④ 인당생산성 향상</a:t>
            </a:r>
            <a:endParaRPr lang="en-US" sz="1000" dirty="0"/>
          </a:p>
        </p:txBody>
      </p:sp>
      <p:sp>
        <p:nvSpPr>
          <p:cNvPr id="5" name="Shape 3"/>
          <p:cNvSpPr/>
          <p:nvPr/>
        </p:nvSpPr>
        <p:spPr>
          <a:xfrm>
            <a:off x="365760" y="850392"/>
            <a:ext cx="11457432" cy="0"/>
          </a:xfrm>
          <a:prstGeom prst="line">
            <a:avLst/>
          </a:prstGeom>
          <a:noFill/>
          <a:ln w="25400">
            <a:solidFill>
              <a:srgbClr val="0B2D5B"/>
            </a:solidFill>
            <a:prstDash val="solid"/>
          </a:ln>
        </p:spPr>
      </p:sp>
      <p:sp>
        <p:nvSpPr>
          <p:cNvPr id="6" name="Shape 4"/>
          <p:cNvSpPr/>
          <p:nvPr/>
        </p:nvSpPr>
        <p:spPr>
          <a:xfrm>
            <a:off x="365760" y="941832"/>
            <a:ext cx="11457432" cy="512064"/>
          </a:xfrm>
          <a:prstGeom prst="rect">
            <a:avLst/>
          </a:prstGeom>
          <a:solidFill>
            <a:srgbClr val="EEF3FA"/>
          </a:solidFill>
          <a:ln w="12700">
            <a:solidFill>
              <a:srgbClr val="EEF3FA"/>
            </a:solidFill>
            <a:prstDash val="solid"/>
          </a:ln>
        </p:spPr>
      </p:sp>
      <p:sp>
        <p:nvSpPr>
          <p:cNvPr id="7" name="Shape 5"/>
          <p:cNvSpPr/>
          <p:nvPr/>
        </p:nvSpPr>
        <p:spPr>
          <a:xfrm>
            <a:off x="365760" y="941832"/>
            <a:ext cx="64008" cy="512064"/>
          </a:xfrm>
          <a:prstGeom prst="rect">
            <a:avLst/>
          </a:prstGeom>
          <a:solidFill>
            <a:srgbClr val="0B2D5B"/>
          </a:solidFill>
          <a:ln w="12700">
            <a:solidFill>
              <a:srgbClr val="0B2D5B"/>
            </a:solidFill>
            <a:prstDash val="solid"/>
          </a:ln>
        </p:spPr>
      </p:sp>
      <p:sp>
        <p:nvSpPr>
          <p:cNvPr id="8" name="Text 6"/>
          <p:cNvSpPr/>
          <p:nvPr/>
        </p:nvSpPr>
        <p:spPr>
          <a:xfrm>
            <a:off x="502920" y="941832"/>
            <a:ext cx="11247120" cy="512064"/>
          </a:xfrm>
          <a:prstGeom prst="rect">
            <a:avLst/>
          </a:prstGeom>
          <a:noFill/>
          <a:ln/>
        </p:spPr>
        <p:txBody>
          <a:bodyPr wrap="square" lIns="25400" tIns="25400" rIns="25400" bIns="25400" rtlCol="0" anchor="ctr"/>
          <a:lstStyle/>
          <a:p>
            <a:pPr indent="0" marL="0">
              <a:buNone/>
            </a:pPr>
            <a:r>
              <a:rPr lang="en-US" sz="1200" b="1" dirty="0">
                <a:solidFill>
                  <a:srgbClr val="0B2D5B"/>
                </a:solidFill>
                <a:latin typeface="맑은 고딕" pitchFamily="34" charset="0"/>
                <a:ea typeface="맑은 고딕" pitchFamily="34" charset="-122"/>
                <a:cs typeface="맑은 고딕" pitchFamily="34" charset="-120"/>
              </a:rPr>
              <a:t>근지위 소송·협력작업 혁신에 따른 인력구조 변화와 저수익 구조 장기화를 반영하여, 인력운영 관리기준을 『직영 인원수(Volume)』에서 『Total 인력·노무비(Cost)』 중심으로 전환</a:t>
            </a:r>
            <a:endParaRPr lang="en-US" sz="1200" dirty="0"/>
          </a:p>
        </p:txBody>
      </p:sp>
      <p:sp>
        <p:nvSpPr>
          <p:cNvPr id="9" name="Text 7"/>
          <p:cNvSpPr/>
          <p:nvPr/>
        </p:nvSpPr>
        <p:spPr>
          <a:xfrm>
            <a:off x="365760" y="1572768"/>
            <a:ext cx="2743200" cy="310896"/>
          </a:xfrm>
          <a:prstGeom prst="rect">
            <a:avLst/>
          </a:prstGeom>
          <a:solidFill>
            <a:srgbClr val="0B2D5B"/>
          </a:solidFill>
          <a:ln>
            <a:solidFill>
              <a:srgbClr val="0B2D5B"/>
            </a:solidFill>
          </a:ln>
        </p:spPr>
        <p:txBody>
          <a:bodyPr wrap="square" lIns="76200" tIns="76200" rIns="76200" bIns="7620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전사 중기경영전략 연계</a:t>
            </a:r>
            <a:endParaRPr lang="en-US" sz="1100" dirty="0"/>
          </a:p>
        </p:txBody>
      </p:sp>
      <p:sp>
        <p:nvSpPr>
          <p:cNvPr id="10" name="Shape 8"/>
          <p:cNvSpPr/>
          <p:nvPr/>
        </p:nvSpPr>
        <p:spPr>
          <a:xfrm>
            <a:off x="365760" y="1883664"/>
            <a:ext cx="2743200" cy="4005072"/>
          </a:xfrm>
          <a:prstGeom prst="rect">
            <a:avLst/>
          </a:prstGeom>
          <a:solidFill>
            <a:srgbClr val="FFFFFF"/>
          </a:solidFill>
          <a:ln w="9525">
            <a:solidFill>
              <a:srgbClr val="BFC7D2"/>
            </a:solidFill>
            <a:prstDash val="solid"/>
          </a:ln>
        </p:spPr>
      </p:sp>
      <p:sp>
        <p:nvSpPr>
          <p:cNvPr id="11" name="Text 9"/>
          <p:cNvSpPr/>
          <p:nvPr/>
        </p:nvSpPr>
        <p:spPr>
          <a:xfrm>
            <a:off x="457200" y="1938528"/>
            <a:ext cx="2560320" cy="237744"/>
          </a:xfrm>
          <a:prstGeom prst="rect">
            <a:avLst/>
          </a:prstGeom>
          <a:noFill/>
          <a:ln/>
        </p:spPr>
        <p:txBody>
          <a:bodyPr wrap="square" lIns="0" tIns="0" rIns="0" bIns="0" rtlCol="0" anchor="ctr"/>
          <a:lstStyle/>
          <a:p>
            <a:pPr indent="0" marL="0">
              <a:buNone/>
            </a:pPr>
            <a:r>
              <a:rPr lang="en-US" sz="950" b="1" dirty="0">
                <a:solidFill>
                  <a:srgbClr val="0B2D5B"/>
                </a:solidFill>
                <a:latin typeface="맑은 고딕" pitchFamily="34" charset="0"/>
                <a:ea typeface="맑은 고딕" pitchFamily="34" charset="-122"/>
                <a:cs typeface="맑은 고딕" pitchFamily="34" charset="-120"/>
              </a:rPr>
              <a:t>'30 중기 경영전략 5대 축</a:t>
            </a:r>
            <a:endParaRPr lang="en-US" sz="950" dirty="0"/>
          </a:p>
        </p:txBody>
      </p:sp>
      <p:sp>
        <p:nvSpPr>
          <p:cNvPr id="12" name="Text 10"/>
          <p:cNvSpPr/>
          <p:nvPr/>
        </p:nvSpPr>
        <p:spPr>
          <a:xfrm>
            <a:off x="457200" y="2212848"/>
            <a:ext cx="475488" cy="438912"/>
          </a:xfrm>
          <a:prstGeom prst="rect">
            <a:avLst/>
          </a:prstGeom>
          <a:solidFill>
            <a:srgbClr val="F2F4F7"/>
          </a:solidFill>
          <a:ln w="9525">
            <a:solidFill>
              <a:srgbClr val="BFC7D2"/>
            </a:solidFill>
          </a:ln>
        </p:spPr>
        <p:txBody>
          <a:bodyPr wrap="square" lIns="0" tIns="0" rIns="0" bIns="0" rtlCol="0" anchor="ctr"/>
          <a:lstStyle/>
          <a:p>
            <a:pPr algn="ctr" indent="0" marL="0">
              <a:buNone/>
            </a:pPr>
            <a:r>
              <a:rPr lang="en-US" sz="850" dirty="0">
                <a:solidFill>
                  <a:srgbClr val="555555"/>
                </a:solidFill>
                <a:latin typeface="맑은 고딕" pitchFamily="34" charset="0"/>
                <a:ea typeface="맑은 고딕" pitchFamily="34" charset="-122"/>
                <a:cs typeface="맑은 고딕" pitchFamily="34" charset="-120"/>
              </a:rPr>
              <a:t>성장</a:t>
            </a:r>
            <a:endParaRPr lang="en-US" sz="850" dirty="0"/>
          </a:p>
        </p:txBody>
      </p:sp>
      <p:sp>
        <p:nvSpPr>
          <p:cNvPr id="13" name="Text 11"/>
          <p:cNvSpPr/>
          <p:nvPr/>
        </p:nvSpPr>
        <p:spPr>
          <a:xfrm>
            <a:off x="978408" y="2212848"/>
            <a:ext cx="475488" cy="438912"/>
          </a:xfrm>
          <a:prstGeom prst="rect">
            <a:avLst/>
          </a:prstGeom>
          <a:solidFill>
            <a:srgbClr val="E8541E"/>
          </a:solidFill>
          <a:ln w="9525">
            <a:solidFill>
              <a:srgbClr val="E8541E"/>
            </a:solidFill>
          </a:ln>
        </p:spPr>
        <p:txBody>
          <a:bodyPr wrap="square" lIns="0" tIns="0" rIns="0" bIns="0" rtlCol="0" anchor="ctr"/>
          <a:lstStyle/>
          <a:p>
            <a:pPr algn="ctr" indent="0" marL="0">
              <a:buNone/>
            </a:pPr>
            <a:r>
              <a:rPr lang="en-US" sz="850" b="1" dirty="0">
                <a:solidFill>
                  <a:srgbClr val="FFFFFF"/>
                </a:solidFill>
                <a:latin typeface="맑은 고딕" pitchFamily="34" charset="0"/>
                <a:ea typeface="맑은 고딕" pitchFamily="34" charset="-122"/>
                <a:cs typeface="맑은 고딕" pitchFamily="34" charset="-120"/>
              </a:rPr>
              <a:t>원가</a:t>
            </a:r>
            <a:endParaRPr lang="en-US" sz="850" dirty="0"/>
          </a:p>
        </p:txBody>
      </p:sp>
      <p:sp>
        <p:nvSpPr>
          <p:cNvPr id="14" name="Text 12"/>
          <p:cNvSpPr/>
          <p:nvPr/>
        </p:nvSpPr>
        <p:spPr>
          <a:xfrm>
            <a:off x="1499616" y="2212848"/>
            <a:ext cx="475488" cy="438912"/>
          </a:xfrm>
          <a:prstGeom prst="rect">
            <a:avLst/>
          </a:prstGeom>
          <a:solidFill>
            <a:srgbClr val="F2F4F7"/>
          </a:solidFill>
          <a:ln w="9525">
            <a:solidFill>
              <a:srgbClr val="BFC7D2"/>
            </a:solidFill>
          </a:ln>
        </p:spPr>
        <p:txBody>
          <a:bodyPr wrap="square" lIns="0" tIns="0" rIns="0" bIns="0" rtlCol="0" anchor="ctr"/>
          <a:lstStyle/>
          <a:p>
            <a:pPr algn="ctr" indent="0" marL="0">
              <a:buNone/>
            </a:pPr>
            <a:r>
              <a:rPr lang="en-US" sz="850" dirty="0">
                <a:solidFill>
                  <a:srgbClr val="555555"/>
                </a:solidFill>
                <a:latin typeface="맑은 고딕" pitchFamily="34" charset="0"/>
                <a:ea typeface="맑은 고딕" pitchFamily="34" charset="-122"/>
                <a:cs typeface="맑은 고딕" pitchFamily="34" charset="-120"/>
              </a:rPr>
              <a:t>기술</a:t>
            </a:r>
            <a:endParaRPr lang="en-US" sz="850" dirty="0"/>
          </a:p>
          <a:p>
            <a:pPr algn="ctr" indent="0" marL="0">
              <a:buNone/>
            </a:pPr>
            <a:r>
              <a:rPr lang="en-US" sz="850" dirty="0">
                <a:solidFill>
                  <a:srgbClr val="555555"/>
                </a:solidFill>
                <a:latin typeface="맑은 고딕" pitchFamily="34" charset="0"/>
                <a:ea typeface="맑은 고딕" pitchFamily="34" charset="-122"/>
                <a:cs typeface="맑은 고딕" pitchFamily="34" charset="-120"/>
              </a:rPr>
              <a:t>제품</a:t>
            </a:r>
            <a:endParaRPr lang="en-US" sz="850" dirty="0"/>
          </a:p>
        </p:txBody>
      </p:sp>
      <p:sp>
        <p:nvSpPr>
          <p:cNvPr id="15" name="Text 13"/>
          <p:cNvSpPr/>
          <p:nvPr/>
        </p:nvSpPr>
        <p:spPr>
          <a:xfrm>
            <a:off x="2020824" y="2212848"/>
            <a:ext cx="475488" cy="438912"/>
          </a:xfrm>
          <a:prstGeom prst="rect">
            <a:avLst/>
          </a:prstGeom>
          <a:solidFill>
            <a:srgbClr val="F2F4F7"/>
          </a:solidFill>
          <a:ln w="9525">
            <a:solidFill>
              <a:srgbClr val="BFC7D2"/>
            </a:solidFill>
          </a:ln>
        </p:spPr>
        <p:txBody>
          <a:bodyPr wrap="square" lIns="0" tIns="0" rIns="0" bIns="0" rtlCol="0" anchor="ctr"/>
          <a:lstStyle/>
          <a:p>
            <a:pPr algn="ctr" indent="0" marL="0">
              <a:buNone/>
            </a:pPr>
            <a:r>
              <a:rPr lang="en-US" sz="850" dirty="0">
                <a:solidFill>
                  <a:srgbClr val="555555"/>
                </a:solidFill>
                <a:latin typeface="맑은 고딕" pitchFamily="34" charset="0"/>
                <a:ea typeface="맑은 고딕" pitchFamily="34" charset="-122"/>
                <a:cs typeface="맑은 고딕" pitchFamily="34" charset="-120"/>
              </a:rPr>
              <a:t>미래</a:t>
            </a:r>
            <a:endParaRPr lang="en-US" sz="850" dirty="0"/>
          </a:p>
        </p:txBody>
      </p:sp>
      <p:sp>
        <p:nvSpPr>
          <p:cNvPr id="16" name="Text 14"/>
          <p:cNvSpPr/>
          <p:nvPr/>
        </p:nvSpPr>
        <p:spPr>
          <a:xfrm>
            <a:off x="2542032" y="2212848"/>
            <a:ext cx="475488" cy="438912"/>
          </a:xfrm>
          <a:prstGeom prst="rect">
            <a:avLst/>
          </a:prstGeom>
          <a:solidFill>
            <a:srgbClr val="F2F4F7"/>
          </a:solidFill>
          <a:ln w="9525">
            <a:solidFill>
              <a:srgbClr val="BFC7D2"/>
            </a:solidFill>
          </a:ln>
        </p:spPr>
        <p:txBody>
          <a:bodyPr wrap="square" lIns="0" tIns="0" rIns="0" bIns="0" rtlCol="0" anchor="ctr"/>
          <a:lstStyle/>
          <a:p>
            <a:pPr algn="ctr" indent="0" marL="0">
              <a:buNone/>
            </a:pPr>
            <a:r>
              <a:rPr lang="en-US" sz="850" dirty="0">
                <a:solidFill>
                  <a:srgbClr val="555555"/>
                </a:solidFill>
                <a:latin typeface="맑은 고딕" pitchFamily="34" charset="0"/>
                <a:ea typeface="맑은 고딕" pitchFamily="34" charset="-122"/>
                <a:cs typeface="맑은 고딕" pitchFamily="34" charset="-120"/>
              </a:rPr>
              <a:t>사업</a:t>
            </a:r>
            <a:endParaRPr lang="en-US" sz="850" dirty="0"/>
          </a:p>
          <a:p>
            <a:pPr algn="ctr" indent="0" marL="0">
              <a:buNone/>
            </a:pPr>
            <a:r>
              <a:rPr lang="en-US" sz="850" dirty="0">
                <a:solidFill>
                  <a:srgbClr val="555555"/>
                </a:solidFill>
                <a:latin typeface="맑은 고딕" pitchFamily="34" charset="0"/>
                <a:ea typeface="맑은 고딕" pitchFamily="34" charset="-122"/>
                <a:cs typeface="맑은 고딕" pitchFamily="34" charset="-120"/>
              </a:rPr>
              <a:t>재편</a:t>
            </a:r>
            <a:endParaRPr lang="en-US" sz="850" dirty="0"/>
          </a:p>
        </p:txBody>
      </p:sp>
      <p:sp>
        <p:nvSpPr>
          <p:cNvPr id="17" name="Shape 15"/>
          <p:cNvSpPr/>
          <p:nvPr/>
        </p:nvSpPr>
        <p:spPr>
          <a:xfrm>
            <a:off x="1097280" y="2697480"/>
            <a:ext cx="237744" cy="201168"/>
          </a:xfrm>
          <a:prstGeom prst="downArrow">
            <a:avLst/>
          </a:prstGeom>
          <a:solidFill>
            <a:srgbClr val="E8541E"/>
          </a:solidFill>
          <a:ln w="12700">
            <a:solidFill>
              <a:srgbClr val="E8541E"/>
            </a:solidFill>
            <a:prstDash val="solid"/>
          </a:ln>
        </p:spPr>
      </p:sp>
      <p:sp>
        <p:nvSpPr>
          <p:cNvPr id="18" name="Text 16"/>
          <p:cNvSpPr/>
          <p:nvPr/>
        </p:nvSpPr>
        <p:spPr>
          <a:xfrm>
            <a:off x="457200" y="2926080"/>
            <a:ext cx="2560320" cy="658368"/>
          </a:xfrm>
          <a:prstGeom prst="rect">
            <a:avLst/>
          </a:prstGeom>
          <a:solidFill>
            <a:srgbClr val="FDEDE6"/>
          </a:solidFill>
          <a:ln w="19050">
            <a:solidFill>
              <a:srgbClr val="E8541E"/>
            </a:solidFill>
          </a:ln>
        </p:spPr>
        <p:txBody>
          <a:bodyPr wrap="square" lIns="25400" tIns="25400" rIns="25400" bIns="25400" rtlCol="0" anchor="ctr"/>
          <a:lstStyle/>
          <a:p>
            <a:pPr algn="ctr" indent="0" marL="0">
              <a:buNone/>
            </a:pPr>
            <a:r>
              <a:rPr lang="en-US" sz="1200" b="1" dirty="0">
                <a:solidFill>
                  <a:srgbClr val="C2410C"/>
                </a:solidFill>
                <a:latin typeface="맑은 고딕" pitchFamily="34" charset="0"/>
                <a:ea typeface="맑은 고딕" pitchFamily="34" charset="-122"/>
                <a:cs typeface="맑은 고딕" pitchFamily="34" charset="-120"/>
              </a:rPr>
              <a:t>④ 인당생산성 향상</a:t>
            </a:r>
            <a:endParaRPr lang="en-US" sz="900" dirty="0"/>
          </a:p>
          <a:p>
            <a:pPr algn="ctr" indent="0" marL="0">
              <a:buNone/>
            </a:pPr>
            <a:r>
              <a:rPr lang="en-US" sz="950" dirty="0">
                <a:solidFill>
                  <a:srgbClr val="222222"/>
                </a:solidFill>
                <a:latin typeface="맑은 고딕" pitchFamily="34" charset="0"/>
                <a:ea typeface="맑은 고딕" pitchFamily="34" charset="-122"/>
                <a:cs typeface="맑은 고딕" pitchFamily="34" charset="-120"/>
              </a:rPr>
              <a:t>자동화 및 WX 기반 인력 최적화</a:t>
            </a:r>
            <a:endParaRPr lang="en-US" sz="900" dirty="0"/>
          </a:p>
        </p:txBody>
      </p:sp>
      <p:sp>
        <p:nvSpPr>
          <p:cNvPr id="19" name="Text 17"/>
          <p:cNvSpPr/>
          <p:nvPr/>
        </p:nvSpPr>
        <p:spPr>
          <a:xfrm>
            <a:off x="457200" y="3657600"/>
            <a:ext cx="2560320" cy="237744"/>
          </a:xfrm>
          <a:prstGeom prst="rect">
            <a:avLst/>
          </a:prstGeom>
          <a:noFill/>
          <a:ln/>
        </p:spPr>
        <p:txBody>
          <a:bodyPr wrap="square" lIns="0" tIns="0" rIns="0" bIns="0" rtlCol="0" anchor="ctr"/>
          <a:lstStyle/>
          <a:p>
            <a:pPr indent="0" marL="0">
              <a:buNone/>
            </a:pPr>
            <a:r>
              <a:rPr lang="en-US" sz="950" b="1" dirty="0">
                <a:solidFill>
                  <a:srgbClr val="0B2D5B"/>
                </a:solidFill>
                <a:latin typeface="맑은 고딕" pitchFamily="34" charset="0"/>
                <a:ea typeface="맑은 고딕" pitchFamily="34" charset="-122"/>
                <a:cs typeface="맑은 고딕" pitchFamily="34" charset="-120"/>
              </a:rPr>
              <a:t>'25 수립 HR 중기전략 (3대 방향)</a:t>
            </a:r>
            <a:endParaRPr lang="en-US" sz="950" dirty="0"/>
          </a:p>
        </p:txBody>
      </p:sp>
      <p:sp>
        <p:nvSpPr>
          <p:cNvPr id="20" name="Shape 18"/>
          <p:cNvSpPr/>
          <p:nvPr/>
        </p:nvSpPr>
        <p:spPr>
          <a:xfrm>
            <a:off x="457200" y="3931920"/>
            <a:ext cx="2560320" cy="338328"/>
          </a:xfrm>
          <a:prstGeom prst="rect">
            <a:avLst/>
          </a:prstGeom>
          <a:solidFill>
            <a:srgbClr val="F2F4F7"/>
          </a:solidFill>
          <a:ln w="12700">
            <a:solidFill>
              <a:srgbClr val="F2F4F7"/>
            </a:solidFill>
            <a:prstDash val="solid"/>
          </a:ln>
        </p:spPr>
      </p:sp>
      <p:sp>
        <p:nvSpPr>
          <p:cNvPr id="21" name="Text 19"/>
          <p:cNvSpPr/>
          <p:nvPr/>
        </p:nvSpPr>
        <p:spPr>
          <a:xfrm>
            <a:off x="512064" y="4000500"/>
            <a:ext cx="201168" cy="201168"/>
          </a:xfrm>
          <a:prstGeom prst="ellipse">
            <a:avLst/>
          </a:prstGeom>
          <a:solidFill>
            <a:srgbClr val="0B2D5B"/>
          </a:solidFill>
          <a:ln>
            <a:solidFill>
              <a:srgbClr val="0B2D5B"/>
            </a:solid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1</a:t>
            </a:r>
            <a:endParaRPr lang="en-US" sz="800" dirty="0"/>
          </a:p>
        </p:txBody>
      </p:sp>
      <p:sp>
        <p:nvSpPr>
          <p:cNvPr id="22" name="Text 20"/>
          <p:cNvSpPr/>
          <p:nvPr/>
        </p:nvSpPr>
        <p:spPr>
          <a:xfrm>
            <a:off x="758952" y="3931920"/>
            <a:ext cx="2240280" cy="338328"/>
          </a:xfrm>
          <a:prstGeom prst="rect">
            <a:avLst/>
          </a:prstGeom>
          <a:noFill/>
          <a:ln/>
        </p:spPr>
        <p:txBody>
          <a:bodyPr wrap="square" lIns="12700" tIns="12700" rIns="12700" bIns="12700" rtlCol="0" anchor="ctr"/>
          <a:lstStyle/>
          <a:p>
            <a:pPr indent="0" marL="0">
              <a:buNone/>
            </a:pPr>
            <a:r>
              <a:rPr lang="en-US" sz="850" dirty="0">
                <a:solidFill>
                  <a:srgbClr val="222222"/>
                </a:solidFill>
                <a:latin typeface="맑은 고딕" pitchFamily="34" charset="0"/>
                <a:ea typeface="맑은 고딕" pitchFamily="34" charset="-122"/>
                <a:cs typeface="맑은 고딕" pitchFamily="34" charset="-120"/>
              </a:rPr>
              <a:t>DX 연계 인적경쟁력 제고/우수인재 육성</a:t>
            </a:r>
            <a:endParaRPr lang="en-US" sz="850" dirty="0"/>
          </a:p>
        </p:txBody>
      </p:sp>
      <p:sp>
        <p:nvSpPr>
          <p:cNvPr id="23" name="Shape 21"/>
          <p:cNvSpPr/>
          <p:nvPr/>
        </p:nvSpPr>
        <p:spPr>
          <a:xfrm>
            <a:off x="457200" y="4315968"/>
            <a:ext cx="2560320" cy="338328"/>
          </a:xfrm>
          <a:prstGeom prst="rect">
            <a:avLst/>
          </a:prstGeom>
          <a:solidFill>
            <a:srgbClr val="F2F4F7"/>
          </a:solidFill>
          <a:ln w="12700">
            <a:solidFill>
              <a:srgbClr val="F2F4F7"/>
            </a:solidFill>
            <a:prstDash val="solid"/>
          </a:ln>
        </p:spPr>
      </p:sp>
      <p:sp>
        <p:nvSpPr>
          <p:cNvPr id="24" name="Text 22"/>
          <p:cNvSpPr/>
          <p:nvPr/>
        </p:nvSpPr>
        <p:spPr>
          <a:xfrm>
            <a:off x="512064" y="4384548"/>
            <a:ext cx="201168" cy="201168"/>
          </a:xfrm>
          <a:prstGeom prst="ellipse">
            <a:avLst/>
          </a:prstGeom>
          <a:solidFill>
            <a:srgbClr val="0B2D5B"/>
          </a:solidFill>
          <a:ln>
            <a:solidFill>
              <a:srgbClr val="0B2D5B"/>
            </a:solid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2</a:t>
            </a:r>
            <a:endParaRPr lang="en-US" sz="800" dirty="0"/>
          </a:p>
        </p:txBody>
      </p:sp>
      <p:sp>
        <p:nvSpPr>
          <p:cNvPr id="25" name="Text 23"/>
          <p:cNvSpPr/>
          <p:nvPr/>
        </p:nvSpPr>
        <p:spPr>
          <a:xfrm>
            <a:off x="758952" y="4315968"/>
            <a:ext cx="2240280" cy="338328"/>
          </a:xfrm>
          <a:prstGeom prst="rect">
            <a:avLst/>
          </a:prstGeom>
          <a:noFill/>
          <a:ln/>
        </p:spPr>
        <p:txBody>
          <a:bodyPr wrap="square" lIns="12700" tIns="12700" rIns="12700" bIns="12700" rtlCol="0" anchor="ctr"/>
          <a:lstStyle/>
          <a:p>
            <a:pPr indent="0" marL="0">
              <a:buNone/>
            </a:pPr>
            <a:r>
              <a:rPr lang="en-US" sz="850" dirty="0">
                <a:solidFill>
                  <a:srgbClr val="222222"/>
                </a:solidFill>
                <a:latin typeface="맑은 고딕" pitchFamily="34" charset="0"/>
                <a:ea typeface="맑은 고딕" pitchFamily="34" charset="-122"/>
                <a:cs typeface="맑은 고딕" pitchFamily="34" charset="-120"/>
              </a:rPr>
              <a:t>노무경쟁력 혁신 통한 노동환경 변화 대응</a:t>
            </a:r>
            <a:endParaRPr lang="en-US" sz="850" dirty="0"/>
          </a:p>
        </p:txBody>
      </p:sp>
      <p:sp>
        <p:nvSpPr>
          <p:cNvPr id="26" name="Shape 24"/>
          <p:cNvSpPr/>
          <p:nvPr/>
        </p:nvSpPr>
        <p:spPr>
          <a:xfrm>
            <a:off x="457200" y="4700016"/>
            <a:ext cx="2560320" cy="338328"/>
          </a:xfrm>
          <a:prstGeom prst="rect">
            <a:avLst/>
          </a:prstGeom>
          <a:solidFill>
            <a:srgbClr val="F2F4F7"/>
          </a:solidFill>
          <a:ln w="12700">
            <a:solidFill>
              <a:srgbClr val="F2F4F7"/>
            </a:solidFill>
            <a:prstDash val="solid"/>
          </a:ln>
        </p:spPr>
      </p:sp>
      <p:sp>
        <p:nvSpPr>
          <p:cNvPr id="27" name="Text 25"/>
          <p:cNvSpPr/>
          <p:nvPr/>
        </p:nvSpPr>
        <p:spPr>
          <a:xfrm>
            <a:off x="512064" y="4768596"/>
            <a:ext cx="201168" cy="201168"/>
          </a:xfrm>
          <a:prstGeom prst="ellipse">
            <a:avLst/>
          </a:prstGeom>
          <a:solidFill>
            <a:srgbClr val="0B2D5B"/>
          </a:solidFill>
          <a:ln>
            <a:solidFill>
              <a:srgbClr val="0B2D5B"/>
            </a:solid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3</a:t>
            </a:r>
            <a:endParaRPr lang="en-US" sz="800" dirty="0"/>
          </a:p>
        </p:txBody>
      </p:sp>
      <p:sp>
        <p:nvSpPr>
          <p:cNvPr id="28" name="Text 26"/>
          <p:cNvSpPr/>
          <p:nvPr/>
        </p:nvSpPr>
        <p:spPr>
          <a:xfrm>
            <a:off x="758952" y="4700016"/>
            <a:ext cx="2240280" cy="338328"/>
          </a:xfrm>
          <a:prstGeom prst="rect">
            <a:avLst/>
          </a:prstGeom>
          <a:noFill/>
          <a:ln/>
        </p:spPr>
        <p:txBody>
          <a:bodyPr wrap="square" lIns="12700" tIns="12700" rIns="12700" bIns="12700" rtlCol="0" anchor="ctr"/>
          <a:lstStyle/>
          <a:p>
            <a:pPr indent="0" marL="0">
              <a:buNone/>
            </a:pPr>
            <a:r>
              <a:rPr lang="en-US" sz="850" dirty="0">
                <a:solidFill>
                  <a:srgbClr val="222222"/>
                </a:solidFill>
                <a:latin typeface="맑은 고딕" pitchFamily="34" charset="0"/>
                <a:ea typeface="맑은 고딕" pitchFamily="34" charset="-122"/>
                <a:cs typeface="맑은 고딕" pitchFamily="34" charset="-120"/>
              </a:rPr>
              <a:t>AI·DX 활용 일하는 방식 근본적 개선</a:t>
            </a:r>
            <a:endParaRPr lang="en-US" sz="850" dirty="0"/>
          </a:p>
        </p:txBody>
      </p:sp>
      <p:sp>
        <p:nvSpPr>
          <p:cNvPr id="29" name="Shape 27"/>
          <p:cNvSpPr/>
          <p:nvPr/>
        </p:nvSpPr>
        <p:spPr>
          <a:xfrm>
            <a:off x="1618488" y="5102352"/>
            <a:ext cx="237744" cy="182880"/>
          </a:xfrm>
          <a:prstGeom prst="downArrow">
            <a:avLst/>
          </a:prstGeom>
          <a:solidFill>
            <a:srgbClr val="0B2D5B"/>
          </a:solidFill>
          <a:ln w="12700">
            <a:solidFill>
              <a:srgbClr val="0B2D5B"/>
            </a:solidFill>
            <a:prstDash val="solid"/>
          </a:ln>
        </p:spPr>
      </p:sp>
      <p:sp>
        <p:nvSpPr>
          <p:cNvPr id="30" name="Text 28"/>
          <p:cNvSpPr/>
          <p:nvPr/>
        </p:nvSpPr>
        <p:spPr>
          <a:xfrm>
            <a:off x="457200" y="5303520"/>
            <a:ext cx="2560320" cy="548640"/>
          </a:xfrm>
          <a:prstGeom prst="rect">
            <a:avLst/>
          </a:prstGeom>
          <a:solidFill>
            <a:srgbClr val="0B2D5B"/>
          </a:solidFill>
          <a:ln>
            <a:solidFill>
              <a:srgbClr val="0B2D5B"/>
            </a:solidFill>
          </a:ln>
        </p:spPr>
        <p:txBody>
          <a:bodyPr wrap="square" lIns="12700" tIns="12700" rIns="12700" bIns="12700" rtlCol="0" anchor="ctr"/>
          <a:lstStyle/>
          <a:p>
            <a:pPr algn="ctr" indent="0" marL="0">
              <a:buNone/>
            </a:pPr>
            <a:r>
              <a:rPr lang="en-US" sz="850" b="1" dirty="0">
                <a:solidFill>
                  <a:srgbClr val="FFC7A8"/>
                </a:solidFill>
                <a:latin typeface="맑은 고딕" pitchFamily="34" charset="0"/>
                <a:ea typeface="맑은 고딕" pitchFamily="34" charset="-122"/>
                <a:cs typeface="맑은 고딕" pitchFamily="34" charset="-120"/>
              </a:rPr>
              <a:t>'26 Rolling 관점</a:t>
            </a:r>
            <a:endParaRPr lang="en-US" sz="900" dirty="0"/>
          </a:p>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인당생산성 향상의 '30년 구체화</a:t>
            </a:r>
            <a:endParaRPr lang="en-US" sz="900" dirty="0"/>
          </a:p>
          <a:p>
            <a:pPr algn="ctr" indent="0" marL="0">
              <a:buNone/>
            </a:pPr>
            <a:r>
              <a:rPr lang="en-US" sz="850" dirty="0">
                <a:solidFill>
                  <a:srgbClr val="FFFFFF"/>
                </a:solidFill>
                <a:latin typeface="맑은 고딕" pitchFamily="34" charset="0"/>
                <a:ea typeface="맑은 고딕" pitchFamily="34" charset="-122"/>
                <a:cs typeface="맑은 고딕" pitchFamily="34" charset="-120"/>
              </a:rPr>
              <a:t>PO가 아닌 TO 감축 중심 재설계</a:t>
            </a:r>
            <a:endParaRPr lang="en-US" sz="900" dirty="0"/>
          </a:p>
        </p:txBody>
      </p:sp>
      <p:sp>
        <p:nvSpPr>
          <p:cNvPr id="31" name="Shape 29"/>
          <p:cNvSpPr/>
          <p:nvPr/>
        </p:nvSpPr>
        <p:spPr>
          <a:xfrm>
            <a:off x="3154680" y="3703320"/>
            <a:ext cx="182880" cy="329184"/>
          </a:xfrm>
          <a:prstGeom prst="chevron">
            <a:avLst/>
          </a:prstGeom>
          <a:solidFill>
            <a:srgbClr val="1F5FA8"/>
          </a:solidFill>
          <a:ln w="12700">
            <a:solidFill>
              <a:srgbClr val="1F5FA8"/>
            </a:solidFill>
            <a:prstDash val="solid"/>
          </a:ln>
        </p:spPr>
      </p:sp>
      <p:sp>
        <p:nvSpPr>
          <p:cNvPr id="32" name="Text 30"/>
          <p:cNvSpPr/>
          <p:nvPr/>
        </p:nvSpPr>
        <p:spPr>
          <a:xfrm>
            <a:off x="3401568" y="1572768"/>
            <a:ext cx="3566160" cy="310896"/>
          </a:xfrm>
          <a:prstGeom prst="rect">
            <a:avLst/>
          </a:prstGeom>
          <a:solidFill>
            <a:srgbClr val="0B2D5B"/>
          </a:solidFill>
          <a:ln>
            <a:solidFill>
              <a:srgbClr val="0B2D5B"/>
            </a:solidFill>
          </a:ln>
        </p:spPr>
        <p:txBody>
          <a:bodyPr wrap="square" lIns="76200" tIns="76200" rIns="76200" bIns="7620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여건 변화 (현상 및 문제점)</a:t>
            </a:r>
            <a:endParaRPr lang="en-US" sz="1100" dirty="0"/>
          </a:p>
        </p:txBody>
      </p:sp>
      <p:sp>
        <p:nvSpPr>
          <p:cNvPr id="33" name="Text 31"/>
          <p:cNvSpPr/>
          <p:nvPr/>
        </p:nvSpPr>
        <p:spPr>
          <a:xfrm>
            <a:off x="7269480" y="1572768"/>
            <a:ext cx="4553712" cy="310896"/>
          </a:xfrm>
          <a:prstGeom prst="rect">
            <a:avLst/>
          </a:prstGeom>
          <a:solidFill>
            <a:srgbClr val="0B2D5B"/>
          </a:solidFill>
          <a:ln>
            <a:solidFill>
              <a:srgbClr val="0B2D5B"/>
            </a:solidFill>
          </a:ln>
        </p:spPr>
        <p:txBody>
          <a:bodyPr wrap="square" lIns="76200" tIns="76200" rIns="76200" bIns="7620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인력운영 패러다임 전환 (As-Is → To-Be)</a:t>
            </a:r>
            <a:endParaRPr lang="en-US" sz="1100" dirty="0"/>
          </a:p>
        </p:txBody>
      </p:sp>
      <p:sp>
        <p:nvSpPr>
          <p:cNvPr id="34" name="Shape 32"/>
          <p:cNvSpPr/>
          <p:nvPr/>
        </p:nvSpPr>
        <p:spPr>
          <a:xfrm>
            <a:off x="3401568" y="1956816"/>
            <a:ext cx="3566160" cy="914400"/>
          </a:xfrm>
          <a:prstGeom prst="rect">
            <a:avLst/>
          </a:prstGeom>
          <a:solidFill>
            <a:srgbClr val="FFFFFF"/>
          </a:solidFill>
          <a:ln w="9525">
            <a:solidFill>
              <a:srgbClr val="BFC7D2"/>
            </a:solidFill>
            <a:prstDash val="solid"/>
          </a:ln>
        </p:spPr>
      </p:sp>
      <p:sp>
        <p:nvSpPr>
          <p:cNvPr id="35" name="Text 33"/>
          <p:cNvSpPr/>
          <p:nvPr/>
        </p:nvSpPr>
        <p:spPr>
          <a:xfrm>
            <a:off x="3401568" y="1956816"/>
            <a:ext cx="658368" cy="91440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1200" b="1" dirty="0">
                <a:solidFill>
                  <a:srgbClr val="0B2D5B"/>
                </a:solidFill>
                <a:latin typeface="맑은 고딕" pitchFamily="34" charset="0"/>
                <a:ea typeface="맑은 고딕" pitchFamily="34" charset="-122"/>
                <a:cs typeface="맑은 고딕" pitchFamily="34" charset="-120"/>
              </a:rPr>
              <a:t>①</a:t>
            </a:r>
            <a:endParaRPr lang="en-US" sz="90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인력구성</a:t>
            </a:r>
            <a:endParaRPr lang="en-US" sz="900" dirty="0"/>
          </a:p>
        </p:txBody>
      </p:sp>
      <p:sp>
        <p:nvSpPr>
          <p:cNvPr id="36" name="Text 34"/>
          <p:cNvSpPr/>
          <p:nvPr/>
        </p:nvSpPr>
        <p:spPr>
          <a:xfrm>
            <a:off x="4114800" y="2002536"/>
            <a:ext cx="2816352" cy="274320"/>
          </a:xfrm>
          <a:prstGeom prst="rect">
            <a:avLst/>
          </a:prstGeom>
          <a:noFill/>
          <a:ln/>
        </p:spPr>
        <p:txBody>
          <a:bodyPr wrap="square" lIns="12700" tIns="12700" rIns="12700" bIns="12700" rtlCol="0" anchor="ctr"/>
          <a:lstStyle/>
          <a:p>
            <a:pPr indent="0" marL="0">
              <a:buNone/>
            </a:pPr>
            <a:r>
              <a:rPr lang="en-US" sz="1000" b="1" dirty="0">
                <a:solidFill>
                  <a:srgbClr val="222222"/>
                </a:solidFill>
                <a:latin typeface="맑은 고딕" pitchFamily="34" charset="0"/>
                <a:ea typeface="맑은 고딕" pitchFamily="34" charset="-122"/>
                <a:cs typeface="맑은 고딕" pitchFamily="34" charset="-120"/>
              </a:rPr>
              <a:t>S직군 직영 전환에 따른 인력구조 변화</a:t>
            </a:r>
            <a:endParaRPr lang="en-US" sz="1000" dirty="0"/>
          </a:p>
        </p:txBody>
      </p:sp>
      <p:sp>
        <p:nvSpPr>
          <p:cNvPr id="37" name="Text 35"/>
          <p:cNvSpPr/>
          <p:nvPr/>
        </p:nvSpPr>
        <p:spPr>
          <a:xfrm>
            <a:off x="4114800" y="2276856"/>
            <a:ext cx="2816352" cy="548640"/>
          </a:xfrm>
          <a:prstGeom prst="rect">
            <a:avLst/>
          </a:prstGeom>
          <a:noFill/>
          <a:ln/>
        </p:spPr>
        <p:txBody>
          <a:bodyPr wrap="square" lIns="12700" tIns="12700" rIns="12700" bIns="12700" rtlCol="0" anchor="t"/>
          <a:lstStyle/>
          <a:p>
            <a:pPr indent="0" marL="0">
              <a:buNone/>
            </a:pPr>
            <a:r>
              <a:rPr lang="en-US" sz="850" dirty="0">
                <a:solidFill>
                  <a:srgbClr val="555555"/>
                </a:solidFill>
                <a:latin typeface="맑은 고딕" pitchFamily="34" charset="0"/>
                <a:ea typeface="맑은 고딕" pitchFamily="34" charset="-122"/>
                <a:cs typeface="맑은 고딕" pitchFamily="34" charset="-120"/>
              </a:rPr>
              <a:t>근지위 소송·협력작업 혁신('26.4월~)으로 직영 인력 증가</a:t>
            </a:r>
            <a:endParaRPr lang="en-US" sz="900" dirty="0"/>
          </a:p>
          <a:p>
            <a:pPr indent="0" marL="0">
              <a:buNone/>
            </a:pPr>
            <a:r>
              <a:rPr lang="en-US" sz="850" b="1" dirty="0">
                <a:solidFill>
                  <a:srgbClr val="C2410C"/>
                </a:solidFill>
                <a:latin typeface="맑은 고딕" pitchFamily="34" charset="0"/>
                <a:ea typeface="맑은 고딕" pitchFamily="34" charset="-122"/>
                <a:cs typeface="맑은 고딕" pitchFamily="34" charset="-120"/>
              </a:rPr>
              <a:t>→ 직영/협력 구분의 단순 인원수(Volume) 관리 한계 有</a:t>
            </a:r>
            <a:endParaRPr lang="en-US" sz="900" dirty="0"/>
          </a:p>
        </p:txBody>
      </p:sp>
      <p:sp>
        <p:nvSpPr>
          <p:cNvPr id="38" name="Shape 36"/>
          <p:cNvSpPr/>
          <p:nvPr/>
        </p:nvSpPr>
        <p:spPr>
          <a:xfrm>
            <a:off x="6986016" y="2295144"/>
            <a:ext cx="256032" cy="237744"/>
          </a:xfrm>
          <a:prstGeom prst="rightArrow">
            <a:avLst/>
          </a:prstGeom>
          <a:solidFill>
            <a:srgbClr val="1F5FA8"/>
          </a:solidFill>
          <a:ln w="12700">
            <a:solidFill>
              <a:srgbClr val="1F5FA8"/>
            </a:solidFill>
            <a:prstDash val="solid"/>
          </a:ln>
        </p:spPr>
      </p:sp>
      <p:sp>
        <p:nvSpPr>
          <p:cNvPr id="39" name="Text 37"/>
          <p:cNvSpPr/>
          <p:nvPr/>
        </p:nvSpPr>
        <p:spPr>
          <a:xfrm>
            <a:off x="7269480" y="1956816"/>
            <a:ext cx="731520" cy="914400"/>
          </a:xfrm>
          <a:prstGeom prst="rect">
            <a:avLst/>
          </a:prstGeom>
          <a:solidFill>
            <a:srgbClr val="16498A"/>
          </a:solidFill>
          <a:ln>
            <a:solidFill>
              <a:srgbClr val="16498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관리</a:t>
            </a:r>
            <a:endParaRPr lang="en-US" sz="950" dirty="0"/>
          </a:p>
          <a:p>
            <a:pPr algn="ctr" indent="0" marL="0">
              <a:buNone/>
            </a:pPr>
            <a:r>
              <a:rPr lang="en-US" sz="950" b="1" dirty="0">
                <a:solidFill>
                  <a:srgbClr val="FFFFFF"/>
                </a:solidFill>
                <a:latin typeface="맑은 고딕" pitchFamily="34" charset="0"/>
                <a:ea typeface="맑은 고딕" pitchFamily="34" charset="-122"/>
                <a:cs typeface="맑은 고딕" pitchFamily="34" charset="-120"/>
              </a:rPr>
              <a:t>대상</a:t>
            </a:r>
            <a:endParaRPr lang="en-US" sz="950" dirty="0"/>
          </a:p>
        </p:txBody>
      </p:sp>
      <p:sp>
        <p:nvSpPr>
          <p:cNvPr id="40" name="Text 38"/>
          <p:cNvSpPr/>
          <p:nvPr/>
        </p:nvSpPr>
        <p:spPr>
          <a:xfrm>
            <a:off x="8046720" y="1956816"/>
            <a:ext cx="1481328" cy="914400"/>
          </a:xfrm>
          <a:prstGeom prst="rect">
            <a:avLst/>
          </a:prstGeom>
          <a:solidFill>
            <a:srgbClr val="F2F4F7"/>
          </a:solidFill>
          <a:ln w="9525">
            <a:solidFill>
              <a:srgbClr val="BFC7D2"/>
            </a:solidFill>
          </a:ln>
        </p:spPr>
        <p:txBody>
          <a:bodyPr wrap="square" lIns="25400" tIns="25400" rIns="25400" bIns="25400" rtlCol="0" anchor="ctr"/>
          <a:lstStyle/>
          <a:p>
            <a:pPr algn="ctr" indent="0" marL="0">
              <a:buNone/>
            </a:pPr>
            <a:r>
              <a:rPr lang="en-US" sz="750" b="1" dirty="0">
                <a:solidFill>
                  <a:srgbClr val="8A94A3"/>
                </a:solidFill>
                <a:latin typeface="맑은 고딕" pitchFamily="34" charset="0"/>
                <a:ea typeface="맑은 고딕" pitchFamily="34" charset="-122"/>
                <a:cs typeface="맑은 고딕" pitchFamily="34" charset="-120"/>
              </a:rPr>
              <a:t>As-Is</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직영/협력</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구분 관리</a:t>
            </a:r>
            <a:endParaRPr lang="en-US" sz="900" dirty="0"/>
          </a:p>
        </p:txBody>
      </p:sp>
      <p:sp>
        <p:nvSpPr>
          <p:cNvPr id="41" name="Shape 39"/>
          <p:cNvSpPr/>
          <p:nvPr/>
        </p:nvSpPr>
        <p:spPr>
          <a:xfrm>
            <a:off x="9564624" y="2286000"/>
            <a:ext cx="274320" cy="256032"/>
          </a:xfrm>
          <a:prstGeom prst="rightArrow">
            <a:avLst/>
          </a:prstGeom>
          <a:solidFill>
            <a:srgbClr val="E8541E"/>
          </a:solidFill>
          <a:ln w="12700">
            <a:solidFill>
              <a:srgbClr val="E8541E"/>
            </a:solidFill>
            <a:prstDash val="solid"/>
          </a:ln>
        </p:spPr>
      </p:sp>
      <p:sp>
        <p:nvSpPr>
          <p:cNvPr id="42" name="Text 40"/>
          <p:cNvSpPr/>
          <p:nvPr/>
        </p:nvSpPr>
        <p:spPr>
          <a:xfrm>
            <a:off x="9875520" y="1956816"/>
            <a:ext cx="1947672" cy="914400"/>
          </a:xfrm>
          <a:prstGeom prst="rect">
            <a:avLst/>
          </a:prstGeom>
          <a:solidFill>
            <a:srgbClr val="EEF3FA"/>
          </a:solidFill>
          <a:ln w="15875">
            <a:solidFill>
              <a:srgbClr val="1F5FA8"/>
            </a:solidFill>
          </a:ln>
        </p:spPr>
        <p:txBody>
          <a:bodyPr wrap="square" lIns="25400" tIns="25400" rIns="25400" bIns="25400" rtlCol="0" anchor="ctr"/>
          <a:lstStyle/>
          <a:p>
            <a:pPr algn="ctr" indent="0" marL="0">
              <a:buNone/>
            </a:pPr>
            <a:r>
              <a:rPr lang="en-US" sz="750" b="1" dirty="0">
                <a:solidFill>
                  <a:srgbClr val="1F5FA8"/>
                </a:solidFill>
                <a:latin typeface="맑은 고딕" pitchFamily="34" charset="0"/>
                <a:ea typeface="맑은 고딕" pitchFamily="34" charset="-122"/>
                <a:cs typeface="맑은 고딕" pitchFamily="34" charset="-120"/>
              </a:rPr>
              <a:t>To-Be</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정규·S직군·계약·협력</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4개 축 Total 인력 통합 관리</a:t>
            </a:r>
            <a:endParaRPr lang="en-US" sz="900" dirty="0"/>
          </a:p>
        </p:txBody>
      </p:sp>
      <p:sp>
        <p:nvSpPr>
          <p:cNvPr id="43" name="Shape 41"/>
          <p:cNvSpPr/>
          <p:nvPr/>
        </p:nvSpPr>
        <p:spPr>
          <a:xfrm>
            <a:off x="3401568" y="2962656"/>
            <a:ext cx="3566160" cy="914400"/>
          </a:xfrm>
          <a:prstGeom prst="rect">
            <a:avLst/>
          </a:prstGeom>
          <a:solidFill>
            <a:srgbClr val="FFFFFF"/>
          </a:solidFill>
          <a:ln w="9525">
            <a:solidFill>
              <a:srgbClr val="BFC7D2"/>
            </a:solidFill>
            <a:prstDash val="solid"/>
          </a:ln>
        </p:spPr>
      </p:sp>
      <p:sp>
        <p:nvSpPr>
          <p:cNvPr id="44" name="Text 42"/>
          <p:cNvSpPr/>
          <p:nvPr/>
        </p:nvSpPr>
        <p:spPr>
          <a:xfrm>
            <a:off x="3401568" y="2962656"/>
            <a:ext cx="658368" cy="91440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1200" b="1" dirty="0">
                <a:solidFill>
                  <a:srgbClr val="0B2D5B"/>
                </a:solidFill>
                <a:latin typeface="맑은 고딕" pitchFamily="34" charset="0"/>
                <a:ea typeface="맑은 고딕" pitchFamily="34" charset="-122"/>
                <a:cs typeface="맑은 고딕" pitchFamily="34" charset="-120"/>
              </a:rPr>
              <a:t>②</a:t>
            </a:r>
            <a:endParaRPr lang="en-US" sz="90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비용구조</a:t>
            </a:r>
            <a:endParaRPr lang="en-US" sz="900" dirty="0"/>
          </a:p>
        </p:txBody>
      </p:sp>
      <p:sp>
        <p:nvSpPr>
          <p:cNvPr id="45" name="Text 43"/>
          <p:cNvSpPr/>
          <p:nvPr/>
        </p:nvSpPr>
        <p:spPr>
          <a:xfrm>
            <a:off x="4114800" y="3008376"/>
            <a:ext cx="2816352" cy="274320"/>
          </a:xfrm>
          <a:prstGeom prst="rect">
            <a:avLst/>
          </a:prstGeom>
          <a:noFill/>
          <a:ln/>
        </p:spPr>
        <p:txBody>
          <a:bodyPr wrap="square" lIns="12700" tIns="12700" rIns="12700" bIns="12700" rtlCol="0" anchor="ctr"/>
          <a:lstStyle/>
          <a:p>
            <a:pPr indent="0" marL="0">
              <a:buNone/>
            </a:pPr>
            <a:r>
              <a:rPr lang="en-US" sz="1000" b="1" dirty="0">
                <a:solidFill>
                  <a:srgbClr val="222222"/>
                </a:solidFill>
                <a:latin typeface="맑은 고딕" pitchFamily="34" charset="0"/>
                <a:ea typeface="맑은 고딕" pitchFamily="34" charset="-122"/>
                <a:cs typeface="맑은 고딕" pitchFamily="34" charset="-120"/>
              </a:rPr>
              <a:t>통상임금 확대 등 노무비 상승 압력 가중</a:t>
            </a:r>
            <a:endParaRPr lang="en-US" sz="1000" dirty="0"/>
          </a:p>
        </p:txBody>
      </p:sp>
      <p:sp>
        <p:nvSpPr>
          <p:cNvPr id="46" name="Text 44"/>
          <p:cNvSpPr/>
          <p:nvPr/>
        </p:nvSpPr>
        <p:spPr>
          <a:xfrm>
            <a:off x="4114800" y="3282696"/>
            <a:ext cx="2816352" cy="548640"/>
          </a:xfrm>
          <a:prstGeom prst="rect">
            <a:avLst/>
          </a:prstGeom>
          <a:noFill/>
          <a:ln/>
        </p:spPr>
        <p:txBody>
          <a:bodyPr wrap="square" lIns="12700" tIns="12700" rIns="12700" bIns="12700" rtlCol="0" anchor="t"/>
          <a:lstStyle/>
          <a:p>
            <a:pPr indent="0" marL="0">
              <a:buNone/>
            </a:pPr>
            <a:r>
              <a:rPr lang="en-US" sz="850" dirty="0">
                <a:solidFill>
                  <a:srgbClr val="555555"/>
                </a:solidFill>
                <a:latin typeface="맑은 고딕" pitchFamily="34" charset="0"/>
                <a:ea typeface="맑은 고딕" pitchFamily="34" charset="-122"/>
                <a:cs typeface="맑은 고딕" pitchFamily="34" charset="-120"/>
              </a:rPr>
              <a:t>통상임금 범위 확대로 퇴직급여·복리후생 비용 증대</a:t>
            </a:r>
            <a:endParaRPr lang="en-US" sz="900" dirty="0"/>
          </a:p>
          <a:p>
            <a:pPr indent="0" marL="0">
              <a:buNone/>
            </a:pPr>
            <a:r>
              <a:rPr lang="en-US" sz="850" b="1" dirty="0">
                <a:solidFill>
                  <a:srgbClr val="C2410C"/>
                </a:solidFill>
                <a:latin typeface="맑은 고딕" pitchFamily="34" charset="0"/>
                <a:ea typeface="맑은 고딕" pitchFamily="34" charset="-122"/>
                <a:cs typeface="맑은 고딕" pitchFamily="34" charset="-120"/>
              </a:rPr>
              <a:t>→ 임금차액 소송에 따른 잠재적 매몰비용 증가</a:t>
            </a:r>
            <a:endParaRPr lang="en-US" sz="900" dirty="0"/>
          </a:p>
        </p:txBody>
      </p:sp>
      <p:sp>
        <p:nvSpPr>
          <p:cNvPr id="47" name="Shape 45"/>
          <p:cNvSpPr/>
          <p:nvPr/>
        </p:nvSpPr>
        <p:spPr>
          <a:xfrm>
            <a:off x="6986016" y="3300984"/>
            <a:ext cx="256032" cy="237744"/>
          </a:xfrm>
          <a:prstGeom prst="rightArrow">
            <a:avLst/>
          </a:prstGeom>
          <a:solidFill>
            <a:srgbClr val="1F5FA8"/>
          </a:solidFill>
          <a:ln w="12700">
            <a:solidFill>
              <a:srgbClr val="1F5FA8"/>
            </a:solidFill>
            <a:prstDash val="solid"/>
          </a:ln>
        </p:spPr>
      </p:sp>
      <p:sp>
        <p:nvSpPr>
          <p:cNvPr id="48" name="Text 46"/>
          <p:cNvSpPr/>
          <p:nvPr/>
        </p:nvSpPr>
        <p:spPr>
          <a:xfrm>
            <a:off x="7269480" y="2962656"/>
            <a:ext cx="731520" cy="914400"/>
          </a:xfrm>
          <a:prstGeom prst="rect">
            <a:avLst/>
          </a:prstGeom>
          <a:solidFill>
            <a:srgbClr val="16498A"/>
          </a:solidFill>
          <a:ln>
            <a:solidFill>
              <a:srgbClr val="16498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관리</a:t>
            </a:r>
            <a:endParaRPr lang="en-US" sz="950" dirty="0"/>
          </a:p>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기준</a:t>
            </a:r>
            <a:endParaRPr lang="en-US" sz="950" dirty="0"/>
          </a:p>
        </p:txBody>
      </p:sp>
      <p:sp>
        <p:nvSpPr>
          <p:cNvPr id="49" name="Text 47"/>
          <p:cNvSpPr/>
          <p:nvPr/>
        </p:nvSpPr>
        <p:spPr>
          <a:xfrm>
            <a:off x="8046720" y="2962656"/>
            <a:ext cx="1481328" cy="914400"/>
          </a:xfrm>
          <a:prstGeom prst="rect">
            <a:avLst/>
          </a:prstGeom>
          <a:solidFill>
            <a:srgbClr val="F2F4F7"/>
          </a:solidFill>
          <a:ln w="9525">
            <a:solidFill>
              <a:srgbClr val="BFC7D2"/>
            </a:solidFill>
          </a:ln>
        </p:spPr>
        <p:txBody>
          <a:bodyPr wrap="square" lIns="25400" tIns="25400" rIns="25400" bIns="25400" rtlCol="0" anchor="ctr"/>
          <a:lstStyle/>
          <a:p>
            <a:pPr algn="ctr" indent="0" marL="0">
              <a:buNone/>
            </a:pPr>
            <a:r>
              <a:rPr lang="en-US" sz="750" b="1" dirty="0">
                <a:solidFill>
                  <a:srgbClr val="8A94A3"/>
                </a:solidFill>
                <a:latin typeface="맑은 고딕" pitchFamily="34" charset="0"/>
                <a:ea typeface="맑은 고딕" pitchFamily="34" charset="-122"/>
                <a:cs typeface="맑은 고딕" pitchFamily="34" charset="-120"/>
              </a:rPr>
              <a:t>As-Is</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인원수</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(Head Count)</a:t>
            </a:r>
            <a:endParaRPr lang="en-US" sz="900" dirty="0"/>
          </a:p>
        </p:txBody>
      </p:sp>
      <p:sp>
        <p:nvSpPr>
          <p:cNvPr id="50" name="Shape 48"/>
          <p:cNvSpPr/>
          <p:nvPr/>
        </p:nvSpPr>
        <p:spPr>
          <a:xfrm>
            <a:off x="9564624" y="3291840"/>
            <a:ext cx="274320" cy="256032"/>
          </a:xfrm>
          <a:prstGeom prst="rightArrow">
            <a:avLst/>
          </a:prstGeom>
          <a:solidFill>
            <a:srgbClr val="E8541E"/>
          </a:solidFill>
          <a:ln w="12700">
            <a:solidFill>
              <a:srgbClr val="E8541E"/>
            </a:solidFill>
            <a:prstDash val="solid"/>
          </a:ln>
        </p:spPr>
      </p:sp>
      <p:sp>
        <p:nvSpPr>
          <p:cNvPr id="51" name="Text 49"/>
          <p:cNvSpPr/>
          <p:nvPr/>
        </p:nvSpPr>
        <p:spPr>
          <a:xfrm>
            <a:off x="9875520" y="2962656"/>
            <a:ext cx="1947672" cy="914400"/>
          </a:xfrm>
          <a:prstGeom prst="rect">
            <a:avLst/>
          </a:prstGeom>
          <a:solidFill>
            <a:srgbClr val="EEF3FA"/>
          </a:solidFill>
          <a:ln w="15875">
            <a:solidFill>
              <a:srgbClr val="1F5FA8"/>
            </a:solidFill>
          </a:ln>
        </p:spPr>
        <p:txBody>
          <a:bodyPr wrap="square" lIns="25400" tIns="25400" rIns="25400" bIns="25400" rtlCol="0" anchor="ctr"/>
          <a:lstStyle/>
          <a:p>
            <a:pPr algn="ctr" indent="0" marL="0">
              <a:buNone/>
            </a:pPr>
            <a:r>
              <a:rPr lang="en-US" sz="750" b="1" dirty="0">
                <a:solidFill>
                  <a:srgbClr val="1F5FA8"/>
                </a:solidFill>
                <a:latin typeface="맑은 고딕" pitchFamily="34" charset="0"/>
                <a:ea typeface="맑은 고딕" pitchFamily="34" charset="-122"/>
                <a:cs typeface="맑은 고딕" pitchFamily="34" charset="-120"/>
              </a:rPr>
              <a:t>To-Be</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Total 노무비(Labor Cost)</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기반 원가 관리</a:t>
            </a:r>
            <a:endParaRPr lang="en-US" sz="900" dirty="0"/>
          </a:p>
        </p:txBody>
      </p:sp>
      <p:sp>
        <p:nvSpPr>
          <p:cNvPr id="52" name="Shape 50"/>
          <p:cNvSpPr/>
          <p:nvPr/>
        </p:nvSpPr>
        <p:spPr>
          <a:xfrm>
            <a:off x="3401568" y="3968496"/>
            <a:ext cx="3566160" cy="914400"/>
          </a:xfrm>
          <a:prstGeom prst="rect">
            <a:avLst/>
          </a:prstGeom>
          <a:solidFill>
            <a:srgbClr val="FFFFFF"/>
          </a:solidFill>
          <a:ln w="9525">
            <a:solidFill>
              <a:srgbClr val="BFC7D2"/>
            </a:solidFill>
            <a:prstDash val="solid"/>
          </a:ln>
        </p:spPr>
      </p:sp>
      <p:sp>
        <p:nvSpPr>
          <p:cNvPr id="53" name="Text 51"/>
          <p:cNvSpPr/>
          <p:nvPr/>
        </p:nvSpPr>
        <p:spPr>
          <a:xfrm>
            <a:off x="3401568" y="3968496"/>
            <a:ext cx="658368" cy="91440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1200" b="1" dirty="0">
                <a:solidFill>
                  <a:srgbClr val="0B2D5B"/>
                </a:solidFill>
                <a:latin typeface="맑은 고딕" pitchFamily="34" charset="0"/>
                <a:ea typeface="맑은 고딕" pitchFamily="34" charset="-122"/>
                <a:cs typeface="맑은 고딕" pitchFamily="34" charset="-120"/>
              </a:rPr>
              <a:t>③</a:t>
            </a:r>
            <a:endParaRPr lang="en-US" sz="90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생산주체</a:t>
            </a:r>
            <a:endParaRPr lang="en-US" sz="900" dirty="0"/>
          </a:p>
        </p:txBody>
      </p:sp>
      <p:sp>
        <p:nvSpPr>
          <p:cNvPr id="54" name="Text 52"/>
          <p:cNvSpPr/>
          <p:nvPr/>
        </p:nvSpPr>
        <p:spPr>
          <a:xfrm>
            <a:off x="4114800" y="4014216"/>
            <a:ext cx="2816352" cy="274320"/>
          </a:xfrm>
          <a:prstGeom prst="rect">
            <a:avLst/>
          </a:prstGeom>
          <a:noFill/>
          <a:ln/>
        </p:spPr>
        <p:txBody>
          <a:bodyPr wrap="square" lIns="12700" tIns="12700" rIns="12700" bIns="12700" rtlCol="0" anchor="ctr"/>
          <a:lstStyle/>
          <a:p>
            <a:pPr indent="0" marL="0">
              <a:buNone/>
            </a:pPr>
            <a:r>
              <a:rPr lang="en-US" sz="1000" b="1" dirty="0">
                <a:solidFill>
                  <a:srgbClr val="222222"/>
                </a:solidFill>
                <a:latin typeface="맑은 고딕" pitchFamily="34" charset="0"/>
                <a:ea typeface="맑은 고딕" pitchFamily="34" charset="-122"/>
                <a:cs typeface="맑은 고딕" pitchFamily="34" charset="-120"/>
              </a:rPr>
              <a:t>AI/로보틱스 등 생산·업무처리 주체 다변화</a:t>
            </a:r>
            <a:endParaRPr lang="en-US" sz="1000" dirty="0"/>
          </a:p>
        </p:txBody>
      </p:sp>
      <p:sp>
        <p:nvSpPr>
          <p:cNvPr id="55" name="Text 53"/>
          <p:cNvSpPr/>
          <p:nvPr/>
        </p:nvSpPr>
        <p:spPr>
          <a:xfrm>
            <a:off x="4114800" y="4288536"/>
            <a:ext cx="2816352" cy="548640"/>
          </a:xfrm>
          <a:prstGeom prst="rect">
            <a:avLst/>
          </a:prstGeom>
          <a:noFill/>
          <a:ln/>
        </p:spPr>
        <p:txBody>
          <a:bodyPr wrap="square" lIns="12700" tIns="12700" rIns="12700" bIns="12700" rtlCol="0" anchor="t"/>
          <a:lstStyle/>
          <a:p>
            <a:pPr indent="0" marL="0">
              <a:buNone/>
            </a:pPr>
            <a:r>
              <a:rPr lang="en-US" sz="850" dirty="0">
                <a:solidFill>
                  <a:srgbClr val="555555"/>
                </a:solidFill>
                <a:latin typeface="맑은 고딕" pitchFamily="34" charset="0"/>
                <a:ea typeface="맑은 고딕" pitchFamily="34" charset="-122"/>
                <a:cs typeface="맑은 고딕" pitchFamily="34" charset="-120"/>
              </a:rPr>
              <a:t>직영/협력 노동력을 대체하는 AI·로보틱스 및 유지보수 인력 확대</a:t>
            </a:r>
            <a:endParaRPr lang="en-US" sz="900" dirty="0"/>
          </a:p>
          <a:p>
            <a:pPr indent="0" marL="0">
              <a:buNone/>
            </a:pPr>
            <a:r>
              <a:rPr lang="en-US" sz="850" b="1" dirty="0">
                <a:solidFill>
                  <a:srgbClr val="C2410C"/>
                </a:solidFill>
                <a:latin typeface="맑은 고딕" pitchFamily="34" charset="0"/>
                <a:ea typeface="맑은 고딕" pitchFamily="34" charset="-122"/>
                <a:cs typeface="맑은 고딕" pitchFamily="34" charset="-120"/>
              </a:rPr>
              <a:t>→ 사람 중심 인력계획으로는 실질 생산역량 파악 한계</a:t>
            </a:r>
            <a:endParaRPr lang="en-US" sz="900" dirty="0"/>
          </a:p>
        </p:txBody>
      </p:sp>
      <p:sp>
        <p:nvSpPr>
          <p:cNvPr id="56" name="Shape 54"/>
          <p:cNvSpPr/>
          <p:nvPr/>
        </p:nvSpPr>
        <p:spPr>
          <a:xfrm>
            <a:off x="6986016" y="4306824"/>
            <a:ext cx="256032" cy="237744"/>
          </a:xfrm>
          <a:prstGeom prst="rightArrow">
            <a:avLst/>
          </a:prstGeom>
          <a:solidFill>
            <a:srgbClr val="1F5FA8"/>
          </a:solidFill>
          <a:ln w="12700">
            <a:solidFill>
              <a:srgbClr val="1F5FA8"/>
            </a:solidFill>
            <a:prstDash val="solid"/>
          </a:ln>
        </p:spPr>
      </p:sp>
      <p:sp>
        <p:nvSpPr>
          <p:cNvPr id="57" name="Text 55"/>
          <p:cNvSpPr/>
          <p:nvPr/>
        </p:nvSpPr>
        <p:spPr>
          <a:xfrm>
            <a:off x="7269480" y="3968496"/>
            <a:ext cx="731520" cy="914400"/>
          </a:xfrm>
          <a:prstGeom prst="rect">
            <a:avLst/>
          </a:prstGeom>
          <a:solidFill>
            <a:srgbClr val="16498A"/>
          </a:solidFill>
          <a:ln>
            <a:solidFill>
              <a:srgbClr val="16498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관리</a:t>
            </a:r>
            <a:endParaRPr lang="en-US" sz="950" dirty="0"/>
          </a:p>
          <a:p>
            <a:pPr algn="ctr" indent="0" marL="0">
              <a:buNone/>
            </a:pPr>
            <a:r>
              <a:rPr lang="en-US" sz="950" b="1" dirty="0">
                <a:solidFill>
                  <a:srgbClr val="FFFFFF"/>
                </a:solidFill>
                <a:latin typeface="맑은 고딕" pitchFamily="34" charset="0"/>
                <a:ea typeface="맑은 고딕" pitchFamily="34" charset="-122"/>
                <a:cs typeface="맑은 고딕" pitchFamily="34" charset="-120"/>
              </a:rPr>
              <a:t>범위</a:t>
            </a:r>
            <a:endParaRPr lang="en-US" sz="950" dirty="0"/>
          </a:p>
        </p:txBody>
      </p:sp>
      <p:sp>
        <p:nvSpPr>
          <p:cNvPr id="58" name="Text 56"/>
          <p:cNvSpPr/>
          <p:nvPr/>
        </p:nvSpPr>
        <p:spPr>
          <a:xfrm>
            <a:off x="8046720" y="3968496"/>
            <a:ext cx="1481328" cy="914400"/>
          </a:xfrm>
          <a:prstGeom prst="rect">
            <a:avLst/>
          </a:prstGeom>
          <a:solidFill>
            <a:srgbClr val="F2F4F7"/>
          </a:solidFill>
          <a:ln w="9525">
            <a:solidFill>
              <a:srgbClr val="BFC7D2"/>
            </a:solidFill>
          </a:ln>
        </p:spPr>
        <p:txBody>
          <a:bodyPr wrap="square" lIns="25400" tIns="25400" rIns="25400" bIns="25400" rtlCol="0" anchor="ctr"/>
          <a:lstStyle/>
          <a:p>
            <a:pPr algn="ctr" indent="0" marL="0">
              <a:buNone/>
            </a:pPr>
            <a:r>
              <a:rPr lang="en-US" sz="750" b="1" dirty="0">
                <a:solidFill>
                  <a:srgbClr val="8A94A3"/>
                </a:solidFill>
                <a:latin typeface="맑은 고딕" pitchFamily="34" charset="0"/>
                <a:ea typeface="맑은 고딕" pitchFamily="34" charset="-122"/>
                <a:cs typeface="맑은 고딕" pitchFamily="34" charset="-120"/>
              </a:rPr>
              <a:t>As-Is</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사람(직영/협력)</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중심 인력계획</a:t>
            </a:r>
            <a:endParaRPr lang="en-US" sz="900" dirty="0"/>
          </a:p>
        </p:txBody>
      </p:sp>
      <p:sp>
        <p:nvSpPr>
          <p:cNvPr id="59" name="Shape 57"/>
          <p:cNvSpPr/>
          <p:nvPr/>
        </p:nvSpPr>
        <p:spPr>
          <a:xfrm>
            <a:off x="9564624" y="4297680"/>
            <a:ext cx="274320" cy="256032"/>
          </a:xfrm>
          <a:prstGeom prst="rightArrow">
            <a:avLst/>
          </a:prstGeom>
          <a:solidFill>
            <a:srgbClr val="E8541E"/>
          </a:solidFill>
          <a:ln w="12700">
            <a:solidFill>
              <a:srgbClr val="E8541E"/>
            </a:solidFill>
            <a:prstDash val="solid"/>
          </a:ln>
        </p:spPr>
      </p:sp>
      <p:sp>
        <p:nvSpPr>
          <p:cNvPr id="60" name="Text 58"/>
          <p:cNvSpPr/>
          <p:nvPr/>
        </p:nvSpPr>
        <p:spPr>
          <a:xfrm>
            <a:off x="9875520" y="3968496"/>
            <a:ext cx="1947672" cy="914400"/>
          </a:xfrm>
          <a:prstGeom prst="rect">
            <a:avLst/>
          </a:prstGeom>
          <a:solidFill>
            <a:srgbClr val="EEF3FA"/>
          </a:solidFill>
          <a:ln w="15875">
            <a:solidFill>
              <a:srgbClr val="1F5FA8"/>
            </a:solidFill>
          </a:ln>
        </p:spPr>
        <p:txBody>
          <a:bodyPr wrap="square" lIns="25400" tIns="25400" rIns="25400" bIns="25400" rtlCol="0" anchor="ctr"/>
          <a:lstStyle/>
          <a:p>
            <a:pPr algn="ctr" indent="0" marL="0">
              <a:buNone/>
            </a:pPr>
            <a:r>
              <a:rPr lang="en-US" sz="750" b="1" dirty="0">
                <a:solidFill>
                  <a:srgbClr val="1F5FA8"/>
                </a:solidFill>
                <a:latin typeface="맑은 고딕" pitchFamily="34" charset="0"/>
                <a:ea typeface="맑은 고딕" pitchFamily="34" charset="-122"/>
                <a:cs typeface="맑은 고딕" pitchFamily="34" charset="-120"/>
              </a:rPr>
              <a:t>To-Be</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人+AI/로보틱스 포함</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Total Workforce 설계</a:t>
            </a:r>
            <a:endParaRPr lang="en-US" sz="900" dirty="0"/>
          </a:p>
        </p:txBody>
      </p:sp>
      <p:sp>
        <p:nvSpPr>
          <p:cNvPr id="61" name="Shape 59"/>
          <p:cNvSpPr/>
          <p:nvPr/>
        </p:nvSpPr>
        <p:spPr>
          <a:xfrm>
            <a:off x="3401568" y="4974336"/>
            <a:ext cx="3566160" cy="914400"/>
          </a:xfrm>
          <a:prstGeom prst="rect">
            <a:avLst/>
          </a:prstGeom>
          <a:solidFill>
            <a:srgbClr val="FFFFFF"/>
          </a:solidFill>
          <a:ln w="9525">
            <a:solidFill>
              <a:srgbClr val="BFC7D2"/>
            </a:solidFill>
            <a:prstDash val="solid"/>
          </a:ln>
        </p:spPr>
      </p:sp>
      <p:sp>
        <p:nvSpPr>
          <p:cNvPr id="62" name="Text 60"/>
          <p:cNvSpPr/>
          <p:nvPr/>
        </p:nvSpPr>
        <p:spPr>
          <a:xfrm>
            <a:off x="3401568" y="4974336"/>
            <a:ext cx="658368" cy="91440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1200" b="1" dirty="0">
                <a:solidFill>
                  <a:srgbClr val="0B2D5B"/>
                </a:solidFill>
                <a:latin typeface="맑은 고딕" pitchFamily="34" charset="0"/>
                <a:ea typeface="맑은 고딕" pitchFamily="34" charset="-122"/>
                <a:cs typeface="맑은 고딕" pitchFamily="34" charset="-120"/>
              </a:rPr>
              <a:t>④</a:t>
            </a:r>
            <a:endParaRPr lang="en-US" sz="90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규모통제</a:t>
            </a:r>
            <a:endParaRPr lang="en-US" sz="900" dirty="0"/>
          </a:p>
        </p:txBody>
      </p:sp>
      <p:sp>
        <p:nvSpPr>
          <p:cNvPr id="63" name="Text 61"/>
          <p:cNvSpPr/>
          <p:nvPr/>
        </p:nvSpPr>
        <p:spPr>
          <a:xfrm>
            <a:off x="4114800" y="5020056"/>
            <a:ext cx="2816352" cy="274320"/>
          </a:xfrm>
          <a:prstGeom prst="rect">
            <a:avLst/>
          </a:prstGeom>
          <a:noFill/>
          <a:ln/>
        </p:spPr>
        <p:txBody>
          <a:bodyPr wrap="square" lIns="12700" tIns="12700" rIns="12700" bIns="12700" rtlCol="0" anchor="ctr"/>
          <a:lstStyle/>
          <a:p>
            <a:pPr indent="0" marL="0">
              <a:buNone/>
            </a:pPr>
            <a:r>
              <a:rPr lang="en-US" sz="1000" b="1" dirty="0">
                <a:solidFill>
                  <a:srgbClr val="222222"/>
                </a:solidFill>
                <a:latin typeface="맑은 고딕" pitchFamily="34" charset="0"/>
                <a:ea typeface="맑은 고딕" pitchFamily="34" charset="-122"/>
                <a:cs typeface="맑은 고딕" pitchFamily="34" charset="-120"/>
              </a:rPr>
              <a:t>유연한 인력규모 통제 難</a:t>
            </a:r>
            <a:endParaRPr lang="en-US" sz="1000" dirty="0"/>
          </a:p>
        </p:txBody>
      </p:sp>
      <p:sp>
        <p:nvSpPr>
          <p:cNvPr id="64" name="Text 62"/>
          <p:cNvSpPr/>
          <p:nvPr/>
        </p:nvSpPr>
        <p:spPr>
          <a:xfrm>
            <a:off x="4114800" y="5294376"/>
            <a:ext cx="2816352" cy="548640"/>
          </a:xfrm>
          <a:prstGeom prst="rect">
            <a:avLst/>
          </a:prstGeom>
          <a:noFill/>
          <a:ln/>
        </p:spPr>
        <p:txBody>
          <a:bodyPr wrap="square" lIns="12700" tIns="12700" rIns="12700" bIns="12700" rtlCol="0" anchor="t"/>
          <a:lstStyle/>
          <a:p>
            <a:pPr indent="0" marL="0">
              <a:buNone/>
            </a:pPr>
            <a:r>
              <a:rPr lang="en-US" sz="850" dirty="0">
                <a:solidFill>
                  <a:srgbClr val="555555"/>
                </a:solidFill>
                <a:latin typeface="맑은 고딕" pitchFamily="34" charset="0"/>
                <a:ea typeface="맑은 고딕" pitchFamily="34" charset="-122"/>
                <a:cs typeface="맑은 고딕" pitchFamily="34" charset="-120"/>
              </a:rPr>
              <a:t>親노동 정책 기조下 채용규모 축소 부담, 대의기구의 인력 충원 요구 확대</a:t>
            </a:r>
            <a:endParaRPr lang="en-US" sz="900" dirty="0"/>
          </a:p>
          <a:p>
            <a:pPr indent="0" marL="0">
              <a:buNone/>
            </a:pPr>
            <a:r>
              <a:rPr lang="en-US" sz="850" b="1" dirty="0">
                <a:solidFill>
                  <a:srgbClr val="C2410C"/>
                </a:solidFill>
                <a:latin typeface="맑은 고딕" pitchFamily="34" charset="0"/>
                <a:ea typeface="맑은 고딕" pitchFamily="34" charset="-122"/>
                <a:cs typeface="맑은 고딕" pitchFamily="34" charset="-120"/>
              </a:rPr>
              <a:t>→ 인위적 PO 조정 곤란 → 구조적 TO 관리 필요</a:t>
            </a:r>
            <a:endParaRPr lang="en-US" sz="900" dirty="0"/>
          </a:p>
        </p:txBody>
      </p:sp>
      <p:sp>
        <p:nvSpPr>
          <p:cNvPr id="65" name="Shape 63"/>
          <p:cNvSpPr/>
          <p:nvPr/>
        </p:nvSpPr>
        <p:spPr>
          <a:xfrm>
            <a:off x="6986016" y="5312664"/>
            <a:ext cx="256032" cy="237744"/>
          </a:xfrm>
          <a:prstGeom prst="rightArrow">
            <a:avLst/>
          </a:prstGeom>
          <a:solidFill>
            <a:srgbClr val="1F5FA8"/>
          </a:solidFill>
          <a:ln w="12700">
            <a:solidFill>
              <a:srgbClr val="1F5FA8"/>
            </a:solidFill>
            <a:prstDash val="solid"/>
          </a:ln>
        </p:spPr>
      </p:sp>
      <p:sp>
        <p:nvSpPr>
          <p:cNvPr id="66" name="Text 64"/>
          <p:cNvSpPr/>
          <p:nvPr/>
        </p:nvSpPr>
        <p:spPr>
          <a:xfrm>
            <a:off x="7269480" y="4974336"/>
            <a:ext cx="731520" cy="914400"/>
          </a:xfrm>
          <a:prstGeom prst="rect">
            <a:avLst/>
          </a:prstGeom>
          <a:solidFill>
            <a:srgbClr val="16498A"/>
          </a:solidFill>
          <a:ln>
            <a:solidFill>
              <a:srgbClr val="16498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관리</a:t>
            </a:r>
            <a:endParaRPr lang="en-US" sz="950" dirty="0"/>
          </a:p>
          <a:p>
            <a:pPr algn="ctr" indent="0" marL="0">
              <a:buNone/>
            </a:pPr>
            <a:r>
              <a:rPr lang="en-US" sz="950" b="1" dirty="0">
                <a:solidFill>
                  <a:srgbClr val="FFFFFF"/>
                </a:solidFill>
                <a:latin typeface="맑은 고딕" pitchFamily="34" charset="0"/>
                <a:ea typeface="맑은 고딕" pitchFamily="34" charset="-122"/>
                <a:cs typeface="맑은 고딕" pitchFamily="34" charset="-120"/>
              </a:rPr>
              <a:t>방식</a:t>
            </a:r>
            <a:endParaRPr lang="en-US" sz="950" dirty="0"/>
          </a:p>
        </p:txBody>
      </p:sp>
      <p:sp>
        <p:nvSpPr>
          <p:cNvPr id="67" name="Text 65"/>
          <p:cNvSpPr/>
          <p:nvPr/>
        </p:nvSpPr>
        <p:spPr>
          <a:xfrm>
            <a:off x="8046720" y="4974336"/>
            <a:ext cx="1481328" cy="914400"/>
          </a:xfrm>
          <a:prstGeom prst="rect">
            <a:avLst/>
          </a:prstGeom>
          <a:solidFill>
            <a:srgbClr val="F2F4F7"/>
          </a:solidFill>
          <a:ln w="9525">
            <a:solidFill>
              <a:srgbClr val="BFC7D2"/>
            </a:solidFill>
          </a:ln>
        </p:spPr>
        <p:txBody>
          <a:bodyPr wrap="square" lIns="25400" tIns="25400" rIns="25400" bIns="25400" rtlCol="0" anchor="ctr"/>
          <a:lstStyle/>
          <a:p>
            <a:pPr algn="ctr" indent="0" marL="0">
              <a:buNone/>
            </a:pPr>
            <a:r>
              <a:rPr lang="en-US" sz="750" b="1" dirty="0">
                <a:solidFill>
                  <a:srgbClr val="8A94A3"/>
                </a:solidFill>
                <a:latin typeface="맑은 고딕" pitchFamily="34" charset="0"/>
                <a:ea typeface="맑은 고딕" pitchFamily="34" charset="-122"/>
                <a:cs typeface="맑은 고딕" pitchFamily="34" charset="-120"/>
              </a:rPr>
              <a:t>As-Is</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충원요구 대응형</a:t>
            </a:r>
            <a:endParaRPr lang="en-US" sz="900" dirty="0"/>
          </a:p>
          <a:p>
            <a:pPr algn="ctr" indent="0" marL="0">
              <a:buNone/>
            </a:pPr>
            <a:r>
              <a:rPr lang="en-US" sz="900" dirty="0">
                <a:solidFill>
                  <a:srgbClr val="444444"/>
                </a:solidFill>
                <a:latin typeface="맑은 고딕" pitchFamily="34" charset="0"/>
                <a:ea typeface="맑은 고딕" pitchFamily="34" charset="-122"/>
                <a:cs typeface="맑은 고딕" pitchFamily="34" charset="-120"/>
              </a:rPr>
              <a:t>PO 사후 통제</a:t>
            </a:r>
            <a:endParaRPr lang="en-US" sz="900" dirty="0"/>
          </a:p>
        </p:txBody>
      </p:sp>
      <p:sp>
        <p:nvSpPr>
          <p:cNvPr id="68" name="Shape 66"/>
          <p:cNvSpPr/>
          <p:nvPr/>
        </p:nvSpPr>
        <p:spPr>
          <a:xfrm>
            <a:off x="9564624" y="5303520"/>
            <a:ext cx="274320" cy="256032"/>
          </a:xfrm>
          <a:prstGeom prst="rightArrow">
            <a:avLst/>
          </a:prstGeom>
          <a:solidFill>
            <a:srgbClr val="E8541E"/>
          </a:solidFill>
          <a:ln w="12700">
            <a:solidFill>
              <a:srgbClr val="E8541E"/>
            </a:solidFill>
            <a:prstDash val="solid"/>
          </a:ln>
        </p:spPr>
      </p:sp>
      <p:sp>
        <p:nvSpPr>
          <p:cNvPr id="69" name="Text 67"/>
          <p:cNvSpPr/>
          <p:nvPr/>
        </p:nvSpPr>
        <p:spPr>
          <a:xfrm>
            <a:off x="9875520" y="4974336"/>
            <a:ext cx="1947672" cy="914400"/>
          </a:xfrm>
          <a:prstGeom prst="rect">
            <a:avLst/>
          </a:prstGeom>
          <a:solidFill>
            <a:srgbClr val="EEF3FA"/>
          </a:solidFill>
          <a:ln w="15875">
            <a:solidFill>
              <a:srgbClr val="1F5FA8"/>
            </a:solidFill>
          </a:ln>
        </p:spPr>
        <p:txBody>
          <a:bodyPr wrap="square" lIns="25400" tIns="25400" rIns="25400" bIns="25400" rtlCol="0" anchor="ctr"/>
          <a:lstStyle/>
          <a:p>
            <a:pPr algn="ctr" indent="0" marL="0">
              <a:buNone/>
            </a:pPr>
            <a:r>
              <a:rPr lang="en-US" sz="750" b="1" dirty="0">
                <a:solidFill>
                  <a:srgbClr val="1F5FA8"/>
                </a:solidFill>
                <a:latin typeface="맑은 고딕" pitchFamily="34" charset="0"/>
                <a:ea typeface="맑은 고딕" pitchFamily="34" charset="-122"/>
                <a:cs typeface="맑은 고딕" pitchFamily="34" charset="-120"/>
              </a:rPr>
              <a:t>To-Be</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기준인력(TO) 선제 설계</a:t>
            </a:r>
            <a:endParaRPr lang="en-US" sz="900" dirty="0"/>
          </a:p>
          <a:p>
            <a:pPr algn="ctr" indent="0" marL="0">
              <a:buNone/>
            </a:pPr>
            <a:r>
              <a:rPr lang="en-US" sz="950" b="1" dirty="0">
                <a:solidFill>
                  <a:srgbClr val="0B2D5B"/>
                </a:solidFill>
                <a:latin typeface="맑은 고딕" pitchFamily="34" charset="0"/>
                <a:ea typeface="맑은 고딕" pitchFamily="34" charset="-122"/>
                <a:cs typeface="맑은 고딕" pitchFamily="34" charset="-120"/>
              </a:rPr>
              <a:t>및 상시 Rolling 통제</a:t>
            </a:r>
            <a:endParaRPr lang="en-US" sz="900" dirty="0"/>
          </a:p>
        </p:txBody>
      </p:sp>
      <p:sp>
        <p:nvSpPr>
          <p:cNvPr id="70" name="Text 68"/>
          <p:cNvSpPr/>
          <p:nvPr/>
        </p:nvSpPr>
        <p:spPr>
          <a:xfrm>
            <a:off x="365760" y="5998464"/>
            <a:ext cx="1325880" cy="475488"/>
          </a:xfrm>
          <a:prstGeom prst="rect">
            <a:avLst/>
          </a:prstGeom>
          <a:solidFill>
            <a:srgbClr val="E8541E"/>
          </a:solidFill>
          <a:ln>
            <a:solidFill>
              <a:srgbClr val="E8541E"/>
            </a:solidFill>
          </a:ln>
        </p:spPr>
        <p:txBody>
          <a:bodyPr wrap="square" lIns="25400" tIns="25400" rIns="25400" bIns="2540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Rolling 핵심</a:t>
            </a:r>
            <a:endParaRPr lang="en-US" sz="1100" dirty="0"/>
          </a:p>
        </p:txBody>
      </p:sp>
      <p:sp>
        <p:nvSpPr>
          <p:cNvPr id="71" name="Text 69"/>
          <p:cNvSpPr/>
          <p:nvPr/>
        </p:nvSpPr>
        <p:spPr>
          <a:xfrm>
            <a:off x="1691640" y="5998464"/>
            <a:ext cx="10131552" cy="475488"/>
          </a:xfrm>
          <a:prstGeom prst="rect">
            <a:avLst/>
          </a:prstGeom>
          <a:solidFill>
            <a:srgbClr val="FDEDE6"/>
          </a:solidFill>
          <a:ln w="12700">
            <a:solidFill>
              <a:srgbClr val="E8541E"/>
            </a:solidFill>
          </a:ln>
        </p:spPr>
        <p:txBody>
          <a:bodyPr wrap="square" lIns="76200" tIns="76200" rIns="76200" bIns="76200" rtlCol="0" anchor="ctr"/>
          <a:lstStyle/>
          <a:p>
            <a:pPr indent="0" marL="0">
              <a:buNone/>
            </a:pPr>
            <a:r>
              <a:rPr lang="en-US" sz="1000" b="1" dirty="0">
                <a:solidFill>
                  <a:srgbClr val="0B2D5B"/>
                </a:solidFill>
                <a:latin typeface="맑은 고딕" pitchFamily="34" charset="0"/>
                <a:ea typeface="맑은 고딕" pitchFamily="34" charset="-122"/>
                <a:cs typeface="맑은 고딕" pitchFamily="34" charset="-120"/>
              </a:rPr>
              <a:t>PO(실제인력)가 아닌 </a:t>
            </a:r>
            <a:pPr indent="0" marL="0">
              <a:buNone/>
            </a:pPr>
            <a:r>
              <a:rPr lang="en-US" sz="1000" b="1" dirty="0">
                <a:solidFill>
                  <a:srgbClr val="C2410C"/>
                </a:solidFill>
                <a:latin typeface="맑은 고딕" pitchFamily="34" charset="0"/>
                <a:ea typeface="맑은 고딕" pitchFamily="34" charset="-122"/>
                <a:cs typeface="맑은 고딕" pitchFamily="34" charset="-120"/>
              </a:rPr>
              <a:t>TO(기준인력)를 구조적으로 낮추는 활동</a:t>
            </a:r>
            <a:pPr indent="0" marL="0">
              <a:buNone/>
            </a:pPr>
            <a:r>
              <a:rPr lang="en-US" sz="1000" b="1" dirty="0">
                <a:solidFill>
                  <a:srgbClr val="0B2D5B"/>
                </a:solidFill>
                <a:latin typeface="맑은 고딕" pitchFamily="34" charset="0"/>
                <a:ea typeface="맑은 고딕" pitchFamily="34" charset="-122"/>
                <a:cs typeface="맑은 고딕" pitchFamily="34" charset="-120"/>
              </a:rPr>
              <a:t>으로 재정의 ─ 공정·프로세스 자동화, 저효율 라인 효율화, 개인별 업무 Span 확대로 TO를 선행 감축하고, PO는 자연감소·재배치를 통해 TO에 수렴</a:t>
            </a:r>
            <a:endParaRPr lang="en-US" sz="900" dirty="0"/>
          </a:p>
        </p:txBody>
      </p:sp>
      <p:sp>
        <p:nvSpPr>
          <p:cNvPr id="72" name="Text 70"/>
          <p:cNvSpPr/>
          <p:nvPr/>
        </p:nvSpPr>
        <p:spPr>
          <a:xfrm>
            <a:off x="365760" y="6537960"/>
            <a:ext cx="10789920" cy="219456"/>
          </a:xfrm>
          <a:prstGeom prst="rect">
            <a:avLst/>
          </a:prstGeom>
          <a:noFill/>
          <a:ln/>
        </p:spPr>
        <p:txBody>
          <a:bodyPr wrap="square" lIns="0" tIns="0" rIns="0" bIns="0" rtlCol="0" anchor="ctr"/>
          <a:lstStyle/>
          <a:p>
            <a:pPr indent="0" marL="0">
              <a:buNone/>
            </a:pPr>
            <a:r>
              <a:rPr lang="en-US" sz="800" dirty="0">
                <a:solidFill>
                  <a:srgbClr val="555555"/>
                </a:solidFill>
                <a:latin typeface="맑은 고딕" pitchFamily="34" charset="0"/>
                <a:ea typeface="맑은 고딕" pitchFamily="34" charset="-122"/>
                <a:cs typeface="맑은 고딕" pitchFamily="34" charset="-120"/>
              </a:rPr>
              <a:t>※ TO: 기준인력, PO: 실제 운영인력, S직군: 근지위 소송·특별채용을 통해 협력사에서 직영으로 전환된 직군  /  기준시점: '24년 말</a:t>
            </a:r>
            <a:endParaRPr lang="en-US" sz="800" dirty="0"/>
          </a:p>
        </p:txBody>
      </p:sp>
      <p:sp>
        <p:nvSpPr>
          <p:cNvPr id="73" name="Text 71"/>
          <p:cNvSpPr/>
          <p:nvPr/>
        </p:nvSpPr>
        <p:spPr>
          <a:xfrm>
            <a:off x="11365992" y="6537960"/>
            <a:ext cx="457200" cy="219456"/>
          </a:xfrm>
          <a:prstGeom prst="rect">
            <a:avLst/>
          </a:prstGeom>
          <a:noFill/>
          <a:ln/>
        </p:spPr>
        <p:txBody>
          <a:bodyPr wrap="square" lIns="0" tIns="0" rIns="0" bIns="0" rtlCol="0" anchor="ctr"/>
          <a:lstStyle/>
          <a:p>
            <a:pPr algn="r" indent="0" marL="0">
              <a:buNone/>
            </a:pPr>
            <a:r>
              <a:rPr lang="en-US" sz="900" dirty="0">
                <a:solidFill>
                  <a:srgbClr val="555555"/>
                </a:solidFill>
                <a:latin typeface="맑은 고딕" pitchFamily="34" charset="0"/>
                <a:ea typeface="맑은 고딕" pitchFamily="34" charset="-122"/>
                <a:cs typeface="맑은 고딕"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65760" y="146304"/>
            <a:ext cx="5486400" cy="201168"/>
          </a:xfrm>
          <a:prstGeom prst="rect">
            <a:avLst/>
          </a:prstGeom>
          <a:noFill/>
          <a:ln/>
        </p:spPr>
        <p:txBody>
          <a:bodyPr wrap="square" lIns="0" tIns="0" rIns="0" bIns="0" rtlCol="0" anchor="ctr"/>
          <a:lstStyle/>
          <a:p>
            <a:pPr indent="0" marL="0">
              <a:buNone/>
            </a:pPr>
            <a:r>
              <a:rPr lang="en-US" sz="900" dirty="0">
                <a:solidFill>
                  <a:srgbClr val="8A94A3"/>
                </a:solidFill>
                <a:latin typeface="맑은 고딕" pitchFamily="34" charset="0"/>
                <a:ea typeface="맑은 고딕" pitchFamily="34" charset="-122"/>
                <a:cs typeface="맑은 고딕" pitchFamily="34" charset="-120"/>
              </a:rPr>
              <a:t>HR 중기전략 ('26~'30 Rolling)  |  원가 경쟁력</a:t>
            </a:r>
            <a:endParaRPr lang="en-US" sz="900" dirty="0"/>
          </a:p>
        </p:txBody>
      </p:sp>
      <p:sp>
        <p:nvSpPr>
          <p:cNvPr id="3" name="Text 1"/>
          <p:cNvSpPr/>
          <p:nvPr/>
        </p:nvSpPr>
        <p:spPr>
          <a:xfrm>
            <a:off x="365760" y="347472"/>
            <a:ext cx="8778240" cy="457200"/>
          </a:xfrm>
          <a:prstGeom prst="rect">
            <a:avLst/>
          </a:prstGeom>
          <a:noFill/>
          <a:ln/>
        </p:spPr>
        <p:txBody>
          <a:bodyPr wrap="square" lIns="0" tIns="0" rIns="0" bIns="0" rtlCol="0" anchor="ctr"/>
          <a:lstStyle/>
          <a:p>
            <a:pPr indent="0" marL="0">
              <a:buNone/>
            </a:pPr>
            <a:r>
              <a:rPr lang="en-US" sz="2200" b="1" dirty="0">
                <a:solidFill>
                  <a:srgbClr val="0B2D5B"/>
                </a:solidFill>
                <a:latin typeface="맑은 고딕" pitchFamily="34" charset="0"/>
                <a:ea typeface="맑은 고딕" pitchFamily="34" charset="-122"/>
                <a:cs typeface="맑은 고딕" pitchFamily="34" charset="-120"/>
              </a:rPr>
              <a:t>Ⅱ. '30 인당생산성 향상 추진전략 및 Roadmap</a:t>
            </a:r>
            <a:endParaRPr lang="en-US" sz="2200" dirty="0"/>
          </a:p>
        </p:txBody>
      </p:sp>
      <p:sp>
        <p:nvSpPr>
          <p:cNvPr id="4" name="Text 2"/>
          <p:cNvSpPr/>
          <p:nvPr/>
        </p:nvSpPr>
        <p:spPr>
          <a:xfrm>
            <a:off x="9262872" y="429768"/>
            <a:ext cx="2560320" cy="310896"/>
          </a:xfrm>
          <a:prstGeom prst="rect">
            <a:avLst/>
          </a:prstGeom>
          <a:solidFill>
            <a:srgbClr val="FDEDE6"/>
          </a:solidFill>
          <a:ln w="12700">
            <a:solidFill>
              <a:srgbClr val="E8541E"/>
            </a:solidFill>
          </a:ln>
        </p:spPr>
        <p:txBody>
          <a:bodyPr wrap="square" lIns="25400" tIns="25400" rIns="25400" bIns="25400" rtlCol="0" anchor="ctr"/>
          <a:lstStyle/>
          <a:p>
            <a:pPr algn="ctr" indent="0" marL="0">
              <a:buNone/>
            </a:pPr>
            <a:r>
              <a:rPr lang="en-US" sz="1000" b="1" dirty="0">
                <a:solidFill>
                  <a:srgbClr val="C2410C"/>
                </a:solidFill>
                <a:latin typeface="맑은 고딕" pitchFamily="34" charset="0"/>
                <a:ea typeface="맑은 고딕" pitchFamily="34" charset="-122"/>
                <a:cs typeface="맑은 고딕" pitchFamily="34" charset="-120"/>
              </a:rPr>
              <a:t>원가 ④ 인당생산성 향상</a:t>
            </a:r>
            <a:endParaRPr lang="en-US" sz="1000" dirty="0"/>
          </a:p>
        </p:txBody>
      </p:sp>
      <p:sp>
        <p:nvSpPr>
          <p:cNvPr id="5" name="Shape 3"/>
          <p:cNvSpPr/>
          <p:nvPr/>
        </p:nvSpPr>
        <p:spPr>
          <a:xfrm>
            <a:off x="365760" y="850392"/>
            <a:ext cx="11457432" cy="0"/>
          </a:xfrm>
          <a:prstGeom prst="line">
            <a:avLst/>
          </a:prstGeom>
          <a:noFill/>
          <a:ln w="25400">
            <a:solidFill>
              <a:srgbClr val="0B2D5B"/>
            </a:solidFill>
            <a:prstDash val="solid"/>
          </a:ln>
        </p:spPr>
      </p:sp>
      <p:sp>
        <p:nvSpPr>
          <p:cNvPr id="6" name="Shape 4"/>
          <p:cNvSpPr/>
          <p:nvPr/>
        </p:nvSpPr>
        <p:spPr>
          <a:xfrm>
            <a:off x="365760" y="941832"/>
            <a:ext cx="11457432" cy="512064"/>
          </a:xfrm>
          <a:prstGeom prst="rect">
            <a:avLst/>
          </a:prstGeom>
          <a:solidFill>
            <a:srgbClr val="EEF3FA"/>
          </a:solidFill>
          <a:ln w="12700">
            <a:solidFill>
              <a:srgbClr val="EEF3FA"/>
            </a:solidFill>
            <a:prstDash val="solid"/>
          </a:ln>
        </p:spPr>
      </p:sp>
      <p:sp>
        <p:nvSpPr>
          <p:cNvPr id="7" name="Shape 5"/>
          <p:cNvSpPr/>
          <p:nvPr/>
        </p:nvSpPr>
        <p:spPr>
          <a:xfrm>
            <a:off x="365760" y="941832"/>
            <a:ext cx="64008" cy="512064"/>
          </a:xfrm>
          <a:prstGeom prst="rect">
            <a:avLst/>
          </a:prstGeom>
          <a:solidFill>
            <a:srgbClr val="0B2D5B"/>
          </a:solidFill>
          <a:ln w="12700">
            <a:solidFill>
              <a:srgbClr val="0B2D5B"/>
            </a:solidFill>
            <a:prstDash val="solid"/>
          </a:ln>
        </p:spPr>
      </p:sp>
      <p:sp>
        <p:nvSpPr>
          <p:cNvPr id="8" name="Text 6"/>
          <p:cNvSpPr/>
          <p:nvPr/>
        </p:nvSpPr>
        <p:spPr>
          <a:xfrm>
            <a:off x="502920" y="941832"/>
            <a:ext cx="11247120" cy="512064"/>
          </a:xfrm>
          <a:prstGeom prst="rect">
            <a:avLst/>
          </a:prstGeom>
          <a:noFill/>
          <a:ln/>
        </p:spPr>
        <p:txBody>
          <a:bodyPr wrap="square" lIns="25400" tIns="25400" rIns="25400" bIns="25400" rtlCol="0" anchor="ctr"/>
          <a:lstStyle/>
          <a:p>
            <a:pPr indent="0" marL="0">
              <a:buNone/>
            </a:pPr>
            <a:r>
              <a:rPr lang="en-US" sz="1200" b="1" dirty="0">
                <a:solidFill>
                  <a:srgbClr val="0B2D5B"/>
                </a:solidFill>
                <a:latin typeface="맑은 고딕" pitchFamily="34" charset="0"/>
                <a:ea typeface="맑은 고딕" pitchFamily="34" charset="-122"/>
                <a:cs typeface="맑은 고딕" pitchFamily="34" charset="-120"/>
              </a:rPr>
              <a:t>'30년까지 Total 인력(TO)을 '24년 말 대비 △5,873명(△20.9%) 감축 ─ S직군 직영 전환 등에 따른 직영 증가(+936명)를 협력 감축(△6,809명)으로 흡수하는 정규·S직군·계약·협력 4개 축 통합 관리 추진</a:t>
            </a:r>
            <a:endParaRPr lang="en-US" sz="1200" dirty="0"/>
          </a:p>
        </p:txBody>
      </p:sp>
      <p:sp>
        <p:nvSpPr>
          <p:cNvPr id="9" name="Text 7"/>
          <p:cNvSpPr/>
          <p:nvPr/>
        </p:nvSpPr>
        <p:spPr>
          <a:xfrm>
            <a:off x="365760" y="1517904"/>
            <a:ext cx="1188720" cy="530352"/>
          </a:xfrm>
          <a:prstGeom prst="rect">
            <a:avLst/>
          </a:prstGeom>
          <a:solidFill>
            <a:srgbClr val="0B2D5B"/>
          </a:solidFill>
          <a:ln>
            <a:solidFill>
              <a:srgbClr val="0B2D5B"/>
            </a:solidFill>
          </a:ln>
        </p:spPr>
        <p:txBody>
          <a:bodyPr wrap="square" lIns="25400" tIns="25400" rIns="25400" bIns="2540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'30 목표</a:t>
            </a:r>
            <a:endParaRPr lang="en-US" sz="1300" dirty="0"/>
          </a:p>
        </p:txBody>
      </p:sp>
      <p:sp>
        <p:nvSpPr>
          <p:cNvPr id="10" name="Shape 8"/>
          <p:cNvSpPr/>
          <p:nvPr/>
        </p:nvSpPr>
        <p:spPr>
          <a:xfrm>
            <a:off x="1627632" y="1517904"/>
            <a:ext cx="3346704" cy="530352"/>
          </a:xfrm>
          <a:prstGeom prst="rect">
            <a:avLst/>
          </a:prstGeom>
          <a:solidFill>
            <a:srgbClr val="EEF3FA"/>
          </a:solidFill>
          <a:ln w="12700">
            <a:solidFill>
              <a:srgbClr val="D6E4F5"/>
            </a:solidFill>
            <a:prstDash val="solid"/>
          </a:ln>
        </p:spPr>
      </p:sp>
      <p:sp>
        <p:nvSpPr>
          <p:cNvPr id="11" name="Text 9"/>
          <p:cNvSpPr/>
          <p:nvPr/>
        </p:nvSpPr>
        <p:spPr>
          <a:xfrm>
            <a:off x="1682496" y="1517904"/>
            <a:ext cx="1152144" cy="530352"/>
          </a:xfrm>
          <a:prstGeom prst="rect">
            <a:avLst/>
          </a:prstGeom>
          <a:noFill/>
          <a:ln/>
        </p:spPr>
        <p:txBody>
          <a:bodyPr wrap="square" lIns="0" tIns="0" rIns="0" bIns="0" rtlCol="0" anchor="ctr"/>
          <a:lstStyle/>
          <a:p>
            <a:pPr algn="ctr" indent="0" marL="0">
              <a:buNone/>
            </a:pPr>
            <a:r>
              <a:rPr lang="en-US" sz="900" b="1" dirty="0">
                <a:solidFill>
                  <a:srgbClr val="0B2D5B"/>
                </a:solidFill>
                <a:latin typeface="맑은 고딕" pitchFamily="34" charset="0"/>
                <a:ea typeface="맑은 고딕" pitchFamily="34" charset="-122"/>
                <a:cs typeface="맑은 고딕" pitchFamily="34" charset="-120"/>
              </a:rPr>
              <a:t>Total 인력(TO)</a:t>
            </a:r>
            <a:endParaRPr lang="en-US" sz="900" dirty="0"/>
          </a:p>
          <a:p>
            <a:pPr algn="ctr" indent="0" marL="0">
              <a:buNone/>
            </a:pPr>
            <a:r>
              <a:rPr lang="en-US" sz="900" b="1" dirty="0">
                <a:solidFill>
                  <a:srgbClr val="0B2D5B"/>
                </a:solidFill>
                <a:latin typeface="맑은 고딕" pitchFamily="34" charset="0"/>
                <a:ea typeface="맑은 고딕" pitchFamily="34" charset="-122"/>
                <a:cs typeface="맑은 고딕" pitchFamily="34" charset="-120"/>
              </a:rPr>
              <a:t>4개 축 합산</a:t>
            </a:r>
            <a:endParaRPr lang="en-US" sz="900" dirty="0"/>
          </a:p>
        </p:txBody>
      </p:sp>
      <p:sp>
        <p:nvSpPr>
          <p:cNvPr id="12" name="Shape 10"/>
          <p:cNvSpPr/>
          <p:nvPr/>
        </p:nvSpPr>
        <p:spPr>
          <a:xfrm>
            <a:off x="2862072" y="1600200"/>
            <a:ext cx="0" cy="365760"/>
          </a:xfrm>
          <a:prstGeom prst="line">
            <a:avLst/>
          </a:prstGeom>
          <a:noFill/>
          <a:ln w="9525">
            <a:solidFill>
              <a:srgbClr val="BFC7D2"/>
            </a:solidFill>
            <a:prstDash val="solid"/>
          </a:ln>
        </p:spPr>
      </p:sp>
      <p:sp>
        <p:nvSpPr>
          <p:cNvPr id="13" name="Text 11"/>
          <p:cNvSpPr/>
          <p:nvPr/>
        </p:nvSpPr>
        <p:spPr>
          <a:xfrm>
            <a:off x="2926080" y="1527048"/>
            <a:ext cx="2011680" cy="292608"/>
          </a:xfrm>
          <a:prstGeom prst="rect">
            <a:avLst/>
          </a:prstGeom>
          <a:noFill/>
          <a:ln/>
        </p:spPr>
        <p:txBody>
          <a:bodyPr wrap="square" lIns="0" tIns="0" rIns="0" bIns="0" rtlCol="0" anchor="ctr"/>
          <a:lstStyle/>
          <a:p>
            <a:pPr indent="0" marL="0">
              <a:buNone/>
            </a:pPr>
            <a:r>
              <a:rPr lang="en-US" sz="1500" b="1" dirty="0">
                <a:solidFill>
                  <a:srgbClr val="E8541E"/>
                </a:solidFill>
                <a:latin typeface="맑은 고딕" pitchFamily="34" charset="0"/>
                <a:ea typeface="맑은 고딕" pitchFamily="34" charset="-122"/>
                <a:cs typeface="맑은 고딕" pitchFamily="34" charset="-120"/>
              </a:rPr>
              <a:t>'24.E比 △20.9%</a:t>
            </a:r>
            <a:endParaRPr lang="en-US" sz="1500" dirty="0"/>
          </a:p>
        </p:txBody>
      </p:sp>
      <p:sp>
        <p:nvSpPr>
          <p:cNvPr id="14" name="Text 12"/>
          <p:cNvSpPr/>
          <p:nvPr/>
        </p:nvSpPr>
        <p:spPr>
          <a:xfrm>
            <a:off x="2926080" y="1810512"/>
            <a:ext cx="2011680" cy="201168"/>
          </a:xfrm>
          <a:prstGeom prst="rect">
            <a:avLst/>
          </a:prstGeom>
          <a:noFill/>
          <a:ln/>
        </p:spPr>
        <p:txBody>
          <a:bodyPr wrap="square" lIns="0" tIns="0" rIns="0" bIns="0" rtlCol="0" anchor="ctr"/>
          <a:lstStyle/>
          <a:p>
            <a:pPr indent="0" marL="0">
              <a:buNone/>
            </a:pPr>
            <a:r>
              <a:rPr lang="en-US" sz="850" dirty="0">
                <a:solidFill>
                  <a:srgbClr val="555555"/>
                </a:solidFill>
                <a:latin typeface="맑은 고딕" pitchFamily="34" charset="0"/>
                <a:ea typeface="맑은 고딕" pitchFamily="34" charset="-122"/>
                <a:cs typeface="맑은 고딕" pitchFamily="34" charset="-120"/>
              </a:rPr>
              <a:t>28,104 → 22,231명 (△5,873명)</a:t>
            </a:r>
            <a:endParaRPr lang="en-US" sz="850" dirty="0"/>
          </a:p>
        </p:txBody>
      </p:sp>
      <p:sp>
        <p:nvSpPr>
          <p:cNvPr id="15" name="Shape 13"/>
          <p:cNvSpPr/>
          <p:nvPr/>
        </p:nvSpPr>
        <p:spPr>
          <a:xfrm>
            <a:off x="5038344" y="1517904"/>
            <a:ext cx="3346704" cy="530352"/>
          </a:xfrm>
          <a:prstGeom prst="rect">
            <a:avLst/>
          </a:prstGeom>
          <a:solidFill>
            <a:srgbClr val="EEF3FA"/>
          </a:solidFill>
          <a:ln w="12700">
            <a:solidFill>
              <a:srgbClr val="D6E4F5"/>
            </a:solidFill>
            <a:prstDash val="solid"/>
          </a:ln>
        </p:spPr>
      </p:sp>
      <p:sp>
        <p:nvSpPr>
          <p:cNvPr id="16" name="Text 14"/>
          <p:cNvSpPr/>
          <p:nvPr/>
        </p:nvSpPr>
        <p:spPr>
          <a:xfrm>
            <a:off x="5093208" y="1517904"/>
            <a:ext cx="1152144" cy="530352"/>
          </a:xfrm>
          <a:prstGeom prst="rect">
            <a:avLst/>
          </a:prstGeom>
          <a:noFill/>
          <a:ln/>
        </p:spPr>
        <p:txBody>
          <a:bodyPr wrap="square" lIns="0" tIns="0" rIns="0" bIns="0" rtlCol="0" anchor="ctr"/>
          <a:lstStyle/>
          <a:p>
            <a:pPr algn="ctr" indent="0" marL="0">
              <a:buNone/>
            </a:pPr>
            <a:r>
              <a:rPr lang="en-US" sz="900" b="1" dirty="0">
                <a:solidFill>
                  <a:srgbClr val="0B2D5B"/>
                </a:solidFill>
                <a:latin typeface="맑은 고딕" pitchFamily="34" charset="0"/>
                <a:ea typeface="맑은 고딕" pitchFamily="34" charset="-122"/>
                <a:cs typeface="맑은 고딕" pitchFamily="34" charset="-120"/>
              </a:rPr>
              <a:t>인당 생산성</a:t>
            </a:r>
            <a:endParaRPr lang="en-US" sz="900" dirty="0"/>
          </a:p>
        </p:txBody>
      </p:sp>
      <p:sp>
        <p:nvSpPr>
          <p:cNvPr id="17" name="Shape 15"/>
          <p:cNvSpPr/>
          <p:nvPr/>
        </p:nvSpPr>
        <p:spPr>
          <a:xfrm>
            <a:off x="6272784" y="1600200"/>
            <a:ext cx="0" cy="365760"/>
          </a:xfrm>
          <a:prstGeom prst="line">
            <a:avLst/>
          </a:prstGeom>
          <a:noFill/>
          <a:ln w="9525">
            <a:solidFill>
              <a:srgbClr val="BFC7D2"/>
            </a:solidFill>
            <a:prstDash val="solid"/>
          </a:ln>
        </p:spPr>
      </p:sp>
      <p:sp>
        <p:nvSpPr>
          <p:cNvPr id="18" name="Text 16"/>
          <p:cNvSpPr/>
          <p:nvPr/>
        </p:nvSpPr>
        <p:spPr>
          <a:xfrm>
            <a:off x="6336792" y="1527048"/>
            <a:ext cx="2011680" cy="292608"/>
          </a:xfrm>
          <a:prstGeom prst="rect">
            <a:avLst/>
          </a:prstGeom>
          <a:noFill/>
          <a:ln/>
        </p:spPr>
        <p:txBody>
          <a:bodyPr wrap="square" lIns="0" tIns="0" rIns="0" bIns="0" rtlCol="0" anchor="ctr"/>
          <a:lstStyle/>
          <a:p>
            <a:pPr indent="0" marL="0">
              <a:buNone/>
            </a:pPr>
            <a:r>
              <a:rPr lang="en-US" sz="1500" b="1" dirty="0">
                <a:solidFill>
                  <a:srgbClr val="E8541E"/>
                </a:solidFill>
                <a:latin typeface="맑은 고딕" pitchFamily="34" charset="0"/>
                <a:ea typeface="맑은 고딕" pitchFamily="34" charset="-122"/>
                <a:cs typeface="맑은 고딕" pitchFamily="34" charset="-120"/>
              </a:rPr>
              <a:t>'24.E比 OO%↑</a:t>
            </a:r>
            <a:endParaRPr lang="en-US" sz="1500" dirty="0"/>
          </a:p>
        </p:txBody>
      </p:sp>
      <p:sp>
        <p:nvSpPr>
          <p:cNvPr id="19" name="Text 17"/>
          <p:cNvSpPr/>
          <p:nvPr/>
        </p:nvSpPr>
        <p:spPr>
          <a:xfrm>
            <a:off x="6336792" y="1810512"/>
            <a:ext cx="2011680" cy="201168"/>
          </a:xfrm>
          <a:prstGeom prst="rect">
            <a:avLst/>
          </a:prstGeom>
          <a:noFill/>
          <a:ln/>
        </p:spPr>
        <p:txBody>
          <a:bodyPr wrap="square" lIns="0" tIns="0" rIns="0" bIns="0" rtlCol="0" anchor="ctr"/>
          <a:lstStyle/>
          <a:p>
            <a:pPr indent="0" marL="0">
              <a:buNone/>
            </a:pPr>
            <a:r>
              <a:rPr lang="en-US" sz="850" dirty="0">
                <a:solidFill>
                  <a:srgbClr val="555555"/>
                </a:solidFill>
                <a:latin typeface="맑은 고딕" pitchFamily="34" charset="0"/>
                <a:ea typeface="맑은 고딕" pitchFamily="34" charset="-122"/>
                <a:cs typeface="맑은 고딕" pitchFamily="34" charset="-120"/>
              </a:rPr>
              <a:t>생산량 동일 가정 時 +26.4%</a:t>
            </a:r>
            <a:endParaRPr lang="en-US" sz="850" dirty="0"/>
          </a:p>
        </p:txBody>
      </p:sp>
      <p:sp>
        <p:nvSpPr>
          <p:cNvPr id="20" name="Shape 18"/>
          <p:cNvSpPr/>
          <p:nvPr/>
        </p:nvSpPr>
        <p:spPr>
          <a:xfrm>
            <a:off x="8449056" y="1517904"/>
            <a:ext cx="3346704" cy="530352"/>
          </a:xfrm>
          <a:prstGeom prst="rect">
            <a:avLst/>
          </a:prstGeom>
          <a:solidFill>
            <a:srgbClr val="EEF3FA"/>
          </a:solidFill>
          <a:ln w="12700">
            <a:solidFill>
              <a:srgbClr val="D6E4F5"/>
            </a:solidFill>
            <a:prstDash val="solid"/>
          </a:ln>
        </p:spPr>
      </p:sp>
      <p:sp>
        <p:nvSpPr>
          <p:cNvPr id="21" name="Text 19"/>
          <p:cNvSpPr/>
          <p:nvPr/>
        </p:nvSpPr>
        <p:spPr>
          <a:xfrm>
            <a:off x="8503920" y="1517904"/>
            <a:ext cx="1152144" cy="530352"/>
          </a:xfrm>
          <a:prstGeom prst="rect">
            <a:avLst/>
          </a:prstGeom>
          <a:noFill/>
          <a:ln/>
        </p:spPr>
        <p:txBody>
          <a:bodyPr wrap="square" lIns="0" tIns="0" rIns="0" bIns="0" rtlCol="0" anchor="ctr"/>
          <a:lstStyle/>
          <a:p>
            <a:pPr algn="ctr" indent="0" marL="0">
              <a:buNone/>
            </a:pPr>
            <a:r>
              <a:rPr lang="en-US" sz="900" b="1" dirty="0">
                <a:solidFill>
                  <a:srgbClr val="0B2D5B"/>
                </a:solidFill>
                <a:latin typeface="맑은 고딕" pitchFamily="34" charset="0"/>
                <a:ea typeface="맑은 고딕" pitchFamily="34" charset="-122"/>
                <a:cs typeface="맑은 고딕" pitchFamily="34" charset="-120"/>
              </a:rPr>
              <a:t>Total 노무비</a:t>
            </a:r>
            <a:endParaRPr lang="en-US" sz="900" dirty="0"/>
          </a:p>
        </p:txBody>
      </p:sp>
      <p:sp>
        <p:nvSpPr>
          <p:cNvPr id="22" name="Shape 20"/>
          <p:cNvSpPr/>
          <p:nvPr/>
        </p:nvSpPr>
        <p:spPr>
          <a:xfrm>
            <a:off x="9683496" y="1600200"/>
            <a:ext cx="0" cy="365760"/>
          </a:xfrm>
          <a:prstGeom prst="line">
            <a:avLst/>
          </a:prstGeom>
          <a:noFill/>
          <a:ln w="9525">
            <a:solidFill>
              <a:srgbClr val="BFC7D2"/>
            </a:solidFill>
            <a:prstDash val="solid"/>
          </a:ln>
        </p:spPr>
      </p:sp>
      <p:sp>
        <p:nvSpPr>
          <p:cNvPr id="23" name="Text 21"/>
          <p:cNvSpPr/>
          <p:nvPr/>
        </p:nvSpPr>
        <p:spPr>
          <a:xfrm>
            <a:off x="9747504" y="1527048"/>
            <a:ext cx="2011680" cy="292608"/>
          </a:xfrm>
          <a:prstGeom prst="rect">
            <a:avLst/>
          </a:prstGeom>
          <a:noFill/>
          <a:ln/>
        </p:spPr>
        <p:txBody>
          <a:bodyPr wrap="square" lIns="0" tIns="0" rIns="0" bIns="0" rtlCol="0" anchor="ctr"/>
          <a:lstStyle/>
          <a:p>
            <a:pPr indent="0" marL="0">
              <a:buNone/>
            </a:pPr>
            <a:r>
              <a:rPr lang="en-US" sz="1500" b="1" dirty="0">
                <a:solidFill>
                  <a:srgbClr val="E8541E"/>
                </a:solidFill>
                <a:latin typeface="맑은 고딕" pitchFamily="34" charset="0"/>
                <a:ea typeface="맑은 고딕" pitchFamily="34" charset="-122"/>
                <a:cs typeface="맑은 고딕" pitchFamily="34" charset="-120"/>
              </a:rPr>
              <a:t>매출액比 OO% 이내</a:t>
            </a:r>
            <a:endParaRPr lang="en-US" sz="1500" dirty="0"/>
          </a:p>
        </p:txBody>
      </p:sp>
      <p:sp>
        <p:nvSpPr>
          <p:cNvPr id="24" name="Text 22"/>
          <p:cNvSpPr/>
          <p:nvPr/>
        </p:nvSpPr>
        <p:spPr>
          <a:xfrm>
            <a:off x="9747504" y="1810512"/>
            <a:ext cx="2011680" cy="201168"/>
          </a:xfrm>
          <a:prstGeom prst="rect">
            <a:avLst/>
          </a:prstGeom>
          <a:noFill/>
          <a:ln/>
        </p:spPr>
        <p:txBody>
          <a:bodyPr wrap="square" lIns="0" tIns="0" rIns="0" bIns="0" rtlCol="0" anchor="ctr"/>
          <a:lstStyle/>
          <a:p>
            <a:pPr indent="0" marL="0">
              <a:buNone/>
            </a:pPr>
            <a:r>
              <a:rPr lang="en-US" sz="850" dirty="0">
                <a:solidFill>
                  <a:srgbClr val="555555"/>
                </a:solidFill>
                <a:latin typeface="맑은 고딕" pitchFamily="34" charset="0"/>
                <a:ea typeface="맑은 고딕" pitchFamily="34" charset="-122"/>
                <a:cs typeface="맑은 고딕" pitchFamily="34" charset="-120"/>
              </a:rPr>
              <a:t>4개 축 노무비 통합 KPI 관리</a:t>
            </a:r>
            <a:endParaRPr lang="en-US" sz="850" dirty="0"/>
          </a:p>
        </p:txBody>
      </p:sp>
      <p:sp>
        <p:nvSpPr>
          <p:cNvPr id="25" name="Text 23"/>
          <p:cNvSpPr/>
          <p:nvPr/>
        </p:nvSpPr>
        <p:spPr>
          <a:xfrm>
            <a:off x="365760" y="2121408"/>
            <a:ext cx="6903720" cy="256032"/>
          </a:xfrm>
          <a:prstGeom prst="rect">
            <a:avLst/>
          </a:prstGeom>
          <a:solidFill>
            <a:srgbClr val="0B2D5B"/>
          </a:solidFill>
          <a:ln>
            <a:solidFill>
              <a:srgbClr val="0B2D5B"/>
            </a:solidFill>
          </a:ln>
        </p:spPr>
        <p:txBody>
          <a:bodyPr wrap="square" lIns="76200" tIns="76200" rIns="76200" bIns="76200" rtlCol="0" anchor="ctr"/>
          <a:lstStyle/>
          <a:p>
            <a:pPr algn="l" indent="0" marL="0">
              <a:buNone/>
            </a:pPr>
            <a:r>
              <a:rPr lang="en-US" sz="1000" b="1" dirty="0">
                <a:solidFill>
                  <a:srgbClr val="FFFFFF"/>
                </a:solidFill>
                <a:latin typeface="맑은 고딕" pitchFamily="34" charset="0"/>
                <a:ea typeface="맑은 고딕" pitchFamily="34" charset="-122"/>
                <a:cs typeface="맑은 고딕" pitchFamily="34" charset="-120"/>
              </a:rPr>
              <a:t>Total 인력(TO) 운영계획 및 3대 감축 Lever  ('24년 말 기준)</a:t>
            </a:r>
            <a:endParaRPr lang="en-US" sz="1000" dirty="0"/>
          </a:p>
        </p:txBody>
      </p:sp>
      <p:sp>
        <p:nvSpPr>
          <p:cNvPr id="26" name="Shape 24"/>
          <p:cNvSpPr/>
          <p:nvPr/>
        </p:nvSpPr>
        <p:spPr>
          <a:xfrm>
            <a:off x="411480" y="2436876"/>
            <a:ext cx="109728" cy="109728"/>
          </a:xfrm>
          <a:prstGeom prst="rect">
            <a:avLst/>
          </a:prstGeom>
          <a:solidFill>
            <a:srgbClr val="0B2D5B"/>
          </a:solidFill>
          <a:ln w="9525">
            <a:solidFill>
              <a:srgbClr val="0B2D5B"/>
            </a:solidFill>
            <a:prstDash val="solid"/>
          </a:ln>
        </p:spPr>
      </p:sp>
      <p:sp>
        <p:nvSpPr>
          <p:cNvPr id="27" name="Text 25"/>
          <p:cNvSpPr/>
          <p:nvPr/>
        </p:nvSpPr>
        <p:spPr>
          <a:xfrm>
            <a:off x="557784" y="2414016"/>
            <a:ext cx="768096" cy="155448"/>
          </a:xfrm>
          <a:prstGeom prst="rect">
            <a:avLst/>
          </a:prstGeom>
          <a:noFill/>
          <a:ln/>
        </p:spPr>
        <p:txBody>
          <a:bodyPr wrap="square" lIns="0" tIns="0" rIns="0" bIns="0" rtlCol="0" anchor="ctr"/>
          <a:lstStyle/>
          <a:p>
            <a:pPr indent="0" marL="0">
              <a:buNone/>
            </a:pPr>
            <a:r>
              <a:rPr lang="en-US" sz="750" dirty="0">
                <a:solidFill>
                  <a:srgbClr val="222222"/>
                </a:solidFill>
                <a:latin typeface="맑은 고딕" pitchFamily="34" charset="0"/>
                <a:ea typeface="맑은 고딕" pitchFamily="34" charset="-122"/>
                <a:cs typeface="맑은 고딕" pitchFamily="34" charset="-120"/>
              </a:rPr>
              <a:t>직영 정규직</a:t>
            </a:r>
            <a:endParaRPr lang="en-US" sz="750" dirty="0"/>
          </a:p>
        </p:txBody>
      </p:sp>
      <p:sp>
        <p:nvSpPr>
          <p:cNvPr id="28" name="Shape 26"/>
          <p:cNvSpPr/>
          <p:nvPr/>
        </p:nvSpPr>
        <p:spPr>
          <a:xfrm>
            <a:off x="1325880" y="2436876"/>
            <a:ext cx="109728" cy="109728"/>
          </a:xfrm>
          <a:prstGeom prst="rect">
            <a:avLst/>
          </a:prstGeom>
          <a:solidFill>
            <a:srgbClr val="FFFFFF"/>
          </a:solidFill>
          <a:ln w="9525">
            <a:solidFill>
              <a:srgbClr val="1F5FA8"/>
            </a:solidFill>
            <a:prstDash val="dash"/>
          </a:ln>
        </p:spPr>
      </p:sp>
      <p:sp>
        <p:nvSpPr>
          <p:cNvPr id="29" name="Text 27"/>
          <p:cNvSpPr/>
          <p:nvPr/>
        </p:nvSpPr>
        <p:spPr>
          <a:xfrm>
            <a:off x="1472184" y="2414016"/>
            <a:ext cx="1179576" cy="155448"/>
          </a:xfrm>
          <a:prstGeom prst="rect">
            <a:avLst/>
          </a:prstGeom>
          <a:noFill/>
          <a:ln/>
        </p:spPr>
        <p:txBody>
          <a:bodyPr wrap="square" lIns="0" tIns="0" rIns="0" bIns="0" rtlCol="0" anchor="ctr"/>
          <a:lstStyle/>
          <a:p>
            <a:pPr indent="0" marL="0">
              <a:buNone/>
            </a:pPr>
            <a:r>
              <a:rPr lang="en-US" sz="750" dirty="0">
                <a:solidFill>
                  <a:srgbClr val="8A94A3"/>
                </a:solidFill>
                <a:latin typeface="맑은 고딕" pitchFamily="34" charset="0"/>
                <a:ea typeface="맑은 고딕" pitchFamily="34" charset="-122"/>
                <a:cs typeface="맑은 고딕" pitchFamily="34" charset="-120"/>
              </a:rPr>
              <a:t>직영 S직군(정규직 內 포함)</a:t>
            </a:r>
            <a:endParaRPr lang="en-US" sz="750" dirty="0"/>
          </a:p>
        </p:txBody>
      </p:sp>
      <p:sp>
        <p:nvSpPr>
          <p:cNvPr id="30" name="Shape 28"/>
          <p:cNvSpPr/>
          <p:nvPr/>
        </p:nvSpPr>
        <p:spPr>
          <a:xfrm>
            <a:off x="2651760" y="2436876"/>
            <a:ext cx="109728" cy="109728"/>
          </a:xfrm>
          <a:prstGeom prst="rect">
            <a:avLst/>
          </a:prstGeom>
          <a:solidFill>
            <a:srgbClr val="8FB3E0"/>
          </a:solidFill>
          <a:ln w="9525">
            <a:solidFill>
              <a:srgbClr val="8FB3E0"/>
            </a:solidFill>
            <a:prstDash val="solid"/>
          </a:ln>
        </p:spPr>
      </p:sp>
      <p:sp>
        <p:nvSpPr>
          <p:cNvPr id="31" name="Text 29"/>
          <p:cNvSpPr/>
          <p:nvPr/>
        </p:nvSpPr>
        <p:spPr>
          <a:xfrm>
            <a:off x="2798064" y="2414016"/>
            <a:ext cx="768096" cy="155448"/>
          </a:xfrm>
          <a:prstGeom prst="rect">
            <a:avLst/>
          </a:prstGeom>
          <a:noFill/>
          <a:ln/>
        </p:spPr>
        <p:txBody>
          <a:bodyPr wrap="square" lIns="0" tIns="0" rIns="0" bIns="0" rtlCol="0" anchor="ctr"/>
          <a:lstStyle/>
          <a:p>
            <a:pPr indent="0" marL="0">
              <a:buNone/>
            </a:pPr>
            <a:r>
              <a:rPr lang="en-US" sz="750" dirty="0">
                <a:solidFill>
                  <a:srgbClr val="222222"/>
                </a:solidFill>
                <a:latin typeface="맑은 고딕" pitchFamily="34" charset="0"/>
                <a:ea typeface="맑은 고딕" pitchFamily="34" charset="-122"/>
                <a:cs typeface="맑은 고딕" pitchFamily="34" charset="-120"/>
              </a:rPr>
              <a:t>직영 계약직</a:t>
            </a:r>
            <a:endParaRPr lang="en-US" sz="750" dirty="0"/>
          </a:p>
        </p:txBody>
      </p:sp>
      <p:sp>
        <p:nvSpPr>
          <p:cNvPr id="32" name="Shape 30"/>
          <p:cNvSpPr/>
          <p:nvPr/>
        </p:nvSpPr>
        <p:spPr>
          <a:xfrm>
            <a:off x="3566160" y="2436876"/>
            <a:ext cx="109728" cy="109728"/>
          </a:xfrm>
          <a:prstGeom prst="rect">
            <a:avLst/>
          </a:prstGeom>
          <a:solidFill>
            <a:srgbClr val="C9D1DB"/>
          </a:solidFill>
          <a:ln w="9525">
            <a:solidFill>
              <a:srgbClr val="C9D1DB"/>
            </a:solidFill>
            <a:prstDash val="solid"/>
          </a:ln>
        </p:spPr>
      </p:sp>
      <p:sp>
        <p:nvSpPr>
          <p:cNvPr id="33" name="Text 31"/>
          <p:cNvSpPr/>
          <p:nvPr/>
        </p:nvSpPr>
        <p:spPr>
          <a:xfrm>
            <a:off x="3712464" y="2414016"/>
            <a:ext cx="402336" cy="155448"/>
          </a:xfrm>
          <a:prstGeom prst="rect">
            <a:avLst/>
          </a:prstGeom>
          <a:noFill/>
          <a:ln/>
        </p:spPr>
        <p:txBody>
          <a:bodyPr wrap="square" lIns="0" tIns="0" rIns="0" bIns="0" rtlCol="0" anchor="ctr"/>
          <a:lstStyle/>
          <a:p>
            <a:pPr indent="0" marL="0">
              <a:buNone/>
            </a:pPr>
            <a:r>
              <a:rPr lang="en-US" sz="750" dirty="0">
                <a:solidFill>
                  <a:srgbClr val="222222"/>
                </a:solidFill>
                <a:latin typeface="맑은 고딕" pitchFamily="34" charset="0"/>
                <a:ea typeface="맑은 고딕" pitchFamily="34" charset="-122"/>
                <a:cs typeface="맑은 고딕" pitchFamily="34" charset="-120"/>
              </a:rPr>
              <a:t>협력</a:t>
            </a:r>
            <a:endParaRPr lang="en-US" sz="750" dirty="0"/>
          </a:p>
        </p:txBody>
      </p:sp>
      <p:sp>
        <p:nvSpPr>
          <p:cNvPr id="34" name="Text 32"/>
          <p:cNvSpPr/>
          <p:nvPr/>
        </p:nvSpPr>
        <p:spPr>
          <a:xfrm>
            <a:off x="4206240" y="2414016"/>
            <a:ext cx="868680" cy="155448"/>
          </a:xfrm>
          <a:prstGeom prst="rect">
            <a:avLst/>
          </a:prstGeom>
          <a:noFill/>
          <a:ln/>
        </p:spPr>
        <p:txBody>
          <a:bodyPr wrap="square" lIns="0" tIns="0" rIns="0" bIns="0" rtlCol="0" anchor="ctr"/>
          <a:lstStyle/>
          <a:p>
            <a:pPr algn="r" indent="0" marL="0">
              <a:buNone/>
            </a:pPr>
            <a:r>
              <a:rPr lang="en-US" sz="750" dirty="0">
                <a:solidFill>
                  <a:srgbClr val="8A94A3"/>
                </a:solidFill>
                <a:latin typeface="맑은 고딕" pitchFamily="34" charset="0"/>
                <a:ea typeface="맑은 고딕" pitchFamily="34" charset="-122"/>
                <a:cs typeface="맑은 고딕" pitchFamily="34" charset="-120"/>
              </a:rPr>
              <a:t>(단위: 명)</a:t>
            </a:r>
            <a:endParaRPr lang="en-US" sz="750" dirty="0"/>
          </a:p>
        </p:txBody>
      </p:sp>
      <p:sp>
        <p:nvSpPr>
          <p:cNvPr id="35" name="Shape 33"/>
          <p:cNvSpPr/>
          <p:nvPr/>
        </p:nvSpPr>
        <p:spPr>
          <a:xfrm>
            <a:off x="534271" y="3179082"/>
            <a:ext cx="420624" cy="661398"/>
          </a:xfrm>
          <a:prstGeom prst="rect">
            <a:avLst/>
          </a:prstGeom>
          <a:solidFill>
            <a:srgbClr val="0B2D5B"/>
          </a:solidFill>
          <a:ln w="6350">
            <a:solidFill>
              <a:srgbClr val="FFFFFF"/>
            </a:solidFill>
            <a:prstDash val="solid"/>
          </a:ln>
        </p:spPr>
      </p:sp>
      <p:sp>
        <p:nvSpPr>
          <p:cNvPr id="36" name="Text 34"/>
          <p:cNvSpPr/>
          <p:nvPr/>
        </p:nvSpPr>
        <p:spPr>
          <a:xfrm>
            <a:off x="488551" y="3179082"/>
            <a:ext cx="512064" cy="661398"/>
          </a:xfrm>
          <a:prstGeom prst="rect">
            <a:avLst/>
          </a:prstGeom>
          <a:noFill/>
          <a:ln/>
        </p:spPr>
        <p:txBody>
          <a:bodyPr wrap="square" lIns="0" tIns="0" rIns="0" bIns="0" rtlCol="0" anchor="ctr"/>
          <a:lstStyle/>
          <a:p>
            <a:pPr algn="ctr" indent="0" marL="0">
              <a:buNone/>
            </a:pPr>
            <a:r>
              <a:rPr lang="en-US" sz="700" dirty="0">
                <a:solidFill>
                  <a:srgbClr val="FFFFFF"/>
                </a:solidFill>
                <a:latin typeface="맑은 고딕" pitchFamily="34" charset="0"/>
                <a:ea typeface="맑은 고딕" pitchFamily="34" charset="-122"/>
                <a:cs typeface="맑은 고딕" pitchFamily="34" charset="-120"/>
              </a:rPr>
              <a:t>16,940</a:t>
            </a:r>
            <a:endParaRPr lang="en-US" sz="700" dirty="0"/>
          </a:p>
        </p:txBody>
      </p:sp>
      <p:sp>
        <p:nvSpPr>
          <p:cNvPr id="37" name="Shape 35"/>
          <p:cNvSpPr/>
          <p:nvPr/>
        </p:nvSpPr>
        <p:spPr>
          <a:xfrm>
            <a:off x="534271" y="3137813"/>
            <a:ext cx="420624" cy="41269"/>
          </a:xfrm>
          <a:prstGeom prst="rect">
            <a:avLst/>
          </a:prstGeom>
          <a:solidFill>
            <a:srgbClr val="8FB3E0"/>
          </a:solidFill>
          <a:ln w="6350">
            <a:solidFill>
              <a:srgbClr val="FFFFFF"/>
            </a:solidFill>
            <a:prstDash val="solid"/>
          </a:ln>
        </p:spPr>
      </p:sp>
      <p:sp>
        <p:nvSpPr>
          <p:cNvPr id="38" name="Shape 36"/>
          <p:cNvSpPr/>
          <p:nvPr/>
        </p:nvSpPr>
        <p:spPr>
          <a:xfrm>
            <a:off x="534271" y="2743200"/>
            <a:ext cx="420624" cy="394613"/>
          </a:xfrm>
          <a:prstGeom prst="rect">
            <a:avLst/>
          </a:prstGeom>
          <a:solidFill>
            <a:srgbClr val="C9D1DB"/>
          </a:solidFill>
          <a:ln w="6350">
            <a:solidFill>
              <a:srgbClr val="FFFFFF"/>
            </a:solidFill>
            <a:prstDash val="solid"/>
          </a:ln>
        </p:spPr>
      </p:sp>
      <p:sp>
        <p:nvSpPr>
          <p:cNvPr id="39" name="Text 37"/>
          <p:cNvSpPr/>
          <p:nvPr/>
        </p:nvSpPr>
        <p:spPr>
          <a:xfrm>
            <a:off x="488551" y="2743200"/>
            <a:ext cx="512064" cy="394613"/>
          </a:xfrm>
          <a:prstGeom prst="rect">
            <a:avLst/>
          </a:prstGeom>
          <a:noFill/>
          <a:ln/>
        </p:spPr>
        <p:txBody>
          <a:bodyPr wrap="square" lIns="0" tIns="0" rIns="0" bIns="0" rtlCol="0" anchor="ctr"/>
          <a:lstStyle/>
          <a:p>
            <a:pPr algn="ctr" indent="0" marL="0">
              <a:buNone/>
            </a:pPr>
            <a:r>
              <a:rPr lang="en-US" sz="700" dirty="0">
                <a:solidFill>
                  <a:srgbClr val="0B2D5B"/>
                </a:solidFill>
                <a:latin typeface="맑은 고딕" pitchFamily="34" charset="0"/>
                <a:ea typeface="맑은 고딕" pitchFamily="34" charset="-122"/>
                <a:cs typeface="맑은 고딕" pitchFamily="34" charset="-120"/>
              </a:rPr>
              <a:t>10,107</a:t>
            </a:r>
            <a:endParaRPr lang="en-US" sz="700" dirty="0"/>
          </a:p>
        </p:txBody>
      </p:sp>
      <p:sp>
        <p:nvSpPr>
          <p:cNvPr id="40" name="Text 38"/>
          <p:cNvSpPr/>
          <p:nvPr/>
        </p:nvSpPr>
        <p:spPr>
          <a:xfrm>
            <a:off x="424543" y="2587752"/>
            <a:ext cx="640080" cy="146304"/>
          </a:xfrm>
          <a:prstGeom prst="rect">
            <a:avLst/>
          </a:prstGeom>
          <a:noFill/>
          <a:ln/>
        </p:spPr>
        <p:txBody>
          <a:bodyPr wrap="square" lIns="0" tIns="0" rIns="0" bIns="0" rtlCol="0" anchor="ctr"/>
          <a:lstStyle/>
          <a:p>
            <a:pPr algn="ctr" indent="0" marL="0">
              <a:buNone/>
            </a:pPr>
            <a:r>
              <a:rPr lang="en-US" sz="800" b="1" dirty="0">
                <a:solidFill>
                  <a:srgbClr val="C2410C"/>
                </a:solidFill>
                <a:latin typeface="맑은 고딕" pitchFamily="34" charset="0"/>
                <a:ea typeface="맑은 고딕" pitchFamily="34" charset="-122"/>
                <a:cs typeface="맑은 고딕" pitchFamily="34" charset="-120"/>
              </a:rPr>
              <a:t>28,104</a:t>
            </a:r>
            <a:endParaRPr lang="en-US" sz="800" dirty="0"/>
          </a:p>
        </p:txBody>
      </p:sp>
      <p:sp>
        <p:nvSpPr>
          <p:cNvPr id="41" name="Text 39"/>
          <p:cNvSpPr/>
          <p:nvPr/>
        </p:nvSpPr>
        <p:spPr>
          <a:xfrm>
            <a:off x="411480" y="3858768"/>
            <a:ext cx="666206" cy="146304"/>
          </a:xfrm>
          <a:prstGeom prst="rect">
            <a:avLst/>
          </a:prstGeom>
          <a:noFill/>
          <a:ln/>
        </p:spPr>
        <p:txBody>
          <a:bodyPr wrap="square" lIns="0" tIns="0" rIns="0" bIns="0" rtlCol="0" anchor="ctr"/>
          <a:lstStyle/>
          <a:p>
            <a:pPr algn="ctr" indent="0" marL="0">
              <a:buNone/>
            </a:pPr>
            <a:r>
              <a:rPr lang="en-US" sz="800" b="1" dirty="0">
                <a:solidFill>
                  <a:srgbClr val="222222"/>
                </a:solidFill>
                <a:latin typeface="맑은 고딕" pitchFamily="34" charset="0"/>
                <a:ea typeface="맑은 고딕" pitchFamily="34" charset="-122"/>
                <a:cs typeface="맑은 고딕" pitchFamily="34" charset="-120"/>
              </a:rPr>
              <a:t>'24.E</a:t>
            </a:r>
            <a:endParaRPr lang="en-US" sz="800" dirty="0"/>
          </a:p>
        </p:txBody>
      </p:sp>
      <p:sp>
        <p:nvSpPr>
          <p:cNvPr id="42" name="Shape 40"/>
          <p:cNvSpPr/>
          <p:nvPr/>
        </p:nvSpPr>
        <p:spPr>
          <a:xfrm>
            <a:off x="1200477" y="3203836"/>
            <a:ext cx="420624" cy="636644"/>
          </a:xfrm>
          <a:prstGeom prst="rect">
            <a:avLst/>
          </a:prstGeom>
          <a:solidFill>
            <a:srgbClr val="0B2D5B"/>
          </a:solidFill>
          <a:ln w="6350">
            <a:solidFill>
              <a:srgbClr val="FFFFFF"/>
            </a:solidFill>
            <a:prstDash val="solid"/>
          </a:ln>
        </p:spPr>
      </p:sp>
      <p:sp>
        <p:nvSpPr>
          <p:cNvPr id="43" name="Text 41"/>
          <p:cNvSpPr/>
          <p:nvPr/>
        </p:nvSpPr>
        <p:spPr>
          <a:xfrm>
            <a:off x="1154757" y="3203836"/>
            <a:ext cx="512064" cy="636644"/>
          </a:xfrm>
          <a:prstGeom prst="rect">
            <a:avLst/>
          </a:prstGeom>
          <a:noFill/>
          <a:ln/>
        </p:spPr>
        <p:txBody>
          <a:bodyPr wrap="square" lIns="0" tIns="0" rIns="0" bIns="0" rtlCol="0" anchor="ctr"/>
          <a:lstStyle/>
          <a:p>
            <a:pPr algn="ctr" indent="0" marL="0">
              <a:buNone/>
            </a:pPr>
            <a:r>
              <a:rPr lang="en-US" sz="700" dirty="0">
                <a:solidFill>
                  <a:srgbClr val="FFFFFF"/>
                </a:solidFill>
                <a:latin typeface="맑은 고딕" pitchFamily="34" charset="0"/>
                <a:ea typeface="맑은 고딕" pitchFamily="34" charset="-122"/>
                <a:cs typeface="맑은 고딕" pitchFamily="34" charset="-120"/>
              </a:rPr>
              <a:t>16,306</a:t>
            </a:r>
            <a:endParaRPr lang="en-US" sz="700" dirty="0"/>
          </a:p>
        </p:txBody>
      </p:sp>
      <p:sp>
        <p:nvSpPr>
          <p:cNvPr id="44" name="Shape 42"/>
          <p:cNvSpPr/>
          <p:nvPr/>
        </p:nvSpPr>
        <p:spPr>
          <a:xfrm>
            <a:off x="1200477" y="3148121"/>
            <a:ext cx="420624" cy="55715"/>
          </a:xfrm>
          <a:prstGeom prst="rect">
            <a:avLst/>
          </a:prstGeom>
          <a:solidFill>
            <a:srgbClr val="8FB3E0"/>
          </a:solidFill>
          <a:ln w="6350">
            <a:solidFill>
              <a:srgbClr val="FFFFFF"/>
            </a:solidFill>
            <a:prstDash val="solid"/>
          </a:ln>
        </p:spPr>
      </p:sp>
      <p:sp>
        <p:nvSpPr>
          <p:cNvPr id="45" name="Shape 43"/>
          <p:cNvSpPr/>
          <p:nvPr/>
        </p:nvSpPr>
        <p:spPr>
          <a:xfrm>
            <a:off x="1200477" y="2759013"/>
            <a:ext cx="420624" cy="389108"/>
          </a:xfrm>
          <a:prstGeom prst="rect">
            <a:avLst/>
          </a:prstGeom>
          <a:solidFill>
            <a:srgbClr val="C9D1DB"/>
          </a:solidFill>
          <a:ln w="6350">
            <a:solidFill>
              <a:srgbClr val="FFFFFF"/>
            </a:solidFill>
            <a:prstDash val="solid"/>
          </a:ln>
        </p:spPr>
      </p:sp>
      <p:sp>
        <p:nvSpPr>
          <p:cNvPr id="46" name="Text 44"/>
          <p:cNvSpPr/>
          <p:nvPr/>
        </p:nvSpPr>
        <p:spPr>
          <a:xfrm>
            <a:off x="1154757" y="2759013"/>
            <a:ext cx="512064" cy="389108"/>
          </a:xfrm>
          <a:prstGeom prst="rect">
            <a:avLst/>
          </a:prstGeom>
          <a:noFill/>
          <a:ln/>
        </p:spPr>
        <p:txBody>
          <a:bodyPr wrap="square" lIns="0" tIns="0" rIns="0" bIns="0" rtlCol="0" anchor="ctr"/>
          <a:lstStyle/>
          <a:p>
            <a:pPr algn="ctr" indent="0" marL="0">
              <a:buNone/>
            </a:pPr>
            <a:r>
              <a:rPr lang="en-US" sz="700" dirty="0">
                <a:solidFill>
                  <a:srgbClr val="0B2D5B"/>
                </a:solidFill>
                <a:latin typeface="맑은 고딕" pitchFamily="34" charset="0"/>
                <a:ea typeface="맑은 고딕" pitchFamily="34" charset="-122"/>
                <a:cs typeface="맑은 고딕" pitchFamily="34" charset="-120"/>
              </a:rPr>
              <a:t>9,966</a:t>
            </a:r>
            <a:endParaRPr lang="en-US" sz="700" dirty="0"/>
          </a:p>
        </p:txBody>
      </p:sp>
      <p:sp>
        <p:nvSpPr>
          <p:cNvPr id="47" name="Text 45"/>
          <p:cNvSpPr/>
          <p:nvPr/>
        </p:nvSpPr>
        <p:spPr>
          <a:xfrm>
            <a:off x="1090749" y="2603565"/>
            <a:ext cx="640080" cy="146304"/>
          </a:xfrm>
          <a:prstGeom prst="rect">
            <a:avLst/>
          </a:prstGeom>
          <a:noFill/>
          <a:ln/>
        </p:spPr>
        <p:txBody>
          <a:bodyPr wrap="square" lIns="0" tIns="0" rIns="0" bIns="0" rtlCol="0" anchor="ctr"/>
          <a:lstStyle/>
          <a:p>
            <a:pPr algn="ctr" indent="0" marL="0">
              <a:buNone/>
            </a:pPr>
            <a:r>
              <a:rPr lang="en-US" sz="800" b="1" dirty="0">
                <a:solidFill>
                  <a:srgbClr val="0B2D5B"/>
                </a:solidFill>
                <a:latin typeface="맑은 고딕" pitchFamily="34" charset="0"/>
                <a:ea typeface="맑은 고딕" pitchFamily="34" charset="-122"/>
                <a:cs typeface="맑은 고딕" pitchFamily="34" charset="-120"/>
              </a:rPr>
              <a:t>27,699</a:t>
            </a:r>
            <a:endParaRPr lang="en-US" sz="800" dirty="0"/>
          </a:p>
        </p:txBody>
      </p:sp>
      <p:sp>
        <p:nvSpPr>
          <p:cNvPr id="48" name="Text 46"/>
          <p:cNvSpPr/>
          <p:nvPr/>
        </p:nvSpPr>
        <p:spPr>
          <a:xfrm>
            <a:off x="1077686" y="3858768"/>
            <a:ext cx="666206" cy="146304"/>
          </a:xfrm>
          <a:prstGeom prst="rect">
            <a:avLst/>
          </a:prstGeom>
          <a:noFill/>
          <a:ln/>
        </p:spPr>
        <p:txBody>
          <a:bodyPr wrap="square" lIns="0" tIns="0" rIns="0" bIns="0" rtlCol="0" anchor="ct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'25.E</a:t>
            </a:r>
            <a:endParaRPr lang="en-US" sz="800" dirty="0"/>
          </a:p>
        </p:txBody>
      </p:sp>
      <p:sp>
        <p:nvSpPr>
          <p:cNvPr id="49" name="Shape 47"/>
          <p:cNvSpPr/>
          <p:nvPr/>
        </p:nvSpPr>
        <p:spPr>
          <a:xfrm>
            <a:off x="1866682" y="3158155"/>
            <a:ext cx="420624" cy="682325"/>
          </a:xfrm>
          <a:prstGeom prst="rect">
            <a:avLst/>
          </a:prstGeom>
          <a:solidFill>
            <a:srgbClr val="0B2D5B"/>
          </a:solidFill>
          <a:ln w="6350">
            <a:solidFill>
              <a:srgbClr val="FFFFFF"/>
            </a:solidFill>
            <a:prstDash val="solid"/>
          </a:ln>
        </p:spPr>
      </p:sp>
      <p:sp>
        <p:nvSpPr>
          <p:cNvPr id="50" name="Text 48"/>
          <p:cNvSpPr/>
          <p:nvPr/>
        </p:nvSpPr>
        <p:spPr>
          <a:xfrm>
            <a:off x="1820962" y="3158155"/>
            <a:ext cx="512064" cy="682325"/>
          </a:xfrm>
          <a:prstGeom prst="rect">
            <a:avLst/>
          </a:prstGeom>
          <a:noFill/>
          <a:ln/>
        </p:spPr>
        <p:txBody>
          <a:bodyPr wrap="square" lIns="0" tIns="0" rIns="0" bIns="0" rtlCol="0" anchor="ctr"/>
          <a:lstStyle/>
          <a:p>
            <a:pPr algn="ctr" indent="0" marL="0">
              <a:buNone/>
            </a:pPr>
            <a:r>
              <a:rPr lang="en-US" sz="700" dirty="0">
                <a:solidFill>
                  <a:srgbClr val="FFFFFF"/>
                </a:solidFill>
                <a:latin typeface="맑은 고딕" pitchFamily="34" charset="0"/>
                <a:ea typeface="맑은 고딕" pitchFamily="34" charset="-122"/>
                <a:cs typeface="맑은 고딕" pitchFamily="34" charset="-120"/>
              </a:rPr>
              <a:t>17,476</a:t>
            </a:r>
            <a:endParaRPr lang="en-US" sz="700" dirty="0"/>
          </a:p>
        </p:txBody>
      </p:sp>
      <p:sp>
        <p:nvSpPr>
          <p:cNvPr id="51" name="Shape 49"/>
          <p:cNvSpPr/>
          <p:nvPr/>
        </p:nvSpPr>
        <p:spPr>
          <a:xfrm>
            <a:off x="1866682" y="3087798"/>
            <a:ext cx="420624" cy="70356"/>
          </a:xfrm>
          <a:prstGeom prst="rect">
            <a:avLst/>
          </a:prstGeom>
          <a:solidFill>
            <a:srgbClr val="8FB3E0"/>
          </a:solidFill>
          <a:ln w="6350">
            <a:solidFill>
              <a:srgbClr val="FFFFFF"/>
            </a:solidFill>
            <a:prstDash val="solid"/>
          </a:ln>
        </p:spPr>
      </p:sp>
      <p:sp>
        <p:nvSpPr>
          <p:cNvPr id="52" name="Shape 50"/>
          <p:cNvSpPr/>
          <p:nvPr/>
        </p:nvSpPr>
        <p:spPr>
          <a:xfrm>
            <a:off x="1866682" y="2770374"/>
            <a:ext cx="420624" cy="317424"/>
          </a:xfrm>
          <a:prstGeom prst="rect">
            <a:avLst/>
          </a:prstGeom>
          <a:solidFill>
            <a:srgbClr val="C9D1DB"/>
          </a:solidFill>
          <a:ln w="6350">
            <a:solidFill>
              <a:srgbClr val="FFFFFF"/>
            </a:solidFill>
            <a:prstDash val="solid"/>
          </a:ln>
        </p:spPr>
      </p:sp>
      <p:sp>
        <p:nvSpPr>
          <p:cNvPr id="53" name="Text 51"/>
          <p:cNvSpPr/>
          <p:nvPr/>
        </p:nvSpPr>
        <p:spPr>
          <a:xfrm>
            <a:off x="1820962" y="2770374"/>
            <a:ext cx="512064" cy="317424"/>
          </a:xfrm>
          <a:prstGeom prst="rect">
            <a:avLst/>
          </a:prstGeom>
          <a:noFill/>
          <a:ln/>
        </p:spPr>
        <p:txBody>
          <a:bodyPr wrap="square" lIns="0" tIns="0" rIns="0" bIns="0" rtlCol="0" anchor="ctr"/>
          <a:lstStyle/>
          <a:p>
            <a:pPr algn="ctr" indent="0" marL="0">
              <a:buNone/>
            </a:pPr>
            <a:r>
              <a:rPr lang="en-US" sz="700" dirty="0">
                <a:solidFill>
                  <a:srgbClr val="0B2D5B"/>
                </a:solidFill>
                <a:latin typeface="맑은 고딕" pitchFamily="34" charset="0"/>
                <a:ea typeface="맑은 고딕" pitchFamily="34" charset="-122"/>
                <a:cs typeface="맑은 고딕" pitchFamily="34" charset="-120"/>
              </a:rPr>
              <a:t>8,130</a:t>
            </a:r>
            <a:endParaRPr lang="en-US" sz="700" dirty="0"/>
          </a:p>
        </p:txBody>
      </p:sp>
      <p:sp>
        <p:nvSpPr>
          <p:cNvPr id="54" name="Text 52"/>
          <p:cNvSpPr/>
          <p:nvPr/>
        </p:nvSpPr>
        <p:spPr>
          <a:xfrm>
            <a:off x="1756954" y="2614926"/>
            <a:ext cx="640080" cy="146304"/>
          </a:xfrm>
          <a:prstGeom prst="rect">
            <a:avLst/>
          </a:prstGeom>
          <a:noFill/>
          <a:ln/>
        </p:spPr>
        <p:txBody>
          <a:bodyPr wrap="square" lIns="0" tIns="0" rIns="0" bIns="0" rtlCol="0" anchor="ctr"/>
          <a:lstStyle/>
          <a:p>
            <a:pPr algn="ctr" indent="0" marL="0">
              <a:buNone/>
            </a:pPr>
            <a:r>
              <a:rPr lang="en-US" sz="800" b="1" dirty="0">
                <a:solidFill>
                  <a:srgbClr val="0B2D5B"/>
                </a:solidFill>
                <a:latin typeface="맑은 고딕" pitchFamily="34" charset="0"/>
                <a:ea typeface="맑은 고딕" pitchFamily="34" charset="-122"/>
                <a:cs typeface="맑은 고딕" pitchFamily="34" charset="-120"/>
              </a:rPr>
              <a:t>27,408</a:t>
            </a:r>
            <a:endParaRPr lang="en-US" sz="800" dirty="0"/>
          </a:p>
        </p:txBody>
      </p:sp>
      <p:sp>
        <p:nvSpPr>
          <p:cNvPr id="55" name="Text 53"/>
          <p:cNvSpPr/>
          <p:nvPr/>
        </p:nvSpPr>
        <p:spPr>
          <a:xfrm>
            <a:off x="1743891" y="3858768"/>
            <a:ext cx="666206" cy="146304"/>
          </a:xfrm>
          <a:prstGeom prst="rect">
            <a:avLst/>
          </a:prstGeom>
          <a:noFill/>
          <a:ln/>
        </p:spPr>
        <p:txBody>
          <a:bodyPr wrap="square" lIns="0" tIns="0" rIns="0" bIns="0" rtlCol="0" anchor="ct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'26.E</a:t>
            </a:r>
            <a:endParaRPr lang="en-US" sz="800" dirty="0"/>
          </a:p>
        </p:txBody>
      </p:sp>
      <p:sp>
        <p:nvSpPr>
          <p:cNvPr id="56" name="Shape 54"/>
          <p:cNvSpPr/>
          <p:nvPr/>
        </p:nvSpPr>
        <p:spPr>
          <a:xfrm>
            <a:off x="2532888" y="3027906"/>
            <a:ext cx="420624" cy="812574"/>
          </a:xfrm>
          <a:prstGeom prst="rect">
            <a:avLst/>
          </a:prstGeom>
          <a:solidFill>
            <a:srgbClr val="0B2D5B"/>
          </a:solidFill>
          <a:ln w="6350">
            <a:solidFill>
              <a:srgbClr val="FFFFFF"/>
            </a:solidFill>
            <a:prstDash val="solid"/>
          </a:ln>
        </p:spPr>
      </p:sp>
      <p:sp>
        <p:nvSpPr>
          <p:cNvPr id="57" name="Text 55"/>
          <p:cNvSpPr/>
          <p:nvPr/>
        </p:nvSpPr>
        <p:spPr>
          <a:xfrm>
            <a:off x="2487168" y="3027906"/>
            <a:ext cx="512064" cy="812574"/>
          </a:xfrm>
          <a:prstGeom prst="rect">
            <a:avLst/>
          </a:prstGeom>
          <a:noFill/>
          <a:ln/>
        </p:spPr>
        <p:txBody>
          <a:bodyPr wrap="square" lIns="0" tIns="0" rIns="0" bIns="0" rtlCol="0" anchor="ctr"/>
          <a:lstStyle/>
          <a:p>
            <a:pPr algn="ctr" indent="0" marL="0">
              <a:buNone/>
            </a:pPr>
            <a:r>
              <a:rPr lang="en-US" sz="700" dirty="0">
                <a:solidFill>
                  <a:srgbClr val="FFFFFF"/>
                </a:solidFill>
                <a:latin typeface="맑은 고딕" pitchFamily="34" charset="0"/>
                <a:ea typeface="맑은 고딕" pitchFamily="34" charset="-122"/>
                <a:cs typeface="맑은 고딕" pitchFamily="34" charset="-120"/>
              </a:rPr>
              <a:t>20,812</a:t>
            </a:r>
            <a:endParaRPr lang="en-US" sz="700" dirty="0"/>
          </a:p>
        </p:txBody>
      </p:sp>
      <p:sp>
        <p:nvSpPr>
          <p:cNvPr id="58" name="Shape 56"/>
          <p:cNvSpPr/>
          <p:nvPr/>
        </p:nvSpPr>
        <p:spPr>
          <a:xfrm>
            <a:off x="2532888" y="2944938"/>
            <a:ext cx="420624" cy="82968"/>
          </a:xfrm>
          <a:prstGeom prst="rect">
            <a:avLst/>
          </a:prstGeom>
          <a:solidFill>
            <a:srgbClr val="8FB3E0"/>
          </a:solidFill>
          <a:ln w="6350">
            <a:solidFill>
              <a:srgbClr val="FFFFFF"/>
            </a:solidFill>
            <a:prstDash val="solid"/>
          </a:ln>
        </p:spPr>
      </p:sp>
      <p:sp>
        <p:nvSpPr>
          <p:cNvPr id="59" name="Shape 57"/>
          <p:cNvSpPr/>
          <p:nvPr/>
        </p:nvSpPr>
        <p:spPr>
          <a:xfrm>
            <a:off x="2532888" y="2803210"/>
            <a:ext cx="420624" cy="141728"/>
          </a:xfrm>
          <a:prstGeom prst="rect">
            <a:avLst/>
          </a:prstGeom>
          <a:solidFill>
            <a:srgbClr val="C9D1DB"/>
          </a:solidFill>
          <a:ln w="6350">
            <a:solidFill>
              <a:srgbClr val="FFFFFF"/>
            </a:solidFill>
            <a:prstDash val="solid"/>
          </a:ln>
        </p:spPr>
      </p:sp>
      <p:sp>
        <p:nvSpPr>
          <p:cNvPr id="60" name="Text 58"/>
          <p:cNvSpPr/>
          <p:nvPr/>
        </p:nvSpPr>
        <p:spPr>
          <a:xfrm>
            <a:off x="2487168" y="2803210"/>
            <a:ext cx="512064" cy="141728"/>
          </a:xfrm>
          <a:prstGeom prst="rect">
            <a:avLst/>
          </a:prstGeom>
          <a:noFill/>
          <a:ln/>
        </p:spPr>
        <p:txBody>
          <a:bodyPr wrap="square" lIns="0" tIns="0" rIns="0" bIns="0" rtlCol="0" anchor="ctr"/>
          <a:lstStyle/>
          <a:p>
            <a:pPr algn="ctr" indent="0" marL="0">
              <a:buNone/>
            </a:pPr>
            <a:r>
              <a:rPr lang="en-US" sz="700" dirty="0">
                <a:solidFill>
                  <a:srgbClr val="0B2D5B"/>
                </a:solidFill>
                <a:latin typeface="맑은 고딕" pitchFamily="34" charset="0"/>
                <a:ea typeface="맑은 고딕" pitchFamily="34" charset="-122"/>
                <a:cs typeface="맑은 고딕" pitchFamily="34" charset="-120"/>
              </a:rPr>
              <a:t>3,630</a:t>
            </a:r>
            <a:endParaRPr lang="en-US" sz="700" dirty="0"/>
          </a:p>
        </p:txBody>
      </p:sp>
      <p:sp>
        <p:nvSpPr>
          <p:cNvPr id="61" name="Text 59"/>
          <p:cNvSpPr/>
          <p:nvPr/>
        </p:nvSpPr>
        <p:spPr>
          <a:xfrm>
            <a:off x="2423160" y="2647762"/>
            <a:ext cx="640080" cy="146304"/>
          </a:xfrm>
          <a:prstGeom prst="rect">
            <a:avLst/>
          </a:prstGeom>
          <a:noFill/>
          <a:ln/>
        </p:spPr>
        <p:txBody>
          <a:bodyPr wrap="square" lIns="0" tIns="0" rIns="0" bIns="0" rtlCol="0" anchor="ctr"/>
          <a:lstStyle/>
          <a:p>
            <a:pPr algn="ctr" indent="0" marL="0">
              <a:buNone/>
            </a:pPr>
            <a:r>
              <a:rPr lang="en-US" sz="800" b="1" dirty="0">
                <a:solidFill>
                  <a:srgbClr val="0B2D5B"/>
                </a:solidFill>
                <a:latin typeface="맑은 고딕" pitchFamily="34" charset="0"/>
                <a:ea typeface="맑은 고딕" pitchFamily="34" charset="-122"/>
                <a:cs typeface="맑은 고딕" pitchFamily="34" charset="-120"/>
              </a:rPr>
              <a:t>26,567</a:t>
            </a:r>
            <a:endParaRPr lang="en-US" sz="800" dirty="0"/>
          </a:p>
        </p:txBody>
      </p:sp>
      <p:sp>
        <p:nvSpPr>
          <p:cNvPr id="62" name="Text 60"/>
          <p:cNvSpPr/>
          <p:nvPr/>
        </p:nvSpPr>
        <p:spPr>
          <a:xfrm>
            <a:off x="2410097" y="3858768"/>
            <a:ext cx="666206" cy="146304"/>
          </a:xfrm>
          <a:prstGeom prst="rect">
            <a:avLst/>
          </a:prstGeom>
          <a:noFill/>
          <a:ln/>
        </p:spPr>
        <p:txBody>
          <a:bodyPr wrap="square" lIns="0" tIns="0" rIns="0" bIns="0" rtlCol="0" anchor="ct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'27.E</a:t>
            </a:r>
            <a:endParaRPr lang="en-US" sz="800" dirty="0"/>
          </a:p>
        </p:txBody>
      </p:sp>
      <p:sp>
        <p:nvSpPr>
          <p:cNvPr id="63" name="Shape 61"/>
          <p:cNvSpPr/>
          <p:nvPr/>
        </p:nvSpPr>
        <p:spPr>
          <a:xfrm>
            <a:off x="3199094" y="3085300"/>
            <a:ext cx="420624" cy="755180"/>
          </a:xfrm>
          <a:prstGeom prst="rect">
            <a:avLst/>
          </a:prstGeom>
          <a:solidFill>
            <a:srgbClr val="0B2D5B"/>
          </a:solidFill>
          <a:ln w="6350">
            <a:solidFill>
              <a:srgbClr val="FFFFFF"/>
            </a:solidFill>
            <a:prstDash val="solid"/>
          </a:ln>
        </p:spPr>
      </p:sp>
      <p:sp>
        <p:nvSpPr>
          <p:cNvPr id="64" name="Text 62"/>
          <p:cNvSpPr/>
          <p:nvPr/>
        </p:nvSpPr>
        <p:spPr>
          <a:xfrm>
            <a:off x="3153374" y="3085300"/>
            <a:ext cx="512064" cy="755180"/>
          </a:xfrm>
          <a:prstGeom prst="rect">
            <a:avLst/>
          </a:prstGeom>
          <a:noFill/>
          <a:ln/>
        </p:spPr>
        <p:txBody>
          <a:bodyPr wrap="square" lIns="0" tIns="0" rIns="0" bIns="0" rtlCol="0" anchor="ctr"/>
          <a:lstStyle/>
          <a:p>
            <a:pPr algn="ctr" indent="0" marL="0">
              <a:buNone/>
            </a:pPr>
            <a:r>
              <a:rPr lang="en-US" sz="700" dirty="0">
                <a:solidFill>
                  <a:srgbClr val="FFFFFF"/>
                </a:solidFill>
                <a:latin typeface="맑은 고딕" pitchFamily="34" charset="0"/>
                <a:ea typeface="맑은 고딕" pitchFamily="34" charset="-122"/>
                <a:cs typeface="맑은 고딕" pitchFamily="34" charset="-120"/>
              </a:rPr>
              <a:t>19,342</a:t>
            </a:r>
            <a:endParaRPr lang="en-US" sz="700" dirty="0"/>
          </a:p>
        </p:txBody>
      </p:sp>
      <p:sp>
        <p:nvSpPr>
          <p:cNvPr id="65" name="Shape 63"/>
          <p:cNvSpPr/>
          <p:nvPr/>
        </p:nvSpPr>
        <p:spPr>
          <a:xfrm>
            <a:off x="3199094" y="2995343"/>
            <a:ext cx="420624" cy="89956"/>
          </a:xfrm>
          <a:prstGeom prst="rect">
            <a:avLst/>
          </a:prstGeom>
          <a:solidFill>
            <a:srgbClr val="8FB3E0"/>
          </a:solidFill>
          <a:ln w="6350">
            <a:solidFill>
              <a:srgbClr val="FFFFFF"/>
            </a:solidFill>
            <a:prstDash val="solid"/>
          </a:ln>
        </p:spPr>
      </p:sp>
      <p:sp>
        <p:nvSpPr>
          <p:cNvPr id="66" name="Shape 64"/>
          <p:cNvSpPr/>
          <p:nvPr/>
        </p:nvSpPr>
        <p:spPr>
          <a:xfrm>
            <a:off x="3199094" y="2856465"/>
            <a:ext cx="420624" cy="138878"/>
          </a:xfrm>
          <a:prstGeom prst="rect">
            <a:avLst/>
          </a:prstGeom>
          <a:solidFill>
            <a:srgbClr val="C9D1DB"/>
          </a:solidFill>
          <a:ln w="6350">
            <a:solidFill>
              <a:srgbClr val="FFFFFF"/>
            </a:solidFill>
            <a:prstDash val="solid"/>
          </a:ln>
        </p:spPr>
      </p:sp>
      <p:sp>
        <p:nvSpPr>
          <p:cNvPr id="67" name="Text 65"/>
          <p:cNvSpPr/>
          <p:nvPr/>
        </p:nvSpPr>
        <p:spPr>
          <a:xfrm>
            <a:off x="3153374" y="2856465"/>
            <a:ext cx="512064" cy="138878"/>
          </a:xfrm>
          <a:prstGeom prst="rect">
            <a:avLst/>
          </a:prstGeom>
          <a:noFill/>
          <a:ln/>
        </p:spPr>
        <p:txBody>
          <a:bodyPr wrap="square" lIns="0" tIns="0" rIns="0" bIns="0" rtlCol="0" anchor="ctr"/>
          <a:lstStyle/>
          <a:p>
            <a:pPr algn="ctr" indent="0" marL="0">
              <a:buNone/>
            </a:pPr>
            <a:r>
              <a:rPr lang="en-US" sz="700" dirty="0">
                <a:solidFill>
                  <a:srgbClr val="0B2D5B"/>
                </a:solidFill>
                <a:latin typeface="맑은 고딕" pitchFamily="34" charset="0"/>
                <a:ea typeface="맑은 고딕" pitchFamily="34" charset="-122"/>
                <a:cs typeface="맑은 고딕" pitchFamily="34" charset="-120"/>
              </a:rPr>
              <a:t>3,557</a:t>
            </a:r>
            <a:endParaRPr lang="en-US" sz="700" dirty="0"/>
          </a:p>
        </p:txBody>
      </p:sp>
      <p:sp>
        <p:nvSpPr>
          <p:cNvPr id="68" name="Text 66"/>
          <p:cNvSpPr/>
          <p:nvPr/>
        </p:nvSpPr>
        <p:spPr>
          <a:xfrm>
            <a:off x="3089366" y="2701017"/>
            <a:ext cx="640080" cy="146304"/>
          </a:xfrm>
          <a:prstGeom prst="rect">
            <a:avLst/>
          </a:prstGeom>
          <a:noFill/>
          <a:ln/>
        </p:spPr>
        <p:txBody>
          <a:bodyPr wrap="square" lIns="0" tIns="0" rIns="0" bIns="0" rtlCol="0" anchor="ctr"/>
          <a:lstStyle/>
          <a:p>
            <a:pPr algn="ctr" indent="0" marL="0">
              <a:buNone/>
            </a:pPr>
            <a:r>
              <a:rPr lang="en-US" sz="800" b="1" dirty="0">
                <a:solidFill>
                  <a:srgbClr val="0B2D5B"/>
                </a:solidFill>
                <a:latin typeface="맑은 고딕" pitchFamily="34" charset="0"/>
                <a:ea typeface="맑은 고딕" pitchFamily="34" charset="-122"/>
                <a:cs typeface="맑은 고딕" pitchFamily="34" charset="-120"/>
              </a:rPr>
              <a:t>25,203</a:t>
            </a:r>
            <a:endParaRPr lang="en-US" sz="800" dirty="0"/>
          </a:p>
        </p:txBody>
      </p:sp>
      <p:sp>
        <p:nvSpPr>
          <p:cNvPr id="69" name="Text 67"/>
          <p:cNvSpPr/>
          <p:nvPr/>
        </p:nvSpPr>
        <p:spPr>
          <a:xfrm>
            <a:off x="3076303" y="3858768"/>
            <a:ext cx="666206" cy="146304"/>
          </a:xfrm>
          <a:prstGeom prst="rect">
            <a:avLst/>
          </a:prstGeom>
          <a:noFill/>
          <a:ln/>
        </p:spPr>
        <p:txBody>
          <a:bodyPr wrap="square" lIns="0" tIns="0" rIns="0" bIns="0" rtlCol="0" anchor="ct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'28.E</a:t>
            </a:r>
            <a:endParaRPr lang="en-US" sz="800" dirty="0"/>
          </a:p>
        </p:txBody>
      </p:sp>
      <p:sp>
        <p:nvSpPr>
          <p:cNvPr id="70" name="Shape 68"/>
          <p:cNvSpPr/>
          <p:nvPr/>
        </p:nvSpPr>
        <p:spPr>
          <a:xfrm>
            <a:off x="3865299" y="3130668"/>
            <a:ext cx="420624" cy="709812"/>
          </a:xfrm>
          <a:prstGeom prst="rect">
            <a:avLst/>
          </a:prstGeom>
          <a:solidFill>
            <a:srgbClr val="0B2D5B"/>
          </a:solidFill>
          <a:ln w="6350">
            <a:solidFill>
              <a:srgbClr val="FFFFFF"/>
            </a:solidFill>
            <a:prstDash val="solid"/>
          </a:ln>
        </p:spPr>
      </p:sp>
      <p:sp>
        <p:nvSpPr>
          <p:cNvPr id="71" name="Text 69"/>
          <p:cNvSpPr/>
          <p:nvPr/>
        </p:nvSpPr>
        <p:spPr>
          <a:xfrm>
            <a:off x="3819579" y="3130668"/>
            <a:ext cx="512064" cy="709812"/>
          </a:xfrm>
          <a:prstGeom prst="rect">
            <a:avLst/>
          </a:prstGeom>
          <a:noFill/>
          <a:ln/>
        </p:spPr>
        <p:txBody>
          <a:bodyPr wrap="square" lIns="0" tIns="0" rIns="0" bIns="0" rtlCol="0" anchor="ctr"/>
          <a:lstStyle/>
          <a:p>
            <a:pPr algn="ctr" indent="0" marL="0">
              <a:buNone/>
            </a:pPr>
            <a:r>
              <a:rPr lang="en-US" sz="700" dirty="0">
                <a:solidFill>
                  <a:srgbClr val="FFFFFF"/>
                </a:solidFill>
                <a:latin typeface="맑은 고딕" pitchFamily="34" charset="0"/>
                <a:ea typeface="맑은 고딕" pitchFamily="34" charset="-122"/>
                <a:cs typeface="맑은 고딕" pitchFamily="34" charset="-120"/>
              </a:rPr>
              <a:t>18,180</a:t>
            </a:r>
            <a:endParaRPr lang="en-US" sz="700" dirty="0"/>
          </a:p>
        </p:txBody>
      </p:sp>
      <p:sp>
        <p:nvSpPr>
          <p:cNvPr id="72" name="Shape 70"/>
          <p:cNvSpPr/>
          <p:nvPr/>
        </p:nvSpPr>
        <p:spPr>
          <a:xfrm>
            <a:off x="3865299" y="3038838"/>
            <a:ext cx="420624" cy="91830"/>
          </a:xfrm>
          <a:prstGeom prst="rect">
            <a:avLst/>
          </a:prstGeom>
          <a:solidFill>
            <a:srgbClr val="8FB3E0"/>
          </a:solidFill>
          <a:ln w="6350">
            <a:solidFill>
              <a:srgbClr val="FFFFFF"/>
            </a:solidFill>
            <a:prstDash val="solid"/>
          </a:ln>
        </p:spPr>
      </p:sp>
      <p:sp>
        <p:nvSpPr>
          <p:cNvPr id="73" name="Shape 71"/>
          <p:cNvSpPr/>
          <p:nvPr/>
        </p:nvSpPr>
        <p:spPr>
          <a:xfrm>
            <a:off x="3865299" y="2900038"/>
            <a:ext cx="420624" cy="138800"/>
          </a:xfrm>
          <a:prstGeom prst="rect">
            <a:avLst/>
          </a:prstGeom>
          <a:solidFill>
            <a:srgbClr val="C9D1DB"/>
          </a:solidFill>
          <a:ln w="6350">
            <a:solidFill>
              <a:srgbClr val="FFFFFF"/>
            </a:solidFill>
            <a:prstDash val="solid"/>
          </a:ln>
        </p:spPr>
      </p:sp>
      <p:sp>
        <p:nvSpPr>
          <p:cNvPr id="74" name="Text 72"/>
          <p:cNvSpPr/>
          <p:nvPr/>
        </p:nvSpPr>
        <p:spPr>
          <a:xfrm>
            <a:off x="3819579" y="2900038"/>
            <a:ext cx="512064" cy="138800"/>
          </a:xfrm>
          <a:prstGeom prst="rect">
            <a:avLst/>
          </a:prstGeom>
          <a:noFill/>
          <a:ln/>
        </p:spPr>
        <p:txBody>
          <a:bodyPr wrap="square" lIns="0" tIns="0" rIns="0" bIns="0" rtlCol="0" anchor="ctr"/>
          <a:lstStyle/>
          <a:p>
            <a:pPr algn="ctr" indent="0" marL="0">
              <a:buNone/>
            </a:pPr>
            <a:r>
              <a:rPr lang="en-US" sz="700" dirty="0">
                <a:solidFill>
                  <a:srgbClr val="0B2D5B"/>
                </a:solidFill>
                <a:latin typeface="맑은 고딕" pitchFamily="34" charset="0"/>
                <a:ea typeface="맑은 고딕" pitchFamily="34" charset="-122"/>
                <a:cs typeface="맑은 고딕" pitchFamily="34" charset="-120"/>
              </a:rPr>
              <a:t>3,555</a:t>
            </a:r>
            <a:endParaRPr lang="en-US" sz="700" dirty="0"/>
          </a:p>
        </p:txBody>
      </p:sp>
      <p:sp>
        <p:nvSpPr>
          <p:cNvPr id="75" name="Text 73"/>
          <p:cNvSpPr/>
          <p:nvPr/>
        </p:nvSpPr>
        <p:spPr>
          <a:xfrm>
            <a:off x="3755571" y="2744590"/>
            <a:ext cx="640080" cy="146304"/>
          </a:xfrm>
          <a:prstGeom prst="rect">
            <a:avLst/>
          </a:prstGeom>
          <a:noFill/>
          <a:ln/>
        </p:spPr>
        <p:txBody>
          <a:bodyPr wrap="square" lIns="0" tIns="0" rIns="0" bIns="0" rtlCol="0" anchor="ctr"/>
          <a:lstStyle/>
          <a:p>
            <a:pPr algn="ctr" indent="0" marL="0">
              <a:buNone/>
            </a:pPr>
            <a:r>
              <a:rPr lang="en-US" sz="800" b="1" dirty="0">
                <a:solidFill>
                  <a:srgbClr val="0B2D5B"/>
                </a:solidFill>
                <a:latin typeface="맑은 고딕" pitchFamily="34" charset="0"/>
                <a:ea typeface="맑은 고딕" pitchFamily="34" charset="-122"/>
                <a:cs typeface="맑은 고딕" pitchFamily="34" charset="-120"/>
              </a:rPr>
              <a:t>24,087</a:t>
            </a:r>
            <a:endParaRPr lang="en-US" sz="800" dirty="0"/>
          </a:p>
        </p:txBody>
      </p:sp>
      <p:sp>
        <p:nvSpPr>
          <p:cNvPr id="76" name="Text 74"/>
          <p:cNvSpPr/>
          <p:nvPr/>
        </p:nvSpPr>
        <p:spPr>
          <a:xfrm>
            <a:off x="3742509" y="3858768"/>
            <a:ext cx="666206" cy="146304"/>
          </a:xfrm>
          <a:prstGeom prst="rect">
            <a:avLst/>
          </a:prstGeom>
          <a:noFill/>
          <a:ln/>
        </p:spPr>
        <p:txBody>
          <a:bodyPr wrap="square" lIns="0" tIns="0" rIns="0" bIns="0" rtlCol="0" anchor="ct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'29.E</a:t>
            </a:r>
            <a:endParaRPr lang="en-US" sz="800" dirty="0"/>
          </a:p>
        </p:txBody>
      </p:sp>
      <p:sp>
        <p:nvSpPr>
          <p:cNvPr id="77" name="Shape 75"/>
          <p:cNvSpPr/>
          <p:nvPr/>
        </p:nvSpPr>
        <p:spPr>
          <a:xfrm>
            <a:off x="4531505" y="3185759"/>
            <a:ext cx="420624" cy="654721"/>
          </a:xfrm>
          <a:prstGeom prst="rect">
            <a:avLst/>
          </a:prstGeom>
          <a:solidFill>
            <a:srgbClr val="0B2D5B"/>
          </a:solidFill>
          <a:ln w="6350">
            <a:solidFill>
              <a:srgbClr val="FFFFFF"/>
            </a:solidFill>
            <a:prstDash val="solid"/>
          </a:ln>
        </p:spPr>
      </p:sp>
      <p:sp>
        <p:nvSpPr>
          <p:cNvPr id="78" name="Text 76"/>
          <p:cNvSpPr/>
          <p:nvPr/>
        </p:nvSpPr>
        <p:spPr>
          <a:xfrm>
            <a:off x="4485785" y="3185759"/>
            <a:ext cx="512064" cy="654721"/>
          </a:xfrm>
          <a:prstGeom prst="rect">
            <a:avLst/>
          </a:prstGeom>
          <a:noFill/>
          <a:ln/>
        </p:spPr>
        <p:txBody>
          <a:bodyPr wrap="square" lIns="0" tIns="0" rIns="0" bIns="0" rtlCol="0" anchor="ctr"/>
          <a:lstStyle/>
          <a:p>
            <a:pPr algn="ctr" indent="0" marL="0">
              <a:buNone/>
            </a:pPr>
            <a:r>
              <a:rPr lang="en-US" sz="700" dirty="0">
                <a:solidFill>
                  <a:srgbClr val="FFFFFF"/>
                </a:solidFill>
                <a:latin typeface="맑은 고딕" pitchFamily="34" charset="0"/>
                <a:ea typeface="맑은 고딕" pitchFamily="34" charset="-122"/>
                <a:cs typeface="맑은 고딕" pitchFamily="34" charset="-120"/>
              </a:rPr>
              <a:t>16,769</a:t>
            </a:r>
            <a:endParaRPr lang="en-US" sz="700" dirty="0"/>
          </a:p>
        </p:txBody>
      </p:sp>
      <p:sp>
        <p:nvSpPr>
          <p:cNvPr id="79" name="Shape 77"/>
          <p:cNvSpPr/>
          <p:nvPr/>
        </p:nvSpPr>
        <p:spPr>
          <a:xfrm>
            <a:off x="4531505" y="3101268"/>
            <a:ext cx="420624" cy="84490"/>
          </a:xfrm>
          <a:prstGeom prst="rect">
            <a:avLst/>
          </a:prstGeom>
          <a:solidFill>
            <a:srgbClr val="8FB3E0"/>
          </a:solidFill>
          <a:ln w="6350">
            <a:solidFill>
              <a:srgbClr val="FFFFFF"/>
            </a:solidFill>
            <a:prstDash val="solid"/>
          </a:ln>
        </p:spPr>
      </p:sp>
      <p:sp>
        <p:nvSpPr>
          <p:cNvPr id="80" name="Shape 78"/>
          <p:cNvSpPr/>
          <p:nvPr/>
        </p:nvSpPr>
        <p:spPr>
          <a:xfrm>
            <a:off x="4531505" y="2972503"/>
            <a:ext cx="420624" cy="128766"/>
          </a:xfrm>
          <a:prstGeom prst="rect">
            <a:avLst/>
          </a:prstGeom>
          <a:solidFill>
            <a:srgbClr val="C9D1DB"/>
          </a:solidFill>
          <a:ln w="6350">
            <a:solidFill>
              <a:srgbClr val="FFFFFF"/>
            </a:solidFill>
            <a:prstDash val="solid"/>
          </a:ln>
        </p:spPr>
      </p:sp>
      <p:sp>
        <p:nvSpPr>
          <p:cNvPr id="81" name="Text 79"/>
          <p:cNvSpPr/>
          <p:nvPr/>
        </p:nvSpPr>
        <p:spPr>
          <a:xfrm>
            <a:off x="4485785" y="2972503"/>
            <a:ext cx="512064" cy="128766"/>
          </a:xfrm>
          <a:prstGeom prst="rect">
            <a:avLst/>
          </a:prstGeom>
          <a:noFill/>
          <a:ln/>
        </p:spPr>
        <p:txBody>
          <a:bodyPr wrap="square" lIns="0" tIns="0" rIns="0" bIns="0" rtlCol="0" anchor="ctr"/>
          <a:lstStyle/>
          <a:p>
            <a:pPr algn="ctr" indent="0" marL="0">
              <a:buNone/>
            </a:pPr>
            <a:r>
              <a:rPr lang="en-US" sz="700" dirty="0">
                <a:solidFill>
                  <a:srgbClr val="0B2D5B"/>
                </a:solidFill>
                <a:latin typeface="맑은 고딕" pitchFamily="34" charset="0"/>
                <a:ea typeface="맑은 고딕" pitchFamily="34" charset="-122"/>
                <a:cs typeface="맑은 고딕" pitchFamily="34" charset="-120"/>
              </a:rPr>
              <a:t>3,298</a:t>
            </a:r>
            <a:endParaRPr lang="en-US" sz="700" dirty="0"/>
          </a:p>
        </p:txBody>
      </p:sp>
      <p:sp>
        <p:nvSpPr>
          <p:cNvPr id="82" name="Text 80"/>
          <p:cNvSpPr/>
          <p:nvPr/>
        </p:nvSpPr>
        <p:spPr>
          <a:xfrm>
            <a:off x="4421777" y="2817055"/>
            <a:ext cx="640080" cy="146304"/>
          </a:xfrm>
          <a:prstGeom prst="rect">
            <a:avLst/>
          </a:prstGeom>
          <a:noFill/>
          <a:ln/>
        </p:spPr>
        <p:txBody>
          <a:bodyPr wrap="square" lIns="0" tIns="0" rIns="0" bIns="0" rtlCol="0" anchor="ctr"/>
          <a:lstStyle/>
          <a:p>
            <a:pPr algn="ctr" indent="0" marL="0">
              <a:buNone/>
            </a:pPr>
            <a:r>
              <a:rPr lang="en-US" sz="800" b="1" dirty="0">
                <a:solidFill>
                  <a:srgbClr val="C2410C"/>
                </a:solidFill>
                <a:latin typeface="맑은 고딕" pitchFamily="34" charset="0"/>
                <a:ea typeface="맑은 고딕" pitchFamily="34" charset="-122"/>
                <a:cs typeface="맑은 고딕" pitchFamily="34" charset="-120"/>
              </a:rPr>
              <a:t>22,231</a:t>
            </a:r>
            <a:endParaRPr lang="en-US" sz="800" dirty="0"/>
          </a:p>
        </p:txBody>
      </p:sp>
      <p:sp>
        <p:nvSpPr>
          <p:cNvPr id="83" name="Text 81"/>
          <p:cNvSpPr/>
          <p:nvPr/>
        </p:nvSpPr>
        <p:spPr>
          <a:xfrm>
            <a:off x="4408714" y="3858768"/>
            <a:ext cx="666206" cy="146304"/>
          </a:xfrm>
          <a:prstGeom prst="rect">
            <a:avLst/>
          </a:prstGeom>
          <a:noFill/>
          <a:ln/>
        </p:spPr>
        <p:txBody>
          <a:bodyPr wrap="square" lIns="0" tIns="0" rIns="0" bIns="0" rtlCol="0" anchor="ctr"/>
          <a:lstStyle/>
          <a:p>
            <a:pPr algn="ctr" indent="0" marL="0">
              <a:buNone/>
            </a:pPr>
            <a:r>
              <a:rPr lang="en-US" sz="800" b="1" dirty="0">
                <a:solidFill>
                  <a:srgbClr val="222222"/>
                </a:solidFill>
                <a:latin typeface="맑은 고딕" pitchFamily="34" charset="0"/>
                <a:ea typeface="맑은 고딕" pitchFamily="34" charset="-122"/>
                <a:cs typeface="맑은 고딕" pitchFamily="34" charset="-120"/>
              </a:rPr>
              <a:t>'30.E</a:t>
            </a:r>
            <a:endParaRPr lang="en-US" sz="800" dirty="0"/>
          </a:p>
        </p:txBody>
      </p:sp>
      <p:sp>
        <p:nvSpPr>
          <p:cNvPr id="84" name="Shape 82"/>
          <p:cNvSpPr/>
          <p:nvPr/>
        </p:nvSpPr>
        <p:spPr>
          <a:xfrm>
            <a:off x="411480" y="3840480"/>
            <a:ext cx="4663440" cy="0"/>
          </a:xfrm>
          <a:prstGeom prst="line">
            <a:avLst/>
          </a:prstGeom>
          <a:noFill/>
          <a:ln w="12700">
            <a:solidFill>
              <a:srgbClr val="BFC7D2"/>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193792" y="2414016"/>
          <a:ext cx="2075688" cy="914400"/>
        </p:xfrm>
        <a:graphic>
          <a:graphicData uri="http://schemas.openxmlformats.org/drawingml/2006/table">
            <a:tbl>
              <a:tblPr/>
              <a:tblGrid>
                <a:gridCol w="676656"/>
                <a:gridCol w="457200"/>
                <a:gridCol w="457200"/>
                <a:gridCol w="484632"/>
              </a:tblGrid>
              <a:tr h="265176">
                <a:tc>
                  <a:txBody>
                    <a:bodyP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구분</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solidFill>
                      <a:srgbClr val="0B2D5B"/>
                    </a:solidFill>
                  </a:tcPr>
                </a:tc>
                <a:tc>
                  <a:txBody>
                    <a:bodyP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'24.E</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solidFill>
                      <a:srgbClr val="0B2D5B"/>
                    </a:solidFill>
                  </a:tcPr>
                </a:tc>
                <a:tc>
                  <a:txBody>
                    <a:bodyP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'30.E</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solidFill>
                      <a:srgbClr val="0B2D5B"/>
                    </a:solidFill>
                  </a:tcPr>
                </a:tc>
                <a:tc>
                  <a:txBody>
                    <a:bodyP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증감</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solidFill>
                      <a:srgbClr val="0B2D5B"/>
                    </a:solidFill>
                  </a:tcPr>
                </a:tc>
              </a:tr>
              <a:tr h="265176">
                <a:tc>
                  <a:txBody>
                    <a:bodyPr/>
                    <a:lstStyle/>
                    <a:p>
                      <a:pPr algn="l" indent="0" marL="0">
                        <a:buNone/>
                      </a:pPr>
                      <a:r>
                        <a:rPr lang="en-US" sz="800" b="1" dirty="0">
                          <a:solidFill>
                            <a:srgbClr val="222222"/>
                          </a:solidFill>
                          <a:latin typeface="맑은 고딕" pitchFamily="34" charset="0"/>
                          <a:ea typeface="맑은 고딕" pitchFamily="34" charset="-122"/>
                          <a:cs typeface="맑은 고딕" pitchFamily="34" charset="-120"/>
                        </a:rPr>
                        <a:t>직영 정규직</a:t>
                      </a:r>
                      <a:endParaRPr lang="en-US" sz="800" dirty="0">
                        <a:latin typeface="맑은 고딕" charset="0"/>
                        <a:ea typeface="맑은 고딕" charset="0"/>
                        <a:cs typeface="맑은 고딕" charset="0"/>
                      </a:endParaRPr>
                    </a:p>
                  </a:txBody>
                  <a:tcPr marL="45720" marR="36576" marT="9144" marB="9144" anchor="ctr">
                    <a:lnL w="38100" cap="flat" cmpd="sng" algn="ctr">
                      <a:solidFill>
                        <a:srgbClr val="0B2D5B"/>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16,940</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16,769</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b="1" dirty="0">
                          <a:solidFill>
                            <a:srgbClr val="C2410C"/>
                          </a:solidFill>
                          <a:latin typeface="맑은 고딕" pitchFamily="34" charset="0"/>
                          <a:ea typeface="맑은 고딕" pitchFamily="34" charset="-122"/>
                          <a:cs typeface="맑은 고딕" pitchFamily="34" charset="-120"/>
                        </a:rPr>
                        <a:t>△171</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r>
              <a:tr h="265176">
                <a:tc>
                  <a:txBody>
                    <a:bodyPr/>
                    <a:lstStyle/>
                    <a:p>
                      <a:pPr algn="l" indent="0" marL="0">
                        <a:buNone/>
                      </a:pPr>
                      <a:r>
                        <a:rPr lang="en-US" sz="800" b="1" dirty="0">
                          <a:solidFill>
                            <a:srgbClr val="222222"/>
                          </a:solidFill>
                          <a:latin typeface="맑은 고딕" pitchFamily="34" charset="0"/>
                          <a:ea typeface="맑은 고딕" pitchFamily="34" charset="-122"/>
                          <a:cs typeface="맑은 고딕" pitchFamily="34" charset="-120"/>
                        </a:rPr>
                        <a:t>직영 S직군</a:t>
                      </a:r>
                      <a:endParaRPr lang="en-US" sz="800" dirty="0">
                        <a:latin typeface="맑은 고딕" charset="0"/>
                        <a:ea typeface="맑은 고딕" charset="0"/>
                        <a:cs typeface="맑은 고딕" charset="0"/>
                      </a:endParaRPr>
                    </a:p>
                  </a:txBody>
                  <a:tcPr marL="45720" marR="36576" marT="9144" marB="9144" anchor="ctr">
                    <a:lnL w="38100" cap="flat" cmpd="sng" algn="ctr">
                      <a:solidFill>
                        <a:srgbClr val="1F5FA8"/>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gridSpan="3">
                  <a:txBody>
                    <a:bodyPr/>
                    <a:lstStyle/>
                    <a:p>
                      <a:pPr algn="ctr" indent="0" marL="0">
                        <a:buNone/>
                      </a:pPr>
                      <a:r>
                        <a:rPr lang="en-US" sz="700" dirty="0">
                          <a:solidFill>
                            <a:srgbClr val="8A94A3"/>
                          </a:solidFill>
                          <a:latin typeface="맑은 고딕" pitchFamily="34" charset="0"/>
                          <a:ea typeface="맑은 고딕" pitchFamily="34" charset="-122"/>
                          <a:cs typeface="맑은 고딕" pitchFamily="34" charset="-120"/>
                        </a:rPr>
                        <a:t>정규직 內 포함 (분리 後 반영)</a:t>
                      </a:r>
                      <a:endParaRPr lang="en-US" sz="7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hMerge="1">
                  <a:tcPr/>
                </a:tc>
                <a:tc hMerge="1">
                  <a:tcPr/>
                </a:tc>
              </a:tr>
              <a:tr h="265176">
                <a:tc>
                  <a:txBody>
                    <a:bodyPr/>
                    <a:lstStyle/>
                    <a:p>
                      <a:pPr algn="l" indent="0" marL="0">
                        <a:buNone/>
                      </a:pPr>
                      <a:r>
                        <a:rPr lang="en-US" sz="800" b="1" dirty="0">
                          <a:solidFill>
                            <a:srgbClr val="222222"/>
                          </a:solidFill>
                          <a:latin typeface="맑은 고딕" pitchFamily="34" charset="0"/>
                          <a:ea typeface="맑은 고딕" pitchFamily="34" charset="-122"/>
                          <a:cs typeface="맑은 고딕" pitchFamily="34" charset="-120"/>
                        </a:rPr>
                        <a:t>직영 계약직</a:t>
                      </a:r>
                      <a:endParaRPr lang="en-US" sz="800" dirty="0">
                        <a:latin typeface="맑은 고딕" charset="0"/>
                        <a:ea typeface="맑은 고딕" charset="0"/>
                        <a:cs typeface="맑은 고딕" charset="0"/>
                      </a:endParaRPr>
                    </a:p>
                  </a:txBody>
                  <a:tcPr marL="45720" marR="36576" marT="9144" marB="9144" anchor="ctr">
                    <a:lnL w="38100" cap="flat" cmpd="sng" algn="ctr">
                      <a:solidFill>
                        <a:srgbClr val="8FB3E0"/>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1,057</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2,164</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b="1" dirty="0">
                          <a:solidFill>
                            <a:srgbClr val="1F5FA8"/>
                          </a:solidFill>
                          <a:latin typeface="맑은 고딕" pitchFamily="34" charset="0"/>
                          <a:ea typeface="맑은 고딕" pitchFamily="34" charset="-122"/>
                          <a:cs typeface="맑은 고딕" pitchFamily="34" charset="-120"/>
                        </a:rPr>
                        <a:t>+1,107</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r>
              <a:tr h="265176">
                <a:tc>
                  <a:txBody>
                    <a:bodyPr/>
                    <a:lstStyle/>
                    <a:p>
                      <a:pPr algn="l" indent="0" marL="0">
                        <a:buNone/>
                      </a:pPr>
                      <a:r>
                        <a:rPr lang="en-US" sz="800" b="1" dirty="0">
                          <a:solidFill>
                            <a:srgbClr val="222222"/>
                          </a:solidFill>
                          <a:latin typeface="맑은 고딕" pitchFamily="34" charset="0"/>
                          <a:ea typeface="맑은 고딕" pitchFamily="34" charset="-122"/>
                          <a:cs typeface="맑은 고딕" pitchFamily="34" charset="-120"/>
                        </a:rPr>
                        <a:t>협력</a:t>
                      </a:r>
                      <a:endParaRPr lang="en-US" sz="800" dirty="0">
                        <a:latin typeface="맑은 고딕" charset="0"/>
                        <a:ea typeface="맑은 고딕" charset="0"/>
                        <a:cs typeface="맑은 고딕" charset="0"/>
                      </a:endParaRPr>
                    </a:p>
                  </a:txBody>
                  <a:tcPr marL="45720" marR="36576" marT="9144" marB="9144" anchor="ctr">
                    <a:lnL w="38100" cap="flat" cmpd="sng" algn="ctr">
                      <a:solidFill>
                        <a:srgbClr val="C9D1DB"/>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10,107</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dirty="0">
                          <a:solidFill>
                            <a:srgbClr val="222222"/>
                          </a:solidFill>
                          <a:latin typeface="맑은 고딕" pitchFamily="34" charset="0"/>
                          <a:ea typeface="맑은 고딕" pitchFamily="34" charset="-122"/>
                          <a:cs typeface="맑은 고딕" pitchFamily="34" charset="-120"/>
                        </a:rPr>
                        <a:t>3,298</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c>
                  <a:txBody>
                    <a:bodyPr/>
                    <a:lstStyle/>
                    <a:p>
                      <a:pPr algn="ctr" indent="0" marL="0">
                        <a:buNone/>
                      </a:pPr>
                      <a:r>
                        <a:rPr lang="en-US" sz="800" b="1" dirty="0">
                          <a:solidFill>
                            <a:srgbClr val="C2410C"/>
                          </a:solidFill>
                          <a:latin typeface="맑은 고딕" pitchFamily="34" charset="0"/>
                          <a:ea typeface="맑은 고딕" pitchFamily="34" charset="-122"/>
                          <a:cs typeface="맑은 고딕" pitchFamily="34" charset="-120"/>
                        </a:rPr>
                        <a:t>△6,809</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tcPr>
                </a:tc>
              </a:tr>
              <a:tr h="265176">
                <a:tc>
                  <a:txBody>
                    <a:bodyPr/>
                    <a:lstStyle/>
                    <a:p>
                      <a:pPr algn="l" indent="0" marL="0">
                        <a:buNone/>
                      </a:pPr>
                      <a:r>
                        <a:rPr lang="en-US" sz="800" b="1" dirty="0">
                          <a:solidFill>
                            <a:srgbClr val="0B2D5B"/>
                          </a:solidFill>
                          <a:latin typeface="맑은 고딕" pitchFamily="34" charset="0"/>
                          <a:ea typeface="맑은 고딕" pitchFamily="34" charset="-122"/>
                          <a:cs typeface="맑은 고딕" pitchFamily="34" charset="-120"/>
                        </a:rPr>
                        <a:t>총계</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solidFill>
                      <a:srgbClr val="D6E4F5"/>
                    </a:solidFill>
                  </a:tcPr>
                </a:tc>
                <a:tc>
                  <a:txBody>
                    <a:bodyPr/>
                    <a:lstStyle/>
                    <a:p>
                      <a:pPr algn="ctr" indent="0" marL="0">
                        <a:buNone/>
                      </a:pPr>
                      <a:r>
                        <a:rPr lang="en-US" sz="800" b="1" dirty="0">
                          <a:solidFill>
                            <a:srgbClr val="222222"/>
                          </a:solidFill>
                          <a:latin typeface="맑은 고딕" pitchFamily="34" charset="0"/>
                          <a:ea typeface="맑은 고딕" pitchFamily="34" charset="-122"/>
                          <a:cs typeface="맑은 고딕" pitchFamily="34" charset="-120"/>
                        </a:rPr>
                        <a:t>28,104</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solidFill>
                      <a:srgbClr val="D6E4F5"/>
                    </a:solidFill>
                  </a:tcPr>
                </a:tc>
                <a:tc>
                  <a:txBody>
                    <a:bodyPr/>
                    <a:lstStyle/>
                    <a:p>
                      <a:pPr algn="ctr" indent="0" marL="0">
                        <a:buNone/>
                      </a:pPr>
                      <a:r>
                        <a:rPr lang="en-US" sz="800" b="1" dirty="0">
                          <a:solidFill>
                            <a:srgbClr val="222222"/>
                          </a:solidFill>
                          <a:latin typeface="맑은 고딕" pitchFamily="34" charset="0"/>
                          <a:ea typeface="맑은 고딕" pitchFamily="34" charset="-122"/>
                          <a:cs typeface="맑은 고딕" pitchFamily="34" charset="-120"/>
                        </a:rPr>
                        <a:t>22,231</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solidFill>
                      <a:srgbClr val="D6E4F5"/>
                    </a:solidFill>
                  </a:tcPr>
                </a:tc>
                <a:tc>
                  <a:txBody>
                    <a:bodyPr/>
                    <a:lstStyle/>
                    <a:p>
                      <a:pPr algn="ctr" indent="0" marL="0">
                        <a:buNone/>
                      </a:pPr>
                      <a:r>
                        <a:rPr lang="en-US" sz="800" b="1" dirty="0">
                          <a:solidFill>
                            <a:srgbClr val="C2410C"/>
                          </a:solidFill>
                          <a:latin typeface="맑은 고딕" pitchFamily="34" charset="0"/>
                          <a:ea typeface="맑은 고딕" pitchFamily="34" charset="-122"/>
                          <a:cs typeface="맑은 고딕" pitchFamily="34" charset="-120"/>
                        </a:rPr>
                        <a:t>△5,873</a:t>
                      </a:r>
                      <a:endParaRPr lang="en-US" sz="800" dirty="0">
                        <a:latin typeface="맑은 고딕" charset="0"/>
                        <a:ea typeface="맑은 고딕" charset="0"/>
                        <a:cs typeface="맑은 고딕" charset="0"/>
                      </a:endParaRPr>
                    </a:p>
                  </a:txBody>
                  <a:tcPr marL="45720" marR="36576" marT="9144" marB="9144" anchor="ctr">
                    <a:lnL w="6350" cap="flat" cmpd="sng" algn="ctr">
                      <a:solidFill>
                        <a:srgbClr val="BFC7D2"/>
                      </a:solidFill>
                      <a:prstDash val="solid"/>
                      <a:round/>
                      <a:headEnd type="none" w="med" len="med"/>
                      <a:tailEnd type="none" w="med" len="med"/>
                    </a:lnL>
                    <a:lnR w="6350" cap="flat" cmpd="sng" algn="ctr">
                      <a:solidFill>
                        <a:srgbClr val="BFC7D2"/>
                      </a:solidFill>
                      <a:prstDash val="solid"/>
                      <a:round/>
                      <a:headEnd type="none" w="med" len="med"/>
                      <a:tailEnd type="none" w="med" len="med"/>
                    </a:lnR>
                    <a:lnT w="6350" cap="flat" cmpd="sng" algn="ctr">
                      <a:solidFill>
                        <a:srgbClr val="BFC7D2"/>
                      </a:solidFill>
                      <a:prstDash val="solid"/>
                      <a:round/>
                      <a:headEnd type="none" w="med" len="med"/>
                      <a:tailEnd type="none" w="med" len="med"/>
                    </a:lnT>
                    <a:lnB w="6350" cap="flat" cmpd="sng" algn="ctr">
                      <a:solidFill>
                        <a:srgbClr val="BFC7D2"/>
                      </a:solidFill>
                      <a:prstDash val="solid"/>
                      <a:round/>
                      <a:headEnd type="none" w="med" len="med"/>
                      <a:tailEnd type="none" w="med" len="med"/>
                    </a:lnB>
                    <a:solidFill>
                      <a:srgbClr val="D6E4F5"/>
                    </a:solidFill>
                  </a:tcPr>
                </a:tc>
              </a:tr>
            </a:tbl>
          </a:graphicData>
        </a:graphic>
      </p:graphicFrame>
      <p:sp>
        <p:nvSpPr>
          <p:cNvPr id="86" name="Text 83"/>
          <p:cNvSpPr/>
          <p:nvPr/>
        </p:nvSpPr>
        <p:spPr>
          <a:xfrm>
            <a:off x="365760" y="4059936"/>
            <a:ext cx="2240280" cy="210312"/>
          </a:xfrm>
          <a:prstGeom prst="rect">
            <a:avLst/>
          </a:prstGeom>
          <a:solidFill>
            <a:srgbClr val="FDEDE6"/>
          </a:solidFill>
          <a:ln w="9525">
            <a:solidFill>
              <a:srgbClr val="E8541E"/>
            </a:solidFill>
          </a:ln>
        </p:spPr>
        <p:txBody>
          <a:bodyPr wrap="square" lIns="50800" tIns="50800" rIns="50800" bIns="50800" rtlCol="0" anchor="ctr"/>
          <a:lstStyle/>
          <a:p>
            <a:pPr indent="0" marL="0">
              <a:buNone/>
            </a:pPr>
            <a:r>
              <a:rPr lang="en-US" sz="900" b="1" dirty="0">
                <a:solidFill>
                  <a:srgbClr val="C2410C"/>
                </a:solidFill>
                <a:latin typeface="맑은 고딕" pitchFamily="34" charset="0"/>
                <a:ea typeface="맑은 고딕" pitchFamily="34" charset="-122"/>
                <a:cs typeface="맑은 고딕" pitchFamily="34" charset="-120"/>
              </a:rPr>
              <a:t>① 공정·프로세스 자동화</a:t>
            </a:r>
            <a:pPr indent="0" marL="0">
              <a:buNone/>
            </a:pPr>
            <a:r>
              <a:rPr lang="en-US" sz="800" b="1" dirty="0">
                <a:solidFill>
                  <a:srgbClr val="0B2D5B"/>
                </a:solidFill>
                <a:latin typeface="맑은 고딕" pitchFamily="34" charset="0"/>
                <a:ea typeface="맑은 고딕" pitchFamily="34" charset="-122"/>
                <a:cs typeface="맑은 고딕" pitchFamily="34" charset="-120"/>
              </a:rPr>
              <a:t>  △OO명</a:t>
            </a:r>
            <a:endParaRPr lang="en-US" sz="900" dirty="0"/>
          </a:p>
        </p:txBody>
      </p:sp>
      <p:sp>
        <p:nvSpPr>
          <p:cNvPr id="87" name="Text 84"/>
          <p:cNvSpPr/>
          <p:nvPr/>
        </p:nvSpPr>
        <p:spPr>
          <a:xfrm>
            <a:off x="365760" y="4270248"/>
            <a:ext cx="2240280" cy="411480"/>
          </a:xfrm>
          <a:prstGeom prst="rect">
            <a:avLst/>
          </a:prstGeom>
          <a:solidFill>
            <a:srgbClr val="FFFFFF"/>
          </a:solidFill>
          <a:ln w="9525">
            <a:solidFill>
              <a:srgbClr val="BFC7D2"/>
            </a:solidFill>
          </a:ln>
        </p:spPr>
        <p:txBody>
          <a:bodyPr wrap="square" lIns="38100" tIns="38100" rIns="38100" bIns="381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Intelligent Factory·AI/로봇 적용 확대</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Inno TF 설비정예화 연계 운전·정비 TO↓</a:t>
            </a:r>
            <a:endParaRPr lang="en-US" sz="900" dirty="0"/>
          </a:p>
        </p:txBody>
      </p:sp>
      <p:sp>
        <p:nvSpPr>
          <p:cNvPr id="88" name="Text 85"/>
          <p:cNvSpPr/>
          <p:nvPr/>
        </p:nvSpPr>
        <p:spPr>
          <a:xfrm>
            <a:off x="2697480" y="4059936"/>
            <a:ext cx="2240280" cy="210312"/>
          </a:xfrm>
          <a:prstGeom prst="rect">
            <a:avLst/>
          </a:prstGeom>
          <a:solidFill>
            <a:srgbClr val="FDEDE6"/>
          </a:solidFill>
          <a:ln w="9525">
            <a:solidFill>
              <a:srgbClr val="E8541E"/>
            </a:solidFill>
          </a:ln>
        </p:spPr>
        <p:txBody>
          <a:bodyPr wrap="square" lIns="50800" tIns="50800" rIns="50800" bIns="50800" rtlCol="0" anchor="ctr"/>
          <a:lstStyle/>
          <a:p>
            <a:pPr indent="0" marL="0">
              <a:buNone/>
            </a:pPr>
            <a:r>
              <a:rPr lang="en-US" sz="900" b="1" dirty="0">
                <a:solidFill>
                  <a:srgbClr val="C2410C"/>
                </a:solidFill>
                <a:latin typeface="맑은 고딕" pitchFamily="34" charset="0"/>
                <a:ea typeface="맑은 고딕" pitchFamily="34" charset="-122"/>
                <a:cs typeface="맑은 고딕" pitchFamily="34" charset="-120"/>
              </a:rPr>
              <a:t>② 저효율 제조라인 효율화(폐쇄)</a:t>
            </a:r>
            <a:pPr indent="0" marL="0">
              <a:buNone/>
            </a:pPr>
            <a:r>
              <a:rPr lang="en-US" sz="800" b="1" dirty="0">
                <a:solidFill>
                  <a:srgbClr val="0B2D5B"/>
                </a:solidFill>
                <a:latin typeface="맑은 고딕" pitchFamily="34" charset="0"/>
                <a:ea typeface="맑은 고딕" pitchFamily="34" charset="-122"/>
                <a:cs typeface="맑은 고딕" pitchFamily="34" charset="-120"/>
              </a:rPr>
              <a:t>  △OO명</a:t>
            </a:r>
            <a:endParaRPr lang="en-US" sz="900" dirty="0"/>
          </a:p>
        </p:txBody>
      </p:sp>
      <p:sp>
        <p:nvSpPr>
          <p:cNvPr id="89" name="Text 86"/>
          <p:cNvSpPr/>
          <p:nvPr/>
        </p:nvSpPr>
        <p:spPr>
          <a:xfrm>
            <a:off x="2697480" y="4270248"/>
            <a:ext cx="2240280" cy="411480"/>
          </a:xfrm>
          <a:prstGeom prst="rect">
            <a:avLst/>
          </a:prstGeom>
          <a:solidFill>
            <a:srgbClr val="FFFFFF"/>
          </a:solidFill>
          <a:ln w="9525">
            <a:solidFill>
              <a:srgbClr val="BFC7D2"/>
            </a:solidFill>
          </a:ln>
        </p:spPr>
        <p:txBody>
          <a:bodyPr wrap="square" lIns="38100" tIns="38100" rIns="38100" bIns="381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저수익·저가동 라인 통폐합/폐쇄</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잉여인력 신사업·해외법인 전환배치</a:t>
            </a:r>
            <a:endParaRPr lang="en-US" sz="900" dirty="0"/>
          </a:p>
        </p:txBody>
      </p:sp>
      <p:sp>
        <p:nvSpPr>
          <p:cNvPr id="90" name="Text 87"/>
          <p:cNvSpPr/>
          <p:nvPr/>
        </p:nvSpPr>
        <p:spPr>
          <a:xfrm>
            <a:off x="5029200" y="4059936"/>
            <a:ext cx="2240280" cy="210312"/>
          </a:xfrm>
          <a:prstGeom prst="rect">
            <a:avLst/>
          </a:prstGeom>
          <a:solidFill>
            <a:srgbClr val="FDEDE6"/>
          </a:solidFill>
          <a:ln w="9525">
            <a:solidFill>
              <a:srgbClr val="E8541E"/>
            </a:solidFill>
          </a:ln>
        </p:spPr>
        <p:txBody>
          <a:bodyPr wrap="square" lIns="50800" tIns="50800" rIns="50800" bIns="50800" rtlCol="0" anchor="ctr"/>
          <a:lstStyle/>
          <a:p>
            <a:pPr indent="0" marL="0">
              <a:buNone/>
            </a:pPr>
            <a:r>
              <a:rPr lang="en-US" sz="900" b="1" dirty="0">
                <a:solidFill>
                  <a:srgbClr val="C2410C"/>
                </a:solidFill>
                <a:latin typeface="맑은 고딕" pitchFamily="34" charset="0"/>
                <a:ea typeface="맑은 고딕" pitchFamily="34" charset="-122"/>
                <a:cs typeface="맑은 고딕" pitchFamily="34" charset="-120"/>
              </a:rPr>
              <a:t>③ 개인별 업무 Span 확대</a:t>
            </a:r>
            <a:pPr indent="0" marL="0">
              <a:buNone/>
            </a:pPr>
            <a:r>
              <a:rPr lang="en-US" sz="800" b="1" dirty="0">
                <a:solidFill>
                  <a:srgbClr val="0B2D5B"/>
                </a:solidFill>
                <a:latin typeface="맑은 고딕" pitchFamily="34" charset="0"/>
                <a:ea typeface="맑은 고딕" pitchFamily="34" charset="-122"/>
                <a:cs typeface="맑은 고딕" pitchFamily="34" charset="-120"/>
              </a:rPr>
              <a:t>  △OO명</a:t>
            </a:r>
            <a:endParaRPr lang="en-US" sz="900" dirty="0"/>
          </a:p>
        </p:txBody>
      </p:sp>
      <p:sp>
        <p:nvSpPr>
          <p:cNvPr id="91" name="Text 88"/>
          <p:cNvSpPr/>
          <p:nvPr/>
        </p:nvSpPr>
        <p:spPr>
          <a:xfrm>
            <a:off x="5029200" y="4270248"/>
            <a:ext cx="2240280" cy="411480"/>
          </a:xfrm>
          <a:prstGeom prst="rect">
            <a:avLst/>
          </a:prstGeom>
          <a:solidFill>
            <a:srgbClr val="FFFFFF"/>
          </a:solidFill>
          <a:ln w="9525">
            <a:solidFill>
              <a:srgbClr val="BFC7D2"/>
            </a:solidFill>
          </a:ln>
        </p:spPr>
        <p:txBody>
          <a:bodyPr wrap="square" lIns="38100" tIns="38100" rIns="38100" bIns="381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직무통합·다기능화, 협력사間 중복기능 통합</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사무·지원업무 AI Agent 활용(WX)</a:t>
            </a:r>
            <a:endParaRPr lang="en-US" sz="900" dirty="0"/>
          </a:p>
        </p:txBody>
      </p:sp>
      <p:sp>
        <p:nvSpPr>
          <p:cNvPr id="92" name="Text 89"/>
          <p:cNvSpPr/>
          <p:nvPr/>
        </p:nvSpPr>
        <p:spPr>
          <a:xfrm>
            <a:off x="7406640" y="2121408"/>
            <a:ext cx="4416552" cy="256032"/>
          </a:xfrm>
          <a:prstGeom prst="rect">
            <a:avLst/>
          </a:prstGeom>
          <a:solidFill>
            <a:srgbClr val="0B2D5B"/>
          </a:solidFill>
          <a:ln>
            <a:solidFill>
              <a:srgbClr val="0B2D5B"/>
            </a:solidFill>
          </a:ln>
        </p:spPr>
        <p:txBody>
          <a:bodyPr wrap="square" lIns="76200" tIns="76200" rIns="76200" bIns="76200" rtlCol="0" anchor="ctr"/>
          <a:lstStyle/>
          <a:p>
            <a:pPr algn="l" indent="0" marL="0">
              <a:buNone/>
            </a:pPr>
            <a:r>
              <a:rPr lang="en-US" sz="1000" b="1" dirty="0">
                <a:solidFill>
                  <a:srgbClr val="FFFFFF"/>
                </a:solidFill>
                <a:latin typeface="맑은 고딕" pitchFamily="34" charset="0"/>
                <a:ea typeface="맑은 고딕" pitchFamily="34" charset="-122"/>
                <a:cs typeface="맑은 고딕" pitchFamily="34" charset="-120"/>
              </a:rPr>
              <a:t>TO-PO 운영 원칙  (개념도)</a:t>
            </a:r>
            <a:endParaRPr lang="en-US" sz="1000" dirty="0"/>
          </a:p>
        </p:txBody>
      </p:sp>
      <p:sp>
        <p:nvSpPr>
          <p:cNvPr id="93" name="Shape 90"/>
          <p:cNvSpPr/>
          <p:nvPr/>
        </p:nvSpPr>
        <p:spPr>
          <a:xfrm>
            <a:off x="7589520" y="2496312"/>
            <a:ext cx="274320" cy="0"/>
          </a:xfrm>
          <a:prstGeom prst="line">
            <a:avLst/>
          </a:prstGeom>
          <a:noFill/>
          <a:ln w="28575">
            <a:solidFill>
              <a:srgbClr val="0B2D5B"/>
            </a:solidFill>
            <a:prstDash val="solid"/>
          </a:ln>
        </p:spPr>
      </p:sp>
      <p:sp>
        <p:nvSpPr>
          <p:cNvPr id="94" name="Text 91"/>
          <p:cNvSpPr/>
          <p:nvPr/>
        </p:nvSpPr>
        <p:spPr>
          <a:xfrm>
            <a:off x="7909560" y="2414016"/>
            <a:ext cx="1645920" cy="164592"/>
          </a:xfrm>
          <a:prstGeom prst="rect">
            <a:avLst/>
          </a:prstGeom>
          <a:noFill/>
          <a:ln/>
        </p:spPr>
        <p:txBody>
          <a:bodyPr wrap="square" lIns="0" tIns="0" rIns="0" bIns="0" rtlCol="0" anchor="ctr"/>
          <a:lstStyle/>
          <a:p>
            <a:pPr indent="0" marL="0">
              <a:buNone/>
            </a:pPr>
            <a:r>
              <a:rPr lang="en-US" sz="750" b="1" dirty="0">
                <a:solidFill>
                  <a:srgbClr val="0B2D5B"/>
                </a:solidFill>
                <a:latin typeface="맑은 고딕" pitchFamily="34" charset="0"/>
                <a:ea typeface="맑은 고딕" pitchFamily="34" charset="-122"/>
                <a:cs typeface="맑은 고딕" pitchFamily="34" charset="-120"/>
              </a:rPr>
              <a:t>TO(기준인력) : 선행 감축</a:t>
            </a:r>
            <a:endParaRPr lang="en-US" sz="750" dirty="0"/>
          </a:p>
        </p:txBody>
      </p:sp>
      <p:sp>
        <p:nvSpPr>
          <p:cNvPr id="95" name="Shape 92"/>
          <p:cNvSpPr/>
          <p:nvPr/>
        </p:nvSpPr>
        <p:spPr>
          <a:xfrm>
            <a:off x="9692640" y="2496312"/>
            <a:ext cx="274320" cy="0"/>
          </a:xfrm>
          <a:prstGeom prst="line">
            <a:avLst/>
          </a:prstGeom>
          <a:noFill/>
          <a:ln w="25400">
            <a:solidFill>
              <a:srgbClr val="E8541E"/>
            </a:solidFill>
            <a:prstDash val="dash"/>
          </a:ln>
        </p:spPr>
      </p:sp>
      <p:sp>
        <p:nvSpPr>
          <p:cNvPr id="96" name="Text 93"/>
          <p:cNvSpPr/>
          <p:nvPr/>
        </p:nvSpPr>
        <p:spPr>
          <a:xfrm>
            <a:off x="10012680" y="2414016"/>
            <a:ext cx="1783080" cy="164592"/>
          </a:xfrm>
          <a:prstGeom prst="rect">
            <a:avLst/>
          </a:prstGeom>
          <a:noFill/>
          <a:ln/>
        </p:spPr>
        <p:txBody>
          <a:bodyPr wrap="square" lIns="0" tIns="0" rIns="0" bIns="0" rtlCol="0" anchor="ctr"/>
          <a:lstStyle/>
          <a:p>
            <a:pPr indent="0" marL="0">
              <a:buNone/>
            </a:pPr>
            <a:r>
              <a:rPr lang="en-US" sz="750" b="1" dirty="0">
                <a:solidFill>
                  <a:srgbClr val="C2410C"/>
                </a:solidFill>
                <a:latin typeface="맑은 고딕" pitchFamily="34" charset="0"/>
                <a:ea typeface="맑은 고딕" pitchFamily="34" charset="-122"/>
                <a:cs typeface="맑은 고딕" pitchFamily="34" charset="-120"/>
              </a:rPr>
              <a:t>PO(실제인력) : 후행 수렴</a:t>
            </a:r>
            <a:endParaRPr lang="en-US" sz="750" dirty="0"/>
          </a:p>
        </p:txBody>
      </p:sp>
      <p:sp>
        <p:nvSpPr>
          <p:cNvPr id="97" name="Shape 94"/>
          <p:cNvSpPr/>
          <p:nvPr/>
        </p:nvSpPr>
        <p:spPr>
          <a:xfrm>
            <a:off x="7589520" y="2651760"/>
            <a:ext cx="0" cy="1005840"/>
          </a:xfrm>
          <a:prstGeom prst="line">
            <a:avLst/>
          </a:prstGeom>
          <a:noFill/>
          <a:ln w="12700">
            <a:solidFill>
              <a:srgbClr val="BFC7D2"/>
            </a:solidFill>
            <a:prstDash val="solid"/>
          </a:ln>
        </p:spPr>
      </p:sp>
      <p:sp>
        <p:nvSpPr>
          <p:cNvPr id="98" name="Shape 95"/>
          <p:cNvSpPr/>
          <p:nvPr/>
        </p:nvSpPr>
        <p:spPr>
          <a:xfrm>
            <a:off x="7589520" y="3657600"/>
            <a:ext cx="4206240" cy="0"/>
          </a:xfrm>
          <a:prstGeom prst="line">
            <a:avLst/>
          </a:prstGeom>
          <a:noFill/>
          <a:ln w="12700">
            <a:solidFill>
              <a:srgbClr val="BFC7D2"/>
            </a:solidFill>
            <a:prstDash val="solid"/>
          </a:ln>
        </p:spPr>
      </p:sp>
      <p:sp>
        <p:nvSpPr>
          <p:cNvPr id="99" name="Text 96"/>
          <p:cNvSpPr/>
          <p:nvPr/>
        </p:nvSpPr>
        <p:spPr>
          <a:xfrm>
            <a:off x="7635240" y="3675888"/>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'24</a:t>
            </a:r>
            <a:endParaRPr lang="en-US" sz="800" dirty="0"/>
          </a:p>
        </p:txBody>
      </p:sp>
      <p:sp>
        <p:nvSpPr>
          <p:cNvPr id="100" name="Text 97"/>
          <p:cNvSpPr/>
          <p:nvPr/>
        </p:nvSpPr>
        <p:spPr>
          <a:xfrm>
            <a:off x="8259775" y="3675888"/>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'25</a:t>
            </a:r>
            <a:endParaRPr lang="en-US" sz="800" dirty="0"/>
          </a:p>
        </p:txBody>
      </p:sp>
      <p:sp>
        <p:nvSpPr>
          <p:cNvPr id="101" name="Text 98"/>
          <p:cNvSpPr/>
          <p:nvPr/>
        </p:nvSpPr>
        <p:spPr>
          <a:xfrm>
            <a:off x="8884310" y="3675888"/>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'26</a:t>
            </a:r>
            <a:endParaRPr lang="en-US" sz="800" dirty="0"/>
          </a:p>
        </p:txBody>
      </p:sp>
      <p:sp>
        <p:nvSpPr>
          <p:cNvPr id="102" name="Text 99"/>
          <p:cNvSpPr/>
          <p:nvPr/>
        </p:nvSpPr>
        <p:spPr>
          <a:xfrm>
            <a:off x="9508846" y="3675888"/>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'27</a:t>
            </a:r>
            <a:endParaRPr lang="en-US" sz="800" dirty="0"/>
          </a:p>
        </p:txBody>
      </p:sp>
      <p:sp>
        <p:nvSpPr>
          <p:cNvPr id="103" name="Text 100"/>
          <p:cNvSpPr/>
          <p:nvPr/>
        </p:nvSpPr>
        <p:spPr>
          <a:xfrm>
            <a:off x="10133381" y="3675888"/>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'28</a:t>
            </a:r>
            <a:endParaRPr lang="en-US" sz="800" dirty="0"/>
          </a:p>
        </p:txBody>
      </p:sp>
      <p:sp>
        <p:nvSpPr>
          <p:cNvPr id="104" name="Text 101"/>
          <p:cNvSpPr/>
          <p:nvPr/>
        </p:nvSpPr>
        <p:spPr>
          <a:xfrm>
            <a:off x="10757916" y="3675888"/>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'29</a:t>
            </a:r>
            <a:endParaRPr lang="en-US" sz="800" dirty="0"/>
          </a:p>
        </p:txBody>
      </p:sp>
      <p:sp>
        <p:nvSpPr>
          <p:cNvPr id="105" name="Text 102"/>
          <p:cNvSpPr/>
          <p:nvPr/>
        </p:nvSpPr>
        <p:spPr>
          <a:xfrm>
            <a:off x="11382451" y="3675888"/>
            <a:ext cx="457200" cy="164592"/>
          </a:xfrm>
          <a:prstGeom prst="rect">
            <a:avLst/>
          </a:prstGeom>
          <a:noFill/>
          <a:ln/>
        </p:spPr>
        <p:txBody>
          <a:bodyPr wrap="square" lIns="0" tIns="0" rIns="0" bIns="0" rtlCol="0" anchor="ctr"/>
          <a:lstStyle/>
          <a:p>
            <a:pPr algn="ctr" indent="0" marL="0">
              <a:buNone/>
            </a:pPr>
            <a:r>
              <a:rPr lang="en-US" sz="800" dirty="0">
                <a:solidFill>
                  <a:srgbClr val="555555"/>
                </a:solidFill>
                <a:latin typeface="맑은 고딕" pitchFamily="34" charset="0"/>
                <a:ea typeface="맑은 고딕" pitchFamily="34" charset="-122"/>
                <a:cs typeface="맑은 고딕" pitchFamily="34" charset="-120"/>
              </a:rPr>
              <a:t>'30</a:t>
            </a:r>
            <a:endParaRPr lang="en-US" sz="800" dirty="0"/>
          </a:p>
        </p:txBody>
      </p:sp>
      <p:sp>
        <p:nvSpPr>
          <p:cNvPr id="106" name="Shape 103"/>
          <p:cNvSpPr/>
          <p:nvPr/>
        </p:nvSpPr>
        <p:spPr>
          <a:xfrm>
            <a:off x="7863840" y="2743200"/>
            <a:ext cx="624535" cy="50445"/>
          </a:xfrm>
          <a:prstGeom prst="line">
            <a:avLst/>
          </a:prstGeom>
          <a:noFill/>
          <a:ln w="28575">
            <a:solidFill>
              <a:srgbClr val="0B2D5B"/>
            </a:solidFill>
            <a:prstDash val="solid"/>
          </a:ln>
        </p:spPr>
      </p:sp>
      <p:sp>
        <p:nvSpPr>
          <p:cNvPr id="107" name="Shape 104"/>
          <p:cNvSpPr/>
          <p:nvPr/>
        </p:nvSpPr>
        <p:spPr>
          <a:xfrm>
            <a:off x="7863840" y="2724912"/>
            <a:ext cx="624535" cy="18288"/>
          </a:xfrm>
          <a:prstGeom prst="line">
            <a:avLst/>
          </a:prstGeom>
          <a:noFill/>
          <a:ln w="25400">
            <a:solidFill>
              <a:srgbClr val="E8541E"/>
            </a:solidFill>
            <a:prstDash val="dash"/>
          </a:ln>
        </p:spPr>
      </p:sp>
      <p:sp>
        <p:nvSpPr>
          <p:cNvPr id="108" name="Shape 105"/>
          <p:cNvSpPr/>
          <p:nvPr/>
        </p:nvSpPr>
        <p:spPr>
          <a:xfrm>
            <a:off x="8488375" y="2793645"/>
            <a:ext cx="624535" cy="36246"/>
          </a:xfrm>
          <a:prstGeom prst="line">
            <a:avLst/>
          </a:prstGeom>
          <a:noFill/>
          <a:ln w="28575">
            <a:solidFill>
              <a:srgbClr val="0B2D5B"/>
            </a:solidFill>
            <a:prstDash val="solid"/>
          </a:ln>
        </p:spPr>
      </p:sp>
      <p:sp>
        <p:nvSpPr>
          <p:cNvPr id="109" name="Shape 106"/>
          <p:cNvSpPr/>
          <p:nvPr/>
        </p:nvSpPr>
        <p:spPr>
          <a:xfrm flipV="1">
            <a:off x="8488375" y="2734056"/>
            <a:ext cx="624535" cy="9144"/>
          </a:xfrm>
          <a:prstGeom prst="line">
            <a:avLst/>
          </a:prstGeom>
          <a:noFill/>
          <a:ln w="25400">
            <a:solidFill>
              <a:srgbClr val="E8541E"/>
            </a:solidFill>
            <a:prstDash val="dash"/>
          </a:ln>
        </p:spPr>
      </p:sp>
      <p:sp>
        <p:nvSpPr>
          <p:cNvPr id="110" name="Shape 107"/>
          <p:cNvSpPr/>
          <p:nvPr/>
        </p:nvSpPr>
        <p:spPr>
          <a:xfrm>
            <a:off x="9112910" y="2829891"/>
            <a:ext cx="624535" cy="104752"/>
          </a:xfrm>
          <a:prstGeom prst="line">
            <a:avLst/>
          </a:prstGeom>
          <a:noFill/>
          <a:ln w="28575">
            <a:solidFill>
              <a:srgbClr val="0B2D5B"/>
            </a:solidFill>
            <a:prstDash val="solid"/>
          </a:ln>
        </p:spPr>
      </p:sp>
      <p:sp>
        <p:nvSpPr>
          <p:cNvPr id="111" name="Shape 108"/>
          <p:cNvSpPr/>
          <p:nvPr/>
        </p:nvSpPr>
        <p:spPr>
          <a:xfrm>
            <a:off x="9112910" y="2734056"/>
            <a:ext cx="624535" cy="64008"/>
          </a:xfrm>
          <a:prstGeom prst="line">
            <a:avLst/>
          </a:prstGeom>
          <a:noFill/>
          <a:ln w="25400">
            <a:solidFill>
              <a:srgbClr val="E8541E"/>
            </a:solidFill>
            <a:prstDash val="dash"/>
          </a:ln>
        </p:spPr>
      </p:sp>
      <p:sp>
        <p:nvSpPr>
          <p:cNvPr id="112" name="Shape 109"/>
          <p:cNvSpPr/>
          <p:nvPr/>
        </p:nvSpPr>
        <p:spPr>
          <a:xfrm>
            <a:off x="9737446" y="2934643"/>
            <a:ext cx="624535" cy="169895"/>
          </a:xfrm>
          <a:prstGeom prst="line">
            <a:avLst/>
          </a:prstGeom>
          <a:noFill/>
          <a:ln w="28575">
            <a:solidFill>
              <a:srgbClr val="0B2D5B"/>
            </a:solidFill>
            <a:prstDash val="solid"/>
          </a:ln>
        </p:spPr>
      </p:sp>
      <p:sp>
        <p:nvSpPr>
          <p:cNvPr id="113" name="Shape 110"/>
          <p:cNvSpPr/>
          <p:nvPr/>
        </p:nvSpPr>
        <p:spPr>
          <a:xfrm>
            <a:off x="9737446" y="2798064"/>
            <a:ext cx="624535" cy="128016"/>
          </a:xfrm>
          <a:prstGeom prst="line">
            <a:avLst/>
          </a:prstGeom>
          <a:noFill/>
          <a:ln w="25400">
            <a:solidFill>
              <a:srgbClr val="E8541E"/>
            </a:solidFill>
            <a:prstDash val="dash"/>
          </a:ln>
        </p:spPr>
      </p:sp>
      <p:sp>
        <p:nvSpPr>
          <p:cNvPr id="114" name="Shape 111"/>
          <p:cNvSpPr/>
          <p:nvPr/>
        </p:nvSpPr>
        <p:spPr>
          <a:xfrm>
            <a:off x="10361981" y="3104538"/>
            <a:ext cx="624535" cy="139005"/>
          </a:xfrm>
          <a:prstGeom prst="line">
            <a:avLst/>
          </a:prstGeom>
          <a:noFill/>
          <a:ln w="28575">
            <a:solidFill>
              <a:srgbClr val="0B2D5B"/>
            </a:solidFill>
            <a:prstDash val="solid"/>
          </a:ln>
        </p:spPr>
      </p:sp>
      <p:sp>
        <p:nvSpPr>
          <p:cNvPr id="115" name="Shape 112"/>
          <p:cNvSpPr/>
          <p:nvPr/>
        </p:nvSpPr>
        <p:spPr>
          <a:xfrm>
            <a:off x="10361981" y="2926080"/>
            <a:ext cx="624535" cy="155448"/>
          </a:xfrm>
          <a:prstGeom prst="line">
            <a:avLst/>
          </a:prstGeom>
          <a:noFill/>
          <a:ln w="25400">
            <a:solidFill>
              <a:srgbClr val="E8541E"/>
            </a:solidFill>
            <a:prstDash val="dash"/>
          </a:ln>
        </p:spPr>
      </p:sp>
      <p:sp>
        <p:nvSpPr>
          <p:cNvPr id="116" name="Shape 113"/>
          <p:cNvSpPr/>
          <p:nvPr/>
        </p:nvSpPr>
        <p:spPr>
          <a:xfrm>
            <a:off x="10986516" y="3243543"/>
            <a:ext cx="624535" cy="231177"/>
          </a:xfrm>
          <a:prstGeom prst="line">
            <a:avLst/>
          </a:prstGeom>
          <a:noFill/>
          <a:ln w="28575">
            <a:solidFill>
              <a:srgbClr val="0B2D5B"/>
            </a:solidFill>
            <a:prstDash val="solid"/>
          </a:ln>
        </p:spPr>
      </p:sp>
      <p:sp>
        <p:nvSpPr>
          <p:cNvPr id="117" name="Shape 114"/>
          <p:cNvSpPr/>
          <p:nvPr/>
        </p:nvSpPr>
        <p:spPr>
          <a:xfrm>
            <a:off x="10986516" y="3081528"/>
            <a:ext cx="624535" cy="301752"/>
          </a:xfrm>
          <a:prstGeom prst="line">
            <a:avLst/>
          </a:prstGeom>
          <a:noFill/>
          <a:ln w="25400">
            <a:solidFill>
              <a:srgbClr val="E8541E"/>
            </a:solidFill>
            <a:prstDash val="dash"/>
          </a:ln>
        </p:spPr>
      </p:sp>
      <p:sp>
        <p:nvSpPr>
          <p:cNvPr id="118" name="Shape 115"/>
          <p:cNvSpPr/>
          <p:nvPr/>
        </p:nvSpPr>
        <p:spPr>
          <a:xfrm>
            <a:off x="7827264" y="2706624"/>
            <a:ext cx="73152" cy="73152"/>
          </a:xfrm>
          <a:prstGeom prst="ellipse">
            <a:avLst/>
          </a:prstGeom>
          <a:solidFill>
            <a:srgbClr val="0B2D5B"/>
          </a:solidFill>
          <a:ln w="6350">
            <a:solidFill>
              <a:srgbClr val="FFFFFF"/>
            </a:solidFill>
            <a:prstDash val="solid"/>
          </a:ln>
        </p:spPr>
      </p:sp>
      <p:sp>
        <p:nvSpPr>
          <p:cNvPr id="119" name="Shape 116"/>
          <p:cNvSpPr/>
          <p:nvPr/>
        </p:nvSpPr>
        <p:spPr>
          <a:xfrm>
            <a:off x="8451799" y="2757069"/>
            <a:ext cx="73152" cy="73152"/>
          </a:xfrm>
          <a:prstGeom prst="ellipse">
            <a:avLst/>
          </a:prstGeom>
          <a:solidFill>
            <a:srgbClr val="0B2D5B"/>
          </a:solidFill>
          <a:ln w="6350">
            <a:solidFill>
              <a:srgbClr val="FFFFFF"/>
            </a:solidFill>
            <a:prstDash val="solid"/>
          </a:ln>
        </p:spPr>
      </p:sp>
      <p:sp>
        <p:nvSpPr>
          <p:cNvPr id="120" name="Shape 117"/>
          <p:cNvSpPr/>
          <p:nvPr/>
        </p:nvSpPr>
        <p:spPr>
          <a:xfrm>
            <a:off x="9076334" y="2793315"/>
            <a:ext cx="73152" cy="73152"/>
          </a:xfrm>
          <a:prstGeom prst="ellipse">
            <a:avLst/>
          </a:prstGeom>
          <a:solidFill>
            <a:srgbClr val="0B2D5B"/>
          </a:solidFill>
          <a:ln w="6350">
            <a:solidFill>
              <a:srgbClr val="FFFFFF"/>
            </a:solidFill>
            <a:prstDash val="solid"/>
          </a:ln>
        </p:spPr>
      </p:sp>
      <p:sp>
        <p:nvSpPr>
          <p:cNvPr id="121" name="Shape 118"/>
          <p:cNvSpPr/>
          <p:nvPr/>
        </p:nvSpPr>
        <p:spPr>
          <a:xfrm>
            <a:off x="9700870" y="2898067"/>
            <a:ext cx="73152" cy="73152"/>
          </a:xfrm>
          <a:prstGeom prst="ellipse">
            <a:avLst/>
          </a:prstGeom>
          <a:solidFill>
            <a:srgbClr val="0B2D5B"/>
          </a:solidFill>
          <a:ln w="6350">
            <a:solidFill>
              <a:srgbClr val="FFFFFF"/>
            </a:solidFill>
            <a:prstDash val="solid"/>
          </a:ln>
        </p:spPr>
      </p:sp>
      <p:sp>
        <p:nvSpPr>
          <p:cNvPr id="122" name="Shape 119"/>
          <p:cNvSpPr/>
          <p:nvPr/>
        </p:nvSpPr>
        <p:spPr>
          <a:xfrm>
            <a:off x="10325405" y="3067962"/>
            <a:ext cx="73152" cy="73152"/>
          </a:xfrm>
          <a:prstGeom prst="ellipse">
            <a:avLst/>
          </a:prstGeom>
          <a:solidFill>
            <a:srgbClr val="0B2D5B"/>
          </a:solidFill>
          <a:ln w="6350">
            <a:solidFill>
              <a:srgbClr val="FFFFFF"/>
            </a:solidFill>
            <a:prstDash val="solid"/>
          </a:ln>
        </p:spPr>
      </p:sp>
      <p:sp>
        <p:nvSpPr>
          <p:cNvPr id="123" name="Shape 120"/>
          <p:cNvSpPr/>
          <p:nvPr/>
        </p:nvSpPr>
        <p:spPr>
          <a:xfrm>
            <a:off x="10949940" y="3206967"/>
            <a:ext cx="73152" cy="73152"/>
          </a:xfrm>
          <a:prstGeom prst="ellipse">
            <a:avLst/>
          </a:prstGeom>
          <a:solidFill>
            <a:srgbClr val="0B2D5B"/>
          </a:solidFill>
          <a:ln w="6350">
            <a:solidFill>
              <a:srgbClr val="FFFFFF"/>
            </a:solidFill>
            <a:prstDash val="solid"/>
          </a:ln>
        </p:spPr>
      </p:sp>
      <p:sp>
        <p:nvSpPr>
          <p:cNvPr id="124" name="Shape 121"/>
          <p:cNvSpPr/>
          <p:nvPr/>
        </p:nvSpPr>
        <p:spPr>
          <a:xfrm>
            <a:off x="11574475" y="3438144"/>
            <a:ext cx="73152" cy="73152"/>
          </a:xfrm>
          <a:prstGeom prst="ellipse">
            <a:avLst/>
          </a:prstGeom>
          <a:solidFill>
            <a:srgbClr val="0B2D5B"/>
          </a:solidFill>
          <a:ln w="6350">
            <a:solidFill>
              <a:srgbClr val="FFFFFF"/>
            </a:solidFill>
            <a:prstDash val="solid"/>
          </a:ln>
        </p:spPr>
      </p:sp>
      <p:sp>
        <p:nvSpPr>
          <p:cNvPr id="125" name="Shape 122"/>
          <p:cNvSpPr/>
          <p:nvPr/>
        </p:nvSpPr>
        <p:spPr>
          <a:xfrm>
            <a:off x="10307117" y="2953512"/>
            <a:ext cx="109728" cy="137160"/>
          </a:xfrm>
          <a:prstGeom prst="upDownArrow">
            <a:avLst/>
          </a:prstGeom>
          <a:solidFill>
            <a:srgbClr val="8A94A3"/>
          </a:solidFill>
          <a:ln w="12700">
            <a:solidFill>
              <a:srgbClr val="8A94A3"/>
            </a:solidFill>
            <a:prstDash val="solid"/>
          </a:ln>
        </p:spPr>
      </p:sp>
      <p:sp>
        <p:nvSpPr>
          <p:cNvPr id="126" name="Text 123"/>
          <p:cNvSpPr/>
          <p:nvPr/>
        </p:nvSpPr>
        <p:spPr>
          <a:xfrm>
            <a:off x="7726680" y="3200400"/>
            <a:ext cx="1920240" cy="329184"/>
          </a:xfrm>
          <a:prstGeom prst="rect">
            <a:avLst/>
          </a:prstGeom>
          <a:noFill/>
          <a:ln/>
        </p:spPr>
        <p:txBody>
          <a:bodyPr wrap="square" lIns="0" tIns="0" rIns="0" bIns="0" rtlCol="0" anchor="ctr"/>
          <a:lstStyle/>
          <a:p>
            <a:pPr indent="0" marL="0">
              <a:buNone/>
            </a:pPr>
            <a:r>
              <a:rPr lang="en-US" sz="750" b="1" dirty="0">
                <a:solidFill>
                  <a:srgbClr val="555555"/>
                </a:solidFill>
                <a:latin typeface="맑은 고딕" pitchFamily="34" charset="0"/>
                <a:ea typeface="맑은 고딕" pitchFamily="34" charset="-122"/>
                <a:cs typeface="맑은 고딕" pitchFamily="34" charset="-120"/>
              </a:rPr>
              <a:t>과원(PO &gt; TO) 발생 구간</a:t>
            </a:r>
            <a:endParaRPr lang="en-US" sz="900" dirty="0"/>
          </a:p>
          <a:p>
            <a:pPr indent="0" marL="0">
              <a:buNone/>
            </a:pPr>
            <a:r>
              <a:rPr lang="en-US" sz="750" dirty="0">
                <a:solidFill>
                  <a:srgbClr val="555555"/>
                </a:solidFill>
                <a:latin typeface="맑은 고딕" pitchFamily="34" charset="0"/>
                <a:ea typeface="맑은 고딕" pitchFamily="34" charset="-122"/>
                <a:cs typeface="맑은 고딕" pitchFamily="34" charset="-120"/>
              </a:rPr>
              <a:t>→ 자연감소·재배치로 단계적 해소</a:t>
            </a:r>
            <a:endParaRPr lang="en-US" sz="900" dirty="0"/>
          </a:p>
        </p:txBody>
      </p:sp>
      <p:sp>
        <p:nvSpPr>
          <p:cNvPr id="127" name="Text 124"/>
          <p:cNvSpPr/>
          <p:nvPr/>
        </p:nvSpPr>
        <p:spPr>
          <a:xfrm>
            <a:off x="7406640" y="3931920"/>
            <a:ext cx="4416552" cy="749808"/>
          </a:xfrm>
          <a:prstGeom prst="rect">
            <a:avLst/>
          </a:prstGeom>
          <a:solidFill>
            <a:srgbClr val="F2F4F7"/>
          </a:solidFill>
          <a:ln w="9525">
            <a:solidFill>
              <a:srgbClr val="BFC7D2"/>
            </a:solidFill>
          </a:ln>
        </p:spPr>
        <p:txBody>
          <a:bodyPr wrap="square" lIns="63500" tIns="63500" rIns="63500" bIns="635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TO 선행 감축 → 정년퇴직 등 자연감소 범위 內 채용 조절로 PO 수렴</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잉여인력 Re-skilling 後 신사업·해외(인도 2기, 美 H社 합작) 재배치</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인위적 PO 조정 지양, 구조적 TO 관리로 노사 수용성 확보</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조직혁신 TF 주관, 반기 단위 4개 축 TO·노무비 Rolling 점검</a:t>
            </a:r>
            <a:endParaRPr lang="en-US" sz="900" dirty="0"/>
          </a:p>
        </p:txBody>
      </p:sp>
      <p:sp>
        <p:nvSpPr>
          <p:cNvPr id="128" name="Text 125"/>
          <p:cNvSpPr/>
          <p:nvPr/>
        </p:nvSpPr>
        <p:spPr>
          <a:xfrm>
            <a:off x="365760" y="4754880"/>
            <a:ext cx="914400" cy="886968"/>
          </a:xfrm>
          <a:prstGeom prst="rect">
            <a:avLst/>
          </a:prstGeom>
          <a:solidFill>
            <a:srgbClr val="0B2D5B"/>
          </a:solidFill>
          <a:ln>
            <a:solidFill>
              <a:srgbClr val="0B2D5B"/>
            </a:solid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실행기반</a:t>
            </a:r>
            <a:endParaRPr lang="en-US" sz="1000" dirty="0"/>
          </a:p>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(Enabler)</a:t>
            </a:r>
            <a:endParaRPr lang="en-US" sz="1000" dirty="0"/>
          </a:p>
        </p:txBody>
      </p:sp>
      <p:sp>
        <p:nvSpPr>
          <p:cNvPr id="129" name="Text 126"/>
          <p:cNvSpPr/>
          <p:nvPr/>
        </p:nvSpPr>
        <p:spPr>
          <a:xfrm>
            <a:off x="1353312" y="4754880"/>
            <a:ext cx="2551176" cy="237744"/>
          </a:xfrm>
          <a:prstGeom prst="rect">
            <a:avLst/>
          </a:prstGeom>
          <a:solidFill>
            <a:srgbClr val="D6E4F5"/>
          </a:solidFill>
          <a:ln w="9525">
            <a:solidFill>
              <a:srgbClr val="BFC7D2"/>
            </a:solidFill>
          </a:ln>
        </p:spPr>
        <p:txBody>
          <a:bodyPr wrap="square" lIns="50800" tIns="50800" rIns="50800" bIns="50800" rtlCol="0" anchor="ctr"/>
          <a:lstStyle/>
          <a:p>
            <a:pPr indent="0" marL="0">
              <a:buNone/>
            </a:pPr>
            <a:r>
              <a:rPr lang="en-US" sz="900" b="1" dirty="0">
                <a:solidFill>
                  <a:srgbClr val="0B2D5B"/>
                </a:solidFill>
                <a:latin typeface="맑은 고딕" pitchFamily="34" charset="0"/>
                <a:ea typeface="맑은 고딕" pitchFamily="34" charset="-122"/>
                <a:cs typeface="맑은 고딕" pitchFamily="34" charset="-120"/>
              </a:rPr>
              <a:t>① 노무비 기반 인력관리체계 전환</a:t>
            </a:r>
            <a:pPr indent="0" marL="0">
              <a:buNone/>
            </a:pPr>
            <a:r>
              <a:rPr lang="en-US" sz="750" b="1" dirty="0">
                <a:solidFill>
                  <a:srgbClr val="C2410C"/>
                </a:solidFill>
                <a:latin typeface="맑은 고딕" pitchFamily="34" charset="0"/>
                <a:ea typeface="맑은 고딕" pitchFamily="34" charset="-122"/>
                <a:cs typeface="맑은 고딕" pitchFamily="34" charset="-120"/>
              </a:rPr>
              <a:t>  [신규]</a:t>
            </a:r>
            <a:endParaRPr lang="en-US" sz="900" dirty="0"/>
          </a:p>
        </p:txBody>
      </p:sp>
      <p:sp>
        <p:nvSpPr>
          <p:cNvPr id="130" name="Text 127"/>
          <p:cNvSpPr/>
          <p:nvPr/>
        </p:nvSpPr>
        <p:spPr>
          <a:xfrm>
            <a:off x="1353312" y="4992624"/>
            <a:ext cx="2551176" cy="649224"/>
          </a:xfrm>
          <a:prstGeom prst="rect">
            <a:avLst/>
          </a:prstGeom>
          <a:solidFill>
            <a:srgbClr val="FFFFFF"/>
          </a:solidFill>
          <a:ln w="9525">
            <a:solidFill>
              <a:srgbClr val="BFC7D2"/>
            </a:solidFill>
          </a:ln>
        </p:spPr>
        <p:txBody>
          <a:bodyPr wrap="square" lIns="50800" tIns="50800" rIns="50800" bIns="508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4개 축 Total 노무비 Baseline·KPI 정립</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TO 증감의 노무비 환산, 사업부별 목표 부여</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계약직 증가(+1,107명) 등 고용형태별 적정성 점검</a:t>
            </a:r>
            <a:endParaRPr lang="en-US" sz="900" dirty="0"/>
          </a:p>
        </p:txBody>
      </p:sp>
      <p:sp>
        <p:nvSpPr>
          <p:cNvPr id="131" name="Text 128"/>
          <p:cNvSpPr/>
          <p:nvPr/>
        </p:nvSpPr>
        <p:spPr>
          <a:xfrm>
            <a:off x="3986784" y="4754880"/>
            <a:ext cx="2551176" cy="237744"/>
          </a:xfrm>
          <a:prstGeom prst="rect">
            <a:avLst/>
          </a:prstGeom>
          <a:solidFill>
            <a:srgbClr val="D6E4F5"/>
          </a:solidFill>
          <a:ln w="9525">
            <a:solidFill>
              <a:srgbClr val="BFC7D2"/>
            </a:solidFill>
          </a:ln>
        </p:spPr>
        <p:txBody>
          <a:bodyPr wrap="square" lIns="50800" tIns="50800" rIns="50800" bIns="50800" rtlCol="0" anchor="ctr"/>
          <a:lstStyle/>
          <a:p>
            <a:pPr indent="0" marL="0">
              <a:buNone/>
            </a:pPr>
            <a:r>
              <a:rPr lang="en-US" sz="900" b="1" dirty="0">
                <a:solidFill>
                  <a:srgbClr val="0B2D5B"/>
                </a:solidFill>
                <a:latin typeface="맑은 고딕" pitchFamily="34" charset="0"/>
                <a:ea typeface="맑은 고딕" pitchFamily="34" charset="-122"/>
                <a:cs typeface="맑은 고딕" pitchFamily="34" charset="-120"/>
              </a:rPr>
              <a:t>② 노무 Risk 선제 대응</a:t>
            </a:r>
            <a:pPr indent="0" marL="0">
              <a:buNone/>
            </a:pPr>
            <a:r>
              <a:rPr lang="en-US" sz="750" b="1" dirty="0">
                <a:solidFill>
                  <a:srgbClr val="8A94A3"/>
                </a:solidFill>
                <a:latin typeface="맑은 고딕" pitchFamily="34" charset="0"/>
                <a:ea typeface="맑은 고딕" pitchFamily="34" charset="-122"/>
                <a:cs typeface="맑은 고딕" pitchFamily="34" charset="-120"/>
              </a:rPr>
              <a:t>  ['25 전략2]</a:t>
            </a:r>
            <a:endParaRPr lang="en-US" sz="900" dirty="0"/>
          </a:p>
        </p:txBody>
      </p:sp>
      <p:sp>
        <p:nvSpPr>
          <p:cNvPr id="132" name="Text 129"/>
          <p:cNvSpPr/>
          <p:nvPr/>
        </p:nvSpPr>
        <p:spPr>
          <a:xfrm>
            <a:off x="3986784" y="4992624"/>
            <a:ext cx="2551176" cy="649224"/>
          </a:xfrm>
          <a:prstGeom prst="rect">
            <a:avLst/>
          </a:prstGeom>
          <a:solidFill>
            <a:srgbClr val="FFFFFF"/>
          </a:solidFill>
          <a:ln w="9525">
            <a:solidFill>
              <a:srgbClr val="BFC7D2"/>
            </a:solidFill>
          </a:ln>
        </p:spPr>
        <p:txBody>
          <a:bodyPr wrap="square" lIns="50800" tIns="50800" rIns="50800" bIns="508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통상임금·임금차액 소송 매몰비용 최소화</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노란봉투법 대비 협력/용역계약 유형별 대응</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정년연장·근로시간 규제 대비 제도 재정비</a:t>
            </a:r>
            <a:endParaRPr lang="en-US" sz="900" dirty="0"/>
          </a:p>
        </p:txBody>
      </p:sp>
      <p:sp>
        <p:nvSpPr>
          <p:cNvPr id="133" name="Text 130"/>
          <p:cNvSpPr/>
          <p:nvPr/>
        </p:nvSpPr>
        <p:spPr>
          <a:xfrm>
            <a:off x="6620256" y="4754880"/>
            <a:ext cx="2551176" cy="237744"/>
          </a:xfrm>
          <a:prstGeom prst="rect">
            <a:avLst/>
          </a:prstGeom>
          <a:solidFill>
            <a:srgbClr val="D6E4F5"/>
          </a:solidFill>
          <a:ln w="9525">
            <a:solidFill>
              <a:srgbClr val="BFC7D2"/>
            </a:solidFill>
          </a:ln>
        </p:spPr>
        <p:txBody>
          <a:bodyPr wrap="square" lIns="50800" tIns="50800" rIns="50800" bIns="50800" rtlCol="0" anchor="ctr"/>
          <a:lstStyle/>
          <a:p>
            <a:pPr indent="0" marL="0">
              <a:buNone/>
            </a:pPr>
            <a:r>
              <a:rPr lang="en-US" sz="900" b="1" dirty="0">
                <a:solidFill>
                  <a:srgbClr val="0B2D5B"/>
                </a:solidFill>
                <a:latin typeface="맑은 고딕" pitchFamily="34" charset="0"/>
                <a:ea typeface="맑은 고딕" pitchFamily="34" charset="-122"/>
                <a:cs typeface="맑은 고딕" pitchFamily="34" charset="-120"/>
              </a:rPr>
              <a:t>③ 인재 전환·재배치</a:t>
            </a:r>
            <a:pPr indent="0" marL="0">
              <a:buNone/>
            </a:pPr>
            <a:r>
              <a:rPr lang="en-US" sz="750" b="1" dirty="0">
                <a:solidFill>
                  <a:srgbClr val="8A94A3"/>
                </a:solidFill>
                <a:latin typeface="맑은 고딕" pitchFamily="34" charset="0"/>
                <a:ea typeface="맑은 고딕" pitchFamily="34" charset="-122"/>
                <a:cs typeface="맑은 고딕" pitchFamily="34" charset="-120"/>
              </a:rPr>
              <a:t>  ['25 전략1]</a:t>
            </a:r>
            <a:endParaRPr lang="en-US" sz="900" dirty="0"/>
          </a:p>
        </p:txBody>
      </p:sp>
      <p:sp>
        <p:nvSpPr>
          <p:cNvPr id="134" name="Text 131"/>
          <p:cNvSpPr/>
          <p:nvPr/>
        </p:nvSpPr>
        <p:spPr>
          <a:xfrm>
            <a:off x="6620256" y="4992624"/>
            <a:ext cx="2551176" cy="649224"/>
          </a:xfrm>
          <a:prstGeom prst="rect">
            <a:avLst/>
          </a:prstGeom>
          <a:solidFill>
            <a:srgbClr val="FFFFFF"/>
          </a:solidFill>
          <a:ln w="9525">
            <a:solidFill>
              <a:srgbClr val="BFC7D2"/>
            </a:solidFill>
          </a:ln>
        </p:spPr>
        <p:txBody>
          <a:bodyPr wrap="square" lIns="50800" tIns="50800" rIns="50800" bIns="508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Domain&amp;AI 전문인력 양성, 뉴칼라 2.0 개편</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잉여인력 Re-skilling 後 전략분야 재배치</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S직군 조기 조직안정·직원 간 화합 도모</a:t>
            </a:r>
            <a:endParaRPr lang="en-US" sz="900" dirty="0"/>
          </a:p>
        </p:txBody>
      </p:sp>
      <p:sp>
        <p:nvSpPr>
          <p:cNvPr id="135" name="Text 132"/>
          <p:cNvSpPr/>
          <p:nvPr/>
        </p:nvSpPr>
        <p:spPr>
          <a:xfrm>
            <a:off x="9253728" y="4754880"/>
            <a:ext cx="2551176" cy="237744"/>
          </a:xfrm>
          <a:prstGeom prst="rect">
            <a:avLst/>
          </a:prstGeom>
          <a:solidFill>
            <a:srgbClr val="D6E4F5"/>
          </a:solidFill>
          <a:ln w="9525">
            <a:solidFill>
              <a:srgbClr val="BFC7D2"/>
            </a:solidFill>
          </a:ln>
        </p:spPr>
        <p:txBody>
          <a:bodyPr wrap="square" lIns="50800" tIns="50800" rIns="50800" bIns="50800" rtlCol="0" anchor="ctr"/>
          <a:lstStyle/>
          <a:p>
            <a:pPr indent="0" marL="0">
              <a:buNone/>
            </a:pPr>
            <a:r>
              <a:rPr lang="en-US" sz="900" b="1" dirty="0">
                <a:solidFill>
                  <a:srgbClr val="0B2D5B"/>
                </a:solidFill>
                <a:latin typeface="맑은 고딕" pitchFamily="34" charset="0"/>
                <a:ea typeface="맑은 고딕" pitchFamily="34" charset="-122"/>
                <a:cs typeface="맑은 고딕" pitchFamily="34" charset="-120"/>
              </a:rPr>
              <a:t>④ 일하는 방식·현장 리더십</a:t>
            </a:r>
            <a:pPr indent="0" marL="0">
              <a:buNone/>
            </a:pPr>
            <a:r>
              <a:rPr lang="en-US" sz="750" b="1" dirty="0">
                <a:solidFill>
                  <a:srgbClr val="8A94A3"/>
                </a:solidFill>
                <a:latin typeface="맑은 고딕" pitchFamily="34" charset="0"/>
                <a:ea typeface="맑은 고딕" pitchFamily="34" charset="-122"/>
                <a:cs typeface="맑은 고딕" pitchFamily="34" charset="-120"/>
              </a:rPr>
              <a:t>  ['25 전략3]</a:t>
            </a:r>
            <a:endParaRPr lang="en-US" sz="900" dirty="0"/>
          </a:p>
        </p:txBody>
      </p:sp>
      <p:sp>
        <p:nvSpPr>
          <p:cNvPr id="136" name="Text 133"/>
          <p:cNvSpPr/>
          <p:nvPr/>
        </p:nvSpPr>
        <p:spPr>
          <a:xfrm>
            <a:off x="9253728" y="4992624"/>
            <a:ext cx="2551176" cy="649224"/>
          </a:xfrm>
          <a:prstGeom prst="rect">
            <a:avLst/>
          </a:prstGeom>
          <a:solidFill>
            <a:srgbClr val="FFFFFF"/>
          </a:solidFill>
          <a:ln w="9525">
            <a:solidFill>
              <a:srgbClr val="BFC7D2"/>
            </a:solidFill>
          </a:ln>
        </p:spPr>
        <p:txBody>
          <a:bodyPr wrap="square" lIns="50800" tIns="50800" rIns="50800" bIns="508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AI 기반 일하는 방식(Workway) 재정립·확산</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직책자 역할·권한 재정립, 솔선수범 리더십</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全 직원 DX 이해 증진 및 변화관리 강화</a:t>
            </a:r>
            <a:endParaRPr lang="en-US" sz="900" dirty="0"/>
          </a:p>
        </p:txBody>
      </p:sp>
      <p:sp>
        <p:nvSpPr>
          <p:cNvPr id="137" name="Text 134"/>
          <p:cNvSpPr/>
          <p:nvPr/>
        </p:nvSpPr>
        <p:spPr>
          <a:xfrm>
            <a:off x="365760" y="5715000"/>
            <a:ext cx="914400" cy="731520"/>
          </a:xfrm>
          <a:prstGeom prst="rect">
            <a:avLst/>
          </a:prstGeom>
          <a:solidFill>
            <a:srgbClr val="0B2D5B"/>
          </a:solidFill>
          <a:ln>
            <a:solidFill>
              <a:srgbClr val="0B2D5B"/>
            </a:solid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추진</a:t>
            </a:r>
            <a:endParaRPr lang="en-US" sz="1000" dirty="0"/>
          </a:p>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Roadmap</a:t>
            </a:r>
            <a:endParaRPr lang="en-US" sz="1000" dirty="0"/>
          </a:p>
        </p:txBody>
      </p:sp>
      <p:sp>
        <p:nvSpPr>
          <p:cNvPr id="138" name="Text 135"/>
          <p:cNvSpPr/>
          <p:nvPr/>
        </p:nvSpPr>
        <p:spPr>
          <a:xfrm>
            <a:off x="1353312" y="5715000"/>
            <a:ext cx="3566160" cy="274320"/>
          </a:xfrm>
          <a:prstGeom prst="homePlate">
            <a:avLst/>
          </a:prstGeom>
          <a:solidFill>
            <a:srgbClr val="1F5FA8"/>
          </a:solidFill>
          <a:ln>
            <a:solidFill>
              <a:srgbClr val="1F5FA8"/>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'26   기반 구축</a:t>
            </a:r>
            <a:endParaRPr lang="en-US" sz="950" dirty="0"/>
          </a:p>
        </p:txBody>
      </p:sp>
      <p:sp>
        <p:nvSpPr>
          <p:cNvPr id="139" name="Text 136"/>
          <p:cNvSpPr/>
          <p:nvPr/>
        </p:nvSpPr>
        <p:spPr>
          <a:xfrm>
            <a:off x="1536192" y="6016752"/>
            <a:ext cx="3200400" cy="420624"/>
          </a:xfrm>
          <a:prstGeom prst="rect">
            <a:avLst/>
          </a:prstGeom>
          <a:noFill/>
          <a:ln/>
        </p:spPr>
        <p:txBody>
          <a:bodyPr wrap="square" lIns="12700" tIns="12700" rIns="12700" bIns="12700" rtlCol="0" anchor="t"/>
          <a:lstStyle/>
          <a:p>
            <a:pPr indent="0" marL="0">
              <a:buNone/>
            </a:pPr>
            <a:r>
              <a:rPr lang="en-US" sz="800" dirty="0">
                <a:solidFill>
                  <a:srgbClr val="222222"/>
                </a:solidFill>
                <a:latin typeface="맑은 고딕" pitchFamily="34" charset="0"/>
                <a:ea typeface="맑은 고딕" pitchFamily="34" charset="-122"/>
                <a:cs typeface="맑은 고딕" pitchFamily="34" charset="-120"/>
              </a:rPr>
              <a:t>· 4개 축 Total TO·노무비 Baseline 및 관리체계 정립</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S직군 직영 전환('26.4월~) 조기 조직안정</a:t>
            </a:r>
            <a:endParaRPr lang="en-US" sz="900" dirty="0"/>
          </a:p>
        </p:txBody>
      </p:sp>
      <p:sp>
        <p:nvSpPr>
          <p:cNvPr id="140" name="Text 137"/>
          <p:cNvSpPr/>
          <p:nvPr/>
        </p:nvSpPr>
        <p:spPr>
          <a:xfrm>
            <a:off x="4791456" y="5715000"/>
            <a:ext cx="3566160" cy="274320"/>
          </a:xfrm>
          <a:prstGeom prst="chevron">
            <a:avLst/>
          </a:prstGeom>
          <a:solidFill>
            <a:srgbClr val="16498A"/>
          </a:solidFill>
          <a:ln>
            <a:solidFill>
              <a:srgbClr val="16498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'27~'28   본격 실행</a:t>
            </a:r>
            <a:endParaRPr lang="en-US" sz="950" dirty="0"/>
          </a:p>
        </p:txBody>
      </p:sp>
      <p:sp>
        <p:nvSpPr>
          <p:cNvPr id="141" name="Text 138"/>
          <p:cNvSpPr/>
          <p:nvPr/>
        </p:nvSpPr>
        <p:spPr>
          <a:xfrm>
            <a:off x="4974336" y="6016752"/>
            <a:ext cx="3200400" cy="420624"/>
          </a:xfrm>
          <a:prstGeom prst="rect">
            <a:avLst/>
          </a:prstGeom>
          <a:noFill/>
          <a:ln/>
        </p:spPr>
        <p:txBody>
          <a:bodyPr wrap="square" lIns="12700" tIns="12700" rIns="12700" bIns="12700" rtlCol="0" anchor="t"/>
          <a:lstStyle/>
          <a:p>
            <a:pPr indent="0" marL="0">
              <a:buNone/>
            </a:pPr>
            <a:r>
              <a:rPr lang="en-US" sz="800" dirty="0">
                <a:solidFill>
                  <a:srgbClr val="222222"/>
                </a:solidFill>
                <a:latin typeface="맑은 고딕" pitchFamily="34" charset="0"/>
                <a:ea typeface="맑은 고딕" pitchFamily="34" charset="-122"/>
                <a:cs typeface="맑은 고딕" pitchFamily="34" charset="-120"/>
              </a:rPr>
              <a:t>· 직영 TO Peak('27, 22,937명) 이후 단계적 감축</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협력 3,630명 수준 재편, 자동화·라인 효율화 연계</a:t>
            </a:r>
            <a:endParaRPr lang="en-US" sz="900" dirty="0"/>
          </a:p>
        </p:txBody>
      </p:sp>
      <p:sp>
        <p:nvSpPr>
          <p:cNvPr id="142" name="Text 139"/>
          <p:cNvSpPr/>
          <p:nvPr/>
        </p:nvSpPr>
        <p:spPr>
          <a:xfrm>
            <a:off x="8229600" y="5715000"/>
            <a:ext cx="3566160" cy="274320"/>
          </a:xfrm>
          <a:prstGeom prst="chevron">
            <a:avLst/>
          </a:prstGeom>
          <a:solidFill>
            <a:srgbClr val="0B2D5B"/>
          </a:solidFill>
          <a:ln>
            <a:solidFill>
              <a:srgbClr val="0B2D5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'29~'30   정착·고도화</a:t>
            </a:r>
            <a:endParaRPr lang="en-US" sz="950" dirty="0"/>
          </a:p>
        </p:txBody>
      </p:sp>
      <p:sp>
        <p:nvSpPr>
          <p:cNvPr id="143" name="Text 140"/>
          <p:cNvSpPr/>
          <p:nvPr/>
        </p:nvSpPr>
        <p:spPr>
          <a:xfrm>
            <a:off x="8412480" y="6016752"/>
            <a:ext cx="3200400" cy="420624"/>
          </a:xfrm>
          <a:prstGeom prst="rect">
            <a:avLst/>
          </a:prstGeom>
          <a:noFill/>
          <a:ln/>
        </p:spPr>
        <p:txBody>
          <a:bodyPr wrap="square" lIns="12700" tIns="12700" rIns="12700" bIns="12700" rtlCol="0" anchor="t"/>
          <a:lstStyle/>
          <a:p>
            <a:pPr indent="0" marL="0">
              <a:buNone/>
            </a:pPr>
            <a:r>
              <a:rPr lang="en-US" sz="800" dirty="0">
                <a:solidFill>
                  <a:srgbClr val="222222"/>
                </a:solidFill>
                <a:latin typeface="맑은 고딕" pitchFamily="34" charset="0"/>
                <a:ea typeface="맑은 고딕" pitchFamily="34" charset="-122"/>
                <a:cs typeface="맑은 고딕" pitchFamily="34" charset="-120"/>
              </a:rPr>
              <a:t>· 人+AI/로보틱스 Hybrid 인력구조 정착</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'30 Total TO 22,231명(△20.9%) 달성</a:t>
            </a:r>
            <a:endParaRPr lang="en-US" sz="900" dirty="0"/>
          </a:p>
        </p:txBody>
      </p:sp>
      <p:sp>
        <p:nvSpPr>
          <p:cNvPr id="144" name="Text 141"/>
          <p:cNvSpPr/>
          <p:nvPr/>
        </p:nvSpPr>
        <p:spPr>
          <a:xfrm>
            <a:off x="365760" y="6537960"/>
            <a:ext cx="10789920" cy="219456"/>
          </a:xfrm>
          <a:prstGeom prst="rect">
            <a:avLst/>
          </a:prstGeom>
          <a:noFill/>
          <a:ln/>
        </p:spPr>
        <p:txBody>
          <a:bodyPr wrap="square" lIns="0" tIns="0" rIns="0" bIns="0" rtlCol="0" anchor="ctr"/>
          <a:lstStyle/>
          <a:p>
            <a:pPr indent="0" marL="0">
              <a:buNone/>
            </a:pPr>
            <a:r>
              <a:rPr lang="en-US" sz="800" dirty="0">
                <a:solidFill>
                  <a:srgbClr val="555555"/>
                </a:solidFill>
                <a:latin typeface="맑은 고딕" pitchFamily="34" charset="0"/>
                <a:ea typeface="맑은 고딕" pitchFamily="34" charset="-122"/>
                <a:cs typeface="맑은 고딕" pitchFamily="34" charset="-120"/>
              </a:rPr>
              <a:t>※ '24.E: '24년 말 기준 인력 운영계획(TO)  /  직영 S직군은 분리 수치 확정 後 별도 반영(현재 정규직 內 포함)  /  Lever별 감축 규모(OO)는 사업계획 확정 後 반영</a:t>
            </a:r>
            <a:endParaRPr lang="en-US" sz="800" dirty="0"/>
          </a:p>
        </p:txBody>
      </p:sp>
      <p:sp>
        <p:nvSpPr>
          <p:cNvPr id="145" name="Text 142"/>
          <p:cNvSpPr/>
          <p:nvPr/>
        </p:nvSpPr>
        <p:spPr>
          <a:xfrm>
            <a:off x="11365992" y="6537960"/>
            <a:ext cx="457200" cy="219456"/>
          </a:xfrm>
          <a:prstGeom prst="rect">
            <a:avLst/>
          </a:prstGeom>
          <a:noFill/>
          <a:ln/>
        </p:spPr>
        <p:txBody>
          <a:bodyPr wrap="square" lIns="0" tIns="0" rIns="0" bIns="0" rtlCol="0" anchor="ctr"/>
          <a:lstStyle/>
          <a:p>
            <a:pPr algn="r" indent="0" marL="0">
              <a:buNone/>
            </a:pPr>
            <a:r>
              <a:rPr lang="en-US" sz="900" dirty="0">
                <a:solidFill>
                  <a:srgbClr val="555555"/>
                </a:solidFill>
                <a:latin typeface="맑은 고딕" pitchFamily="34" charset="0"/>
                <a:ea typeface="맑은 고딕" pitchFamily="34" charset="-122"/>
                <a:cs typeface="맑은 고딕"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65760" y="146304"/>
            <a:ext cx="5486400" cy="201168"/>
          </a:xfrm>
          <a:prstGeom prst="rect">
            <a:avLst/>
          </a:prstGeom>
          <a:noFill/>
          <a:ln/>
        </p:spPr>
        <p:txBody>
          <a:bodyPr wrap="square" lIns="0" tIns="0" rIns="0" bIns="0" rtlCol="0" anchor="ctr"/>
          <a:lstStyle/>
          <a:p>
            <a:pPr indent="0" marL="0">
              <a:buNone/>
            </a:pPr>
            <a:r>
              <a:rPr lang="en-US" sz="900" dirty="0">
                <a:solidFill>
                  <a:srgbClr val="8A94A3"/>
                </a:solidFill>
                <a:latin typeface="맑은 고딕" pitchFamily="34" charset="0"/>
                <a:ea typeface="맑은 고딕" pitchFamily="34" charset="-122"/>
                <a:cs typeface="맑은 고딕" pitchFamily="34" charset="-120"/>
              </a:rPr>
              <a:t>HR 중기전략 ('26~'30 Rolling)  |  2035 장기 비전</a:t>
            </a:r>
            <a:endParaRPr lang="en-US" sz="900" dirty="0"/>
          </a:p>
        </p:txBody>
      </p:sp>
      <p:sp>
        <p:nvSpPr>
          <p:cNvPr id="3" name="Text 1"/>
          <p:cNvSpPr/>
          <p:nvPr/>
        </p:nvSpPr>
        <p:spPr>
          <a:xfrm>
            <a:off x="365760" y="347472"/>
            <a:ext cx="8778240" cy="457200"/>
          </a:xfrm>
          <a:prstGeom prst="rect">
            <a:avLst/>
          </a:prstGeom>
          <a:noFill/>
          <a:ln/>
        </p:spPr>
        <p:txBody>
          <a:bodyPr wrap="square" lIns="0" tIns="0" rIns="0" bIns="0" rtlCol="0" anchor="ctr"/>
          <a:lstStyle/>
          <a:p>
            <a:pPr indent="0" marL="0">
              <a:buNone/>
            </a:pPr>
            <a:r>
              <a:rPr lang="en-US" sz="2200" b="1" dirty="0">
                <a:solidFill>
                  <a:srgbClr val="0B2D5B"/>
                </a:solidFill>
                <a:latin typeface="맑은 고딕" pitchFamily="34" charset="0"/>
                <a:ea typeface="맑은 고딕" pitchFamily="34" charset="-122"/>
                <a:cs typeface="맑은 고딕" pitchFamily="34" charset="-120"/>
              </a:rPr>
              <a:t>Ⅲ. 2035 HR 미래 청사진 (Future Blueprint)</a:t>
            </a:r>
            <a:endParaRPr lang="en-US" sz="2200" dirty="0"/>
          </a:p>
        </p:txBody>
      </p:sp>
      <p:sp>
        <p:nvSpPr>
          <p:cNvPr id="4" name="Text 2"/>
          <p:cNvSpPr/>
          <p:nvPr/>
        </p:nvSpPr>
        <p:spPr>
          <a:xfrm>
            <a:off x="9262872" y="429768"/>
            <a:ext cx="2560320" cy="310896"/>
          </a:xfrm>
          <a:prstGeom prst="rect">
            <a:avLst/>
          </a:prstGeom>
          <a:solidFill>
            <a:srgbClr val="FDEDE6"/>
          </a:solidFill>
          <a:ln w="12700">
            <a:solidFill>
              <a:srgbClr val="E8541E"/>
            </a:solidFill>
          </a:ln>
        </p:spPr>
        <p:txBody>
          <a:bodyPr wrap="square" lIns="25400" tIns="25400" rIns="25400" bIns="25400" rtlCol="0" anchor="ctr"/>
          <a:lstStyle/>
          <a:p>
            <a:pPr algn="ctr" indent="0" marL="0">
              <a:buNone/>
            </a:pPr>
            <a:r>
              <a:rPr lang="en-US" sz="1000" b="1" dirty="0">
                <a:solidFill>
                  <a:srgbClr val="C2410C"/>
                </a:solidFill>
                <a:latin typeface="맑은 고딕" pitchFamily="34" charset="0"/>
                <a:ea typeface="맑은 고딕" pitchFamily="34" charset="-122"/>
                <a:cs typeface="맑은 고딕" pitchFamily="34" charset="-120"/>
              </a:rPr>
              <a:t>'30 이후 HR 지향점</a:t>
            </a:r>
            <a:endParaRPr lang="en-US" sz="1000" dirty="0"/>
          </a:p>
        </p:txBody>
      </p:sp>
      <p:sp>
        <p:nvSpPr>
          <p:cNvPr id="5" name="Shape 3"/>
          <p:cNvSpPr/>
          <p:nvPr/>
        </p:nvSpPr>
        <p:spPr>
          <a:xfrm>
            <a:off x="365760" y="850392"/>
            <a:ext cx="11457432" cy="0"/>
          </a:xfrm>
          <a:prstGeom prst="line">
            <a:avLst/>
          </a:prstGeom>
          <a:noFill/>
          <a:ln w="25400">
            <a:solidFill>
              <a:srgbClr val="0B2D5B"/>
            </a:solidFill>
            <a:prstDash val="solid"/>
          </a:ln>
        </p:spPr>
      </p:sp>
      <p:sp>
        <p:nvSpPr>
          <p:cNvPr id="6" name="Shape 4"/>
          <p:cNvSpPr/>
          <p:nvPr/>
        </p:nvSpPr>
        <p:spPr>
          <a:xfrm>
            <a:off x="365760" y="941832"/>
            <a:ext cx="11457432" cy="512064"/>
          </a:xfrm>
          <a:prstGeom prst="rect">
            <a:avLst/>
          </a:prstGeom>
          <a:solidFill>
            <a:srgbClr val="EEF3FA"/>
          </a:solidFill>
          <a:ln w="12700">
            <a:solidFill>
              <a:srgbClr val="EEF3FA"/>
            </a:solidFill>
            <a:prstDash val="solid"/>
          </a:ln>
        </p:spPr>
      </p:sp>
      <p:sp>
        <p:nvSpPr>
          <p:cNvPr id="7" name="Shape 5"/>
          <p:cNvSpPr/>
          <p:nvPr/>
        </p:nvSpPr>
        <p:spPr>
          <a:xfrm>
            <a:off x="365760" y="941832"/>
            <a:ext cx="64008" cy="512064"/>
          </a:xfrm>
          <a:prstGeom prst="rect">
            <a:avLst/>
          </a:prstGeom>
          <a:solidFill>
            <a:srgbClr val="0B2D5B"/>
          </a:solidFill>
          <a:ln w="12700">
            <a:solidFill>
              <a:srgbClr val="0B2D5B"/>
            </a:solidFill>
            <a:prstDash val="solid"/>
          </a:ln>
        </p:spPr>
      </p:sp>
      <p:sp>
        <p:nvSpPr>
          <p:cNvPr id="8" name="Text 6"/>
          <p:cNvSpPr/>
          <p:nvPr/>
        </p:nvSpPr>
        <p:spPr>
          <a:xfrm>
            <a:off x="502920" y="941832"/>
            <a:ext cx="11247120" cy="512064"/>
          </a:xfrm>
          <a:prstGeom prst="rect">
            <a:avLst/>
          </a:prstGeom>
          <a:noFill/>
          <a:ln/>
        </p:spPr>
        <p:txBody>
          <a:bodyPr wrap="square" lIns="25400" tIns="25400" rIns="25400" bIns="25400" rtlCol="0" anchor="ctr"/>
          <a:lstStyle/>
          <a:p>
            <a:pPr indent="0" marL="0">
              <a:buNone/>
            </a:pPr>
            <a:r>
              <a:rPr lang="en-US" sz="1200" b="1" dirty="0">
                <a:solidFill>
                  <a:srgbClr val="0B2D5B"/>
                </a:solidFill>
                <a:latin typeface="맑은 고딕" pitchFamily="34" charset="0"/>
                <a:ea typeface="맑은 고딕" pitchFamily="34" charset="-122"/>
                <a:cs typeface="맑은 고딕" pitchFamily="34" charset="-120"/>
              </a:rPr>
              <a:t>'35년 『Human+AI 협업 기반 정예·자율 전문가 조직』 지향 ─ 기술·규제·시황 불확실성을 감안하여 확정 목표가 아닌 방향성(North Star)으로 제시하고, 매년 Rolling 時 핵심 변수(Signpost) 점검을 통해 경로 보정</a:t>
            </a:r>
            <a:endParaRPr lang="en-US" sz="1200" dirty="0"/>
          </a:p>
        </p:txBody>
      </p:sp>
      <p:sp>
        <p:nvSpPr>
          <p:cNvPr id="9" name="Text 7"/>
          <p:cNvSpPr/>
          <p:nvPr/>
        </p:nvSpPr>
        <p:spPr>
          <a:xfrm>
            <a:off x="365760" y="1536192"/>
            <a:ext cx="1188720" cy="475488"/>
          </a:xfrm>
          <a:prstGeom prst="rect">
            <a:avLst/>
          </a:prstGeom>
          <a:solidFill>
            <a:srgbClr val="E8541E"/>
          </a:solidFill>
          <a:ln>
            <a:solidFill>
              <a:srgbClr val="E8541E"/>
            </a:solid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2035</a:t>
            </a:r>
            <a:endParaRPr lang="en-US" sz="1100" dirty="0"/>
          </a:p>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HR Vision</a:t>
            </a:r>
            <a:endParaRPr lang="en-US" sz="1100" dirty="0"/>
          </a:p>
        </p:txBody>
      </p:sp>
      <p:sp>
        <p:nvSpPr>
          <p:cNvPr id="10" name="Text 8"/>
          <p:cNvSpPr/>
          <p:nvPr/>
        </p:nvSpPr>
        <p:spPr>
          <a:xfrm>
            <a:off x="1554480" y="1536192"/>
            <a:ext cx="10268712" cy="475488"/>
          </a:xfrm>
          <a:prstGeom prst="rect">
            <a:avLst/>
          </a:prstGeom>
          <a:solidFill>
            <a:srgbClr val="0B2D5B"/>
          </a:solidFill>
          <a:ln>
            <a:solidFill>
              <a:srgbClr val="0B2D5B"/>
            </a:solidFill>
          </a:ln>
        </p:spPr>
        <p:txBody>
          <a:bodyPr wrap="square" lIns="25400" tIns="25400" rIns="25400" bIns="2540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Human+AI 협업으로 성과를 창출하는 </a:t>
            </a:r>
            <a:pPr algn="ctr" indent="0" marL="0">
              <a:buNone/>
            </a:pPr>
            <a:r>
              <a:rPr lang="en-US" sz="1600" b="1" dirty="0">
                <a:solidFill>
                  <a:srgbClr val="FFC7A8"/>
                </a:solidFill>
                <a:latin typeface="맑은 고딕" pitchFamily="34" charset="0"/>
                <a:ea typeface="맑은 고딕" pitchFamily="34" charset="-122"/>
                <a:cs typeface="맑은 고딕" pitchFamily="34" charset="-120"/>
              </a:rPr>
              <a:t>정예·자율 전문가 조직</a:t>
            </a:r>
            <a:endParaRPr lang="en-US" sz="900" dirty="0"/>
          </a:p>
        </p:txBody>
      </p:sp>
      <p:sp>
        <p:nvSpPr>
          <p:cNvPr id="11" name="Text 9"/>
          <p:cNvSpPr/>
          <p:nvPr/>
        </p:nvSpPr>
        <p:spPr>
          <a:xfrm>
            <a:off x="365760" y="2084832"/>
            <a:ext cx="3739896" cy="493776"/>
          </a:xfrm>
          <a:prstGeom prst="rect">
            <a:avLst/>
          </a:prstGeom>
          <a:solidFill>
            <a:srgbClr val="16498A"/>
          </a:solidFill>
          <a:ln>
            <a:solidFill>
              <a:srgbClr val="16498A"/>
            </a:solidFill>
          </a:ln>
        </p:spPr>
        <p:txBody>
          <a:bodyPr wrap="square" lIns="25400" tIns="25400" rIns="25400" bIns="2540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① 조직 &amp; WX (일하는 방식)</a:t>
            </a:r>
            <a:endParaRPr lang="en-US" sz="900" dirty="0"/>
          </a:p>
          <a:p>
            <a:pPr algn="ctr" indent="0" marL="0">
              <a:buNone/>
            </a:pPr>
            <a:r>
              <a:rPr lang="en-US" sz="850" dirty="0">
                <a:solidFill>
                  <a:srgbClr val="D6E4F5"/>
                </a:solidFill>
                <a:latin typeface="맑은 고딕" pitchFamily="34" charset="0"/>
                <a:ea typeface="맑은 고딕" pitchFamily="34" charset="-122"/>
                <a:cs typeface="맑은 고딕" pitchFamily="34" charset="-120"/>
              </a:rPr>
              <a:t>AX를 경영성과로 연결하는 Human+AI 조직·운영체계 혁신</a:t>
            </a:r>
            <a:endParaRPr lang="en-US" sz="900" dirty="0"/>
          </a:p>
        </p:txBody>
      </p:sp>
      <p:sp>
        <p:nvSpPr>
          <p:cNvPr id="12" name="Text 10"/>
          <p:cNvSpPr/>
          <p:nvPr/>
        </p:nvSpPr>
        <p:spPr>
          <a:xfrm>
            <a:off x="365760" y="2615184"/>
            <a:ext cx="3739896" cy="274320"/>
          </a:xfrm>
          <a:prstGeom prst="rect">
            <a:avLst/>
          </a:prstGeom>
          <a:solidFill>
            <a:srgbClr val="FDEDE6"/>
          </a:solidFill>
          <a:ln w="9525">
            <a:solidFill>
              <a:srgbClr val="E8541E"/>
            </a:solidFill>
          </a:ln>
        </p:spPr>
        <p:txBody>
          <a:bodyPr wrap="square" lIns="0" tIns="0" rIns="0" bIns="0" rtlCol="0" anchor="ctr"/>
          <a:lstStyle/>
          <a:p>
            <a:pPr algn="ctr" indent="0" marL="0">
              <a:buNone/>
            </a:pPr>
            <a:r>
              <a:rPr lang="en-US" sz="850" dirty="0">
                <a:solidFill>
                  <a:srgbClr val="555555"/>
                </a:solidFill>
                <a:latin typeface="맑은 고딕" pitchFamily="34" charset="0"/>
                <a:ea typeface="맑은 고딕" pitchFamily="34" charset="-122"/>
                <a:cs typeface="맑은 고딕" pitchFamily="34" charset="-120"/>
              </a:rPr>
              <a:t>공정·부서별 分業</a:t>
            </a:r>
            <a:pPr algn="ctr" indent="0" marL="0">
              <a:buNone/>
            </a:pPr>
            <a:r>
              <a:rPr lang="en-US" sz="800" b="1" dirty="0">
                <a:solidFill>
                  <a:srgbClr val="E8541E"/>
                </a:solidFill>
                <a:latin typeface="맑은 고딕" pitchFamily="34" charset="0"/>
                <a:ea typeface="맑은 고딕" pitchFamily="34" charset="-122"/>
                <a:cs typeface="맑은 고딕" pitchFamily="34" charset="-120"/>
              </a:rPr>
              <a:t>   ▶   </a:t>
            </a:r>
            <a:pPr algn="ctr" indent="0" marL="0">
              <a:buNone/>
            </a:pPr>
            <a:r>
              <a:rPr lang="en-US" sz="950" b="1" dirty="0">
                <a:solidFill>
                  <a:srgbClr val="C2410C"/>
                </a:solidFill>
                <a:latin typeface="맑은 고딕" pitchFamily="34" charset="0"/>
                <a:ea typeface="맑은 고딕" pitchFamily="34" charset="-122"/>
                <a:cs typeface="맑은 고딕" pitchFamily="34" charset="-120"/>
              </a:rPr>
              <a:t>가치흐름 통합 자율운영</a:t>
            </a:r>
            <a:endParaRPr lang="en-US" sz="900" dirty="0"/>
          </a:p>
        </p:txBody>
      </p:sp>
      <p:sp>
        <p:nvSpPr>
          <p:cNvPr id="13" name="Text 11"/>
          <p:cNvSpPr/>
          <p:nvPr/>
        </p:nvSpPr>
        <p:spPr>
          <a:xfrm>
            <a:off x="365760" y="2926080"/>
            <a:ext cx="548640" cy="86868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850" b="1" dirty="0">
                <a:solidFill>
                  <a:srgbClr val="0B2D5B"/>
                </a:solidFill>
                <a:latin typeface="맑은 고딕" pitchFamily="34" charset="0"/>
                <a:ea typeface="맑은 고딕" pitchFamily="34" charset="-122"/>
                <a:cs typeface="맑은 고딕" pitchFamily="34" charset="-120"/>
              </a:rPr>
              <a:t>제조</a:t>
            </a:r>
            <a:endParaRPr lang="en-US" sz="85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분야</a:t>
            </a:r>
            <a:endParaRPr lang="en-US" sz="850" dirty="0"/>
          </a:p>
        </p:txBody>
      </p:sp>
      <p:sp>
        <p:nvSpPr>
          <p:cNvPr id="14" name="Shape 12"/>
          <p:cNvSpPr/>
          <p:nvPr/>
        </p:nvSpPr>
        <p:spPr>
          <a:xfrm>
            <a:off x="914400" y="2926080"/>
            <a:ext cx="3191256" cy="868680"/>
          </a:xfrm>
          <a:prstGeom prst="rect">
            <a:avLst/>
          </a:prstGeom>
          <a:solidFill>
            <a:srgbClr val="FFFFFF"/>
          </a:solidFill>
          <a:ln w="9525">
            <a:solidFill>
              <a:srgbClr val="BFC7D2"/>
            </a:solidFill>
            <a:prstDash val="solid"/>
          </a:ln>
        </p:spPr>
      </p:sp>
      <p:sp>
        <p:nvSpPr>
          <p:cNvPr id="15" name="Text 13"/>
          <p:cNvSpPr/>
          <p:nvPr/>
        </p:nvSpPr>
        <p:spPr>
          <a:xfrm>
            <a:off x="969264" y="2926080"/>
            <a:ext cx="3099816" cy="868680"/>
          </a:xfrm>
          <a:prstGeom prst="rect">
            <a:avLst/>
          </a:prstGeom>
          <a:noFill/>
          <a:ln/>
        </p:spPr>
        <p:txBody>
          <a:bodyPr wrap="square" lIns="25400" tIns="25400" rIns="25400" bIns="25400" rtlCol="0" anchor="ctr"/>
          <a:lstStyle/>
          <a:p>
            <a:pPr indent="0" marL="0">
              <a:buNone/>
            </a:pPr>
            <a:r>
              <a:rPr lang="en-US" sz="950" b="1" dirty="0">
                <a:solidFill>
                  <a:srgbClr val="0B2D5B"/>
                </a:solidFill>
                <a:latin typeface="맑은 고딕" pitchFamily="34" charset="0"/>
                <a:ea typeface="맑은 고딕" pitchFamily="34" charset="-122"/>
                <a:cs typeface="맑은 고딕" pitchFamily="34" charset="-120"/>
              </a:rPr>
              <a:t>AI 기반 제철소 자율제조</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제철소 全 공정을 하나의 흐름으로 통합 운영</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공정별 조직 → 전문성 조직 전환, 전체 최적화</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사람은 감시·판단·예외대응 중심 역할 수행</a:t>
            </a:r>
            <a:endParaRPr lang="en-US" sz="900" dirty="0"/>
          </a:p>
        </p:txBody>
      </p:sp>
      <p:sp>
        <p:nvSpPr>
          <p:cNvPr id="16" name="Text 14"/>
          <p:cNvSpPr/>
          <p:nvPr/>
        </p:nvSpPr>
        <p:spPr>
          <a:xfrm>
            <a:off x="365760" y="3831336"/>
            <a:ext cx="548640" cy="86868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850" b="1" dirty="0">
                <a:solidFill>
                  <a:srgbClr val="0B2D5B"/>
                </a:solidFill>
                <a:latin typeface="맑은 고딕" pitchFamily="34" charset="0"/>
                <a:ea typeface="맑은 고딕" pitchFamily="34" charset="-122"/>
                <a:cs typeface="맑은 고딕" pitchFamily="34" charset="-120"/>
              </a:rPr>
              <a:t>사무</a:t>
            </a:r>
            <a:endParaRPr lang="en-US" sz="85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분야</a:t>
            </a:r>
            <a:endParaRPr lang="en-US" sz="850" dirty="0"/>
          </a:p>
        </p:txBody>
      </p:sp>
      <p:sp>
        <p:nvSpPr>
          <p:cNvPr id="17" name="Shape 15"/>
          <p:cNvSpPr/>
          <p:nvPr/>
        </p:nvSpPr>
        <p:spPr>
          <a:xfrm>
            <a:off x="914400" y="3831336"/>
            <a:ext cx="3191256" cy="868680"/>
          </a:xfrm>
          <a:prstGeom prst="rect">
            <a:avLst/>
          </a:prstGeom>
          <a:solidFill>
            <a:srgbClr val="FFFFFF"/>
          </a:solidFill>
          <a:ln w="9525">
            <a:solidFill>
              <a:srgbClr val="BFC7D2"/>
            </a:solidFill>
            <a:prstDash val="solid"/>
          </a:ln>
        </p:spPr>
      </p:sp>
      <p:sp>
        <p:nvSpPr>
          <p:cNvPr id="18" name="Text 16"/>
          <p:cNvSpPr/>
          <p:nvPr/>
        </p:nvSpPr>
        <p:spPr>
          <a:xfrm>
            <a:off x="969264" y="3831336"/>
            <a:ext cx="3099816" cy="868680"/>
          </a:xfrm>
          <a:prstGeom prst="rect">
            <a:avLst/>
          </a:prstGeom>
          <a:noFill/>
          <a:ln/>
        </p:spPr>
        <p:txBody>
          <a:bodyPr wrap="square" lIns="25400" tIns="25400" rIns="25400" bIns="25400" rtlCol="0" anchor="ctr"/>
          <a:lstStyle/>
          <a:p>
            <a:pPr indent="0" marL="0">
              <a:buNone/>
            </a:pPr>
            <a:r>
              <a:rPr lang="en-US" sz="950" b="1" dirty="0">
                <a:solidFill>
                  <a:srgbClr val="0B2D5B"/>
                </a:solidFill>
                <a:latin typeface="맑은 고딕" pitchFamily="34" charset="0"/>
                <a:ea typeface="맑은 고딕" pitchFamily="34" charset="-122"/>
                <a:cs typeface="맑은 고딕" pitchFamily="34" charset="-120"/>
              </a:rPr>
              <a:t>지능형 업무자율화</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End-to-End 가치흐름 통합, 부서 경계 최소화</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인간+AI(Agent) 팀 중심 조직 운영</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정형업무 AI 자율처리, 사람은 기획·판단 집중</a:t>
            </a:r>
            <a:endParaRPr lang="en-US" sz="900" dirty="0"/>
          </a:p>
        </p:txBody>
      </p:sp>
      <p:sp>
        <p:nvSpPr>
          <p:cNvPr id="19" name="Text 17"/>
          <p:cNvSpPr/>
          <p:nvPr/>
        </p:nvSpPr>
        <p:spPr>
          <a:xfrm>
            <a:off x="365760" y="4754880"/>
            <a:ext cx="548640" cy="402336"/>
          </a:xfrm>
          <a:prstGeom prst="rect">
            <a:avLst/>
          </a:prstGeom>
          <a:solidFill>
            <a:srgbClr val="1F5FA8"/>
          </a:solidFill>
          <a:ln>
            <a:solidFill>
              <a:srgbClr val="1F5FA8"/>
            </a:solid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'30 전략</a:t>
            </a:r>
            <a:endParaRPr lang="en-US" sz="800" dirty="0"/>
          </a:p>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연계</a:t>
            </a:r>
            <a:endParaRPr lang="en-US" sz="800" dirty="0"/>
          </a:p>
        </p:txBody>
      </p:sp>
      <p:sp>
        <p:nvSpPr>
          <p:cNvPr id="20" name="Text 18"/>
          <p:cNvSpPr/>
          <p:nvPr/>
        </p:nvSpPr>
        <p:spPr>
          <a:xfrm>
            <a:off x="914400" y="4754880"/>
            <a:ext cx="3191256" cy="402336"/>
          </a:xfrm>
          <a:prstGeom prst="rect">
            <a:avLst/>
          </a:prstGeom>
          <a:solidFill>
            <a:srgbClr val="F2F4F7"/>
          </a:solidFill>
          <a:ln w="9525">
            <a:solidFill>
              <a:srgbClr val="BFC7D2"/>
            </a:solidFill>
          </a:ln>
        </p:spPr>
        <p:txBody>
          <a:bodyPr wrap="square" lIns="50800" tIns="50800" rIns="50800" bIns="508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공정·프로세스 자동화, AI Agent 활용 업무 Span 확대</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Inno TF 설비정예화 연계 → 자율제조 전환 기반 확보</a:t>
            </a:r>
            <a:endParaRPr lang="en-US" sz="900" dirty="0"/>
          </a:p>
        </p:txBody>
      </p:sp>
      <p:sp>
        <p:nvSpPr>
          <p:cNvPr id="21" name="Text 19"/>
          <p:cNvSpPr/>
          <p:nvPr/>
        </p:nvSpPr>
        <p:spPr>
          <a:xfrm>
            <a:off x="4224528" y="2084832"/>
            <a:ext cx="3739896" cy="493776"/>
          </a:xfrm>
          <a:prstGeom prst="rect">
            <a:avLst/>
          </a:prstGeom>
          <a:solidFill>
            <a:srgbClr val="16498A"/>
          </a:solidFill>
          <a:ln>
            <a:solidFill>
              <a:srgbClr val="16498A"/>
            </a:solidFill>
          </a:ln>
        </p:spPr>
        <p:txBody>
          <a:bodyPr wrap="square" lIns="25400" tIns="25400" rIns="25400" bIns="2540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② HR 제도</a:t>
            </a:r>
            <a:endParaRPr lang="en-US" sz="900" dirty="0"/>
          </a:p>
          <a:p>
            <a:pPr algn="ctr" indent="0" marL="0">
              <a:buNone/>
            </a:pPr>
            <a:r>
              <a:rPr lang="en-US" sz="850" dirty="0">
                <a:solidFill>
                  <a:srgbClr val="D6E4F5"/>
                </a:solidFill>
                <a:latin typeface="맑은 고딕" pitchFamily="34" charset="0"/>
                <a:ea typeface="맑은 고딕" pitchFamily="34" charset="-122"/>
                <a:cs typeface="맑은 고딕" pitchFamily="34" charset="-120"/>
              </a:rPr>
              <a:t>성과·역할 중심 유연 인사체계 기반 창의적 인재 육성</a:t>
            </a:r>
            <a:endParaRPr lang="en-US" sz="900" dirty="0"/>
          </a:p>
        </p:txBody>
      </p:sp>
      <p:sp>
        <p:nvSpPr>
          <p:cNvPr id="22" name="Text 20"/>
          <p:cNvSpPr/>
          <p:nvPr/>
        </p:nvSpPr>
        <p:spPr>
          <a:xfrm>
            <a:off x="4224528" y="2615184"/>
            <a:ext cx="3739896" cy="274320"/>
          </a:xfrm>
          <a:prstGeom prst="rect">
            <a:avLst/>
          </a:prstGeom>
          <a:solidFill>
            <a:srgbClr val="FDEDE6"/>
          </a:solidFill>
          <a:ln w="9525">
            <a:solidFill>
              <a:srgbClr val="E8541E"/>
            </a:solidFill>
          </a:ln>
        </p:spPr>
        <p:txBody>
          <a:bodyPr wrap="square" lIns="0" tIns="0" rIns="0" bIns="0" rtlCol="0" anchor="ctr"/>
          <a:lstStyle/>
          <a:p>
            <a:pPr algn="ctr" indent="0" marL="0">
              <a:buNone/>
            </a:pPr>
            <a:r>
              <a:rPr lang="en-US" sz="850" dirty="0">
                <a:solidFill>
                  <a:srgbClr val="555555"/>
                </a:solidFill>
                <a:latin typeface="맑은 고딕" pitchFamily="34" charset="0"/>
                <a:ea typeface="맑은 고딕" pitchFamily="34" charset="-122"/>
                <a:cs typeface="맑은 고딕" pitchFamily="34" charset="-120"/>
              </a:rPr>
              <a:t>중앙통제·직급 중심</a:t>
            </a:r>
            <a:pPr algn="ctr" indent="0" marL="0">
              <a:buNone/>
            </a:pPr>
            <a:r>
              <a:rPr lang="en-US" sz="800" b="1" dirty="0">
                <a:solidFill>
                  <a:srgbClr val="E8541E"/>
                </a:solidFill>
                <a:latin typeface="맑은 고딕" pitchFamily="34" charset="0"/>
                <a:ea typeface="맑은 고딕" pitchFamily="34" charset="-122"/>
                <a:cs typeface="맑은 고딕" pitchFamily="34" charset="-120"/>
              </a:rPr>
              <a:t>   ▶   </a:t>
            </a:r>
            <a:pPr algn="ctr" indent="0" marL="0">
              <a:buNone/>
            </a:pPr>
            <a:r>
              <a:rPr lang="en-US" sz="950" b="1" dirty="0">
                <a:solidFill>
                  <a:srgbClr val="C2410C"/>
                </a:solidFill>
                <a:latin typeface="맑은 고딕" pitchFamily="34" charset="0"/>
                <a:ea typeface="맑은 고딕" pitchFamily="34" charset="-122"/>
                <a:cs typeface="맑은 고딕" pitchFamily="34" charset="-120"/>
              </a:rPr>
              <a:t>자율·책임·역할 중심</a:t>
            </a:r>
            <a:endParaRPr lang="en-US" sz="900" dirty="0"/>
          </a:p>
        </p:txBody>
      </p:sp>
      <p:sp>
        <p:nvSpPr>
          <p:cNvPr id="23" name="Text 21"/>
          <p:cNvSpPr/>
          <p:nvPr/>
        </p:nvSpPr>
        <p:spPr>
          <a:xfrm>
            <a:off x="4224528" y="2926080"/>
            <a:ext cx="548640" cy="86868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850" b="1" dirty="0">
                <a:solidFill>
                  <a:srgbClr val="0B2D5B"/>
                </a:solidFill>
                <a:latin typeface="맑은 고딕" pitchFamily="34" charset="0"/>
                <a:ea typeface="맑은 고딕" pitchFamily="34" charset="-122"/>
                <a:cs typeface="맑은 고딕" pitchFamily="34" charset="-120"/>
              </a:rPr>
              <a:t>운영</a:t>
            </a:r>
            <a:endParaRPr lang="en-US" sz="85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방식</a:t>
            </a:r>
            <a:endParaRPr lang="en-US" sz="850" dirty="0"/>
          </a:p>
        </p:txBody>
      </p:sp>
      <p:sp>
        <p:nvSpPr>
          <p:cNvPr id="24" name="Shape 22"/>
          <p:cNvSpPr/>
          <p:nvPr/>
        </p:nvSpPr>
        <p:spPr>
          <a:xfrm>
            <a:off x="4773168" y="2926080"/>
            <a:ext cx="3191256" cy="868680"/>
          </a:xfrm>
          <a:prstGeom prst="rect">
            <a:avLst/>
          </a:prstGeom>
          <a:solidFill>
            <a:srgbClr val="FFFFFF"/>
          </a:solidFill>
          <a:ln w="9525">
            <a:solidFill>
              <a:srgbClr val="BFC7D2"/>
            </a:solidFill>
            <a:prstDash val="solid"/>
          </a:ln>
        </p:spPr>
      </p:sp>
      <p:sp>
        <p:nvSpPr>
          <p:cNvPr id="25" name="Text 23"/>
          <p:cNvSpPr/>
          <p:nvPr/>
        </p:nvSpPr>
        <p:spPr>
          <a:xfrm>
            <a:off x="4828032" y="2926080"/>
            <a:ext cx="3099816" cy="868680"/>
          </a:xfrm>
          <a:prstGeom prst="rect">
            <a:avLst/>
          </a:prstGeom>
          <a:noFill/>
          <a:ln/>
        </p:spPr>
        <p:txBody>
          <a:bodyPr wrap="square" lIns="25400" tIns="25400" rIns="25400" bIns="25400" rtlCol="0" anchor="ctr"/>
          <a:lstStyle/>
          <a:p>
            <a:pPr indent="0" marL="0">
              <a:buNone/>
            </a:pPr>
            <a:r>
              <a:rPr lang="en-US" sz="950" b="1" dirty="0">
                <a:solidFill>
                  <a:srgbClr val="0B2D5B"/>
                </a:solidFill>
                <a:latin typeface="맑은 고딕" pitchFamily="34" charset="0"/>
                <a:ea typeface="맑은 고딕" pitchFamily="34" charset="-122"/>
                <a:cs typeface="맑은 고딕" pitchFamily="34" charset="-120"/>
              </a:rPr>
              <a:t>HR Decentralization</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'중앙통제' → '자율·책임 기반 성과 창출 지원'</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현업 리더 주도 인사운영, HR은 기준·데이터 지원</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성과 창출 방식 변화에 대응하는 창의적 인재 육성</a:t>
            </a:r>
            <a:endParaRPr lang="en-US" sz="900" dirty="0"/>
          </a:p>
        </p:txBody>
      </p:sp>
      <p:sp>
        <p:nvSpPr>
          <p:cNvPr id="26" name="Text 24"/>
          <p:cNvSpPr/>
          <p:nvPr/>
        </p:nvSpPr>
        <p:spPr>
          <a:xfrm>
            <a:off x="4224528" y="3831336"/>
            <a:ext cx="548640" cy="86868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850" b="1" dirty="0">
                <a:solidFill>
                  <a:srgbClr val="0B2D5B"/>
                </a:solidFill>
                <a:latin typeface="맑은 고딕" pitchFamily="34" charset="0"/>
                <a:ea typeface="맑은 고딕" pitchFamily="34" charset="-122"/>
                <a:cs typeface="맑은 고딕" pitchFamily="34" charset="-120"/>
              </a:rPr>
              <a:t>인사</a:t>
            </a:r>
            <a:endParaRPr lang="en-US" sz="85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체계</a:t>
            </a:r>
            <a:endParaRPr lang="en-US" sz="850" dirty="0"/>
          </a:p>
        </p:txBody>
      </p:sp>
      <p:sp>
        <p:nvSpPr>
          <p:cNvPr id="27" name="Shape 25"/>
          <p:cNvSpPr/>
          <p:nvPr/>
        </p:nvSpPr>
        <p:spPr>
          <a:xfrm>
            <a:off x="4773168" y="3831336"/>
            <a:ext cx="3191256" cy="868680"/>
          </a:xfrm>
          <a:prstGeom prst="rect">
            <a:avLst/>
          </a:prstGeom>
          <a:solidFill>
            <a:srgbClr val="FFFFFF"/>
          </a:solidFill>
          <a:ln w="9525">
            <a:solidFill>
              <a:srgbClr val="BFC7D2"/>
            </a:solidFill>
            <a:prstDash val="solid"/>
          </a:ln>
        </p:spPr>
      </p:sp>
      <p:sp>
        <p:nvSpPr>
          <p:cNvPr id="28" name="Text 26"/>
          <p:cNvSpPr/>
          <p:nvPr/>
        </p:nvSpPr>
        <p:spPr>
          <a:xfrm>
            <a:off x="4828032" y="3831336"/>
            <a:ext cx="3099816" cy="868680"/>
          </a:xfrm>
          <a:prstGeom prst="rect">
            <a:avLst/>
          </a:prstGeom>
          <a:noFill/>
          <a:ln/>
        </p:spPr>
        <p:txBody>
          <a:bodyPr wrap="square" lIns="25400" tIns="25400" rIns="25400" bIns="25400" rtlCol="0" anchor="ctr"/>
          <a:lstStyle/>
          <a:p>
            <a:pPr indent="0" marL="0">
              <a:buNone/>
            </a:pPr>
            <a:r>
              <a:rPr lang="en-US" sz="950" b="1" dirty="0">
                <a:solidFill>
                  <a:srgbClr val="0B2D5B"/>
                </a:solidFill>
                <a:latin typeface="맑은 고딕" pitchFamily="34" charset="0"/>
                <a:ea typeface="맑은 고딕" pitchFamily="34" charset="-122"/>
                <a:cs typeface="맑은 고딕" pitchFamily="34" charset="-120"/>
              </a:rPr>
              <a:t>전문성·역할 중심 인력 운영</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수평화된 직급/호칭, 직무급제 기반 보상</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高직급 적체 해소 完, MZ세대가 주축 계층 리딩</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직무 전문성 기반 경력경로(전문가 트랙) 운영</a:t>
            </a:r>
            <a:endParaRPr lang="en-US" sz="900" dirty="0"/>
          </a:p>
        </p:txBody>
      </p:sp>
      <p:sp>
        <p:nvSpPr>
          <p:cNvPr id="29" name="Text 27"/>
          <p:cNvSpPr/>
          <p:nvPr/>
        </p:nvSpPr>
        <p:spPr>
          <a:xfrm>
            <a:off x="4224528" y="4754880"/>
            <a:ext cx="548640" cy="402336"/>
          </a:xfrm>
          <a:prstGeom prst="rect">
            <a:avLst/>
          </a:prstGeom>
          <a:solidFill>
            <a:srgbClr val="1F5FA8"/>
          </a:solidFill>
          <a:ln>
            <a:solidFill>
              <a:srgbClr val="1F5FA8"/>
            </a:solid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'30 전략</a:t>
            </a:r>
            <a:endParaRPr lang="en-US" sz="800" dirty="0"/>
          </a:p>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연계</a:t>
            </a:r>
            <a:endParaRPr lang="en-US" sz="800" dirty="0"/>
          </a:p>
        </p:txBody>
      </p:sp>
      <p:sp>
        <p:nvSpPr>
          <p:cNvPr id="30" name="Text 28"/>
          <p:cNvSpPr/>
          <p:nvPr/>
        </p:nvSpPr>
        <p:spPr>
          <a:xfrm>
            <a:off x="4773168" y="4754880"/>
            <a:ext cx="3191256" cy="402336"/>
          </a:xfrm>
          <a:prstGeom prst="rect">
            <a:avLst/>
          </a:prstGeom>
          <a:solidFill>
            <a:srgbClr val="F2F4F7"/>
          </a:solidFill>
          <a:ln w="9525">
            <a:solidFill>
              <a:srgbClr val="BFC7D2"/>
            </a:solidFill>
          </a:ln>
        </p:spPr>
        <p:txBody>
          <a:bodyPr wrap="square" lIns="50800" tIns="50800" rIns="50800" bIns="508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뉴칼라 2.0 개편, Domain&amp;AI 전문인력 양성</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직책자 역할·권한 재정립, 정년연장 대비 제도 정비</a:t>
            </a:r>
            <a:endParaRPr lang="en-US" sz="900" dirty="0"/>
          </a:p>
        </p:txBody>
      </p:sp>
      <p:sp>
        <p:nvSpPr>
          <p:cNvPr id="31" name="Text 29"/>
          <p:cNvSpPr/>
          <p:nvPr/>
        </p:nvSpPr>
        <p:spPr>
          <a:xfrm>
            <a:off x="8083296" y="2084832"/>
            <a:ext cx="3739896" cy="493776"/>
          </a:xfrm>
          <a:prstGeom prst="rect">
            <a:avLst/>
          </a:prstGeom>
          <a:solidFill>
            <a:srgbClr val="16498A"/>
          </a:solidFill>
          <a:ln>
            <a:solidFill>
              <a:srgbClr val="16498A"/>
            </a:solidFill>
          </a:ln>
        </p:spPr>
        <p:txBody>
          <a:bodyPr wrap="square" lIns="25400" tIns="25400" rIns="25400" bIns="2540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③ 인력 규모</a:t>
            </a:r>
            <a:endParaRPr lang="en-US" sz="900" dirty="0"/>
          </a:p>
          <a:p>
            <a:pPr algn="ctr" indent="0" marL="0">
              <a:buNone/>
            </a:pPr>
            <a:r>
              <a:rPr lang="en-US" sz="850" dirty="0">
                <a:solidFill>
                  <a:srgbClr val="D6E4F5"/>
                </a:solidFill>
                <a:latin typeface="맑은 고딕" pitchFamily="34" charset="0"/>
                <a:ea typeface="맑은 고딕" pitchFamily="34" charset="-122"/>
                <a:cs typeface="맑은 고딕" pitchFamily="34" charset="-120"/>
              </a:rPr>
              <a:t>인당생산성 향상 포화 下 AI/로봇 협업 기반 최적 규모 운영</a:t>
            </a:r>
            <a:endParaRPr lang="en-US" sz="900" dirty="0"/>
          </a:p>
        </p:txBody>
      </p:sp>
      <p:sp>
        <p:nvSpPr>
          <p:cNvPr id="32" name="Text 30"/>
          <p:cNvSpPr/>
          <p:nvPr/>
        </p:nvSpPr>
        <p:spPr>
          <a:xfrm>
            <a:off x="8083296" y="2615184"/>
            <a:ext cx="3739896" cy="274320"/>
          </a:xfrm>
          <a:prstGeom prst="rect">
            <a:avLst/>
          </a:prstGeom>
          <a:solidFill>
            <a:srgbClr val="FDEDE6"/>
          </a:solidFill>
          <a:ln w="9525">
            <a:solidFill>
              <a:srgbClr val="E8541E"/>
            </a:solidFill>
          </a:ln>
        </p:spPr>
        <p:txBody>
          <a:bodyPr wrap="square" lIns="0" tIns="0" rIns="0" bIns="0" rtlCol="0" anchor="ctr"/>
          <a:lstStyle/>
          <a:p>
            <a:pPr algn="ctr" indent="0" marL="0">
              <a:buNone/>
            </a:pPr>
            <a:r>
              <a:rPr lang="en-US" sz="850" dirty="0">
                <a:solidFill>
                  <a:srgbClr val="555555"/>
                </a:solidFill>
                <a:latin typeface="맑은 고딕" pitchFamily="34" charset="0"/>
                <a:ea typeface="맑은 고딕" pitchFamily="34" charset="-122"/>
                <a:cs typeface="맑은 고딕" pitchFamily="34" charset="-120"/>
              </a:rPr>
              <a:t>인원 감축(Volume)</a:t>
            </a:r>
            <a:pPr algn="ctr" indent="0" marL="0">
              <a:buNone/>
            </a:pPr>
            <a:r>
              <a:rPr lang="en-US" sz="800" b="1" dirty="0">
                <a:solidFill>
                  <a:srgbClr val="E8541E"/>
                </a:solidFill>
                <a:latin typeface="맑은 고딕" pitchFamily="34" charset="0"/>
                <a:ea typeface="맑은 고딕" pitchFamily="34" charset="-122"/>
                <a:cs typeface="맑은 고딕" pitchFamily="34" charset="-120"/>
              </a:rPr>
              <a:t>   ▶   </a:t>
            </a:r>
            <a:pPr algn="ctr" indent="0" marL="0">
              <a:buNone/>
            </a:pPr>
            <a:r>
              <a:rPr lang="en-US" sz="950" b="1" dirty="0">
                <a:solidFill>
                  <a:srgbClr val="C2410C"/>
                </a:solidFill>
                <a:latin typeface="맑은 고딕" pitchFamily="34" charset="0"/>
                <a:ea typeface="맑은 고딕" pitchFamily="34" charset="-122"/>
                <a:cs typeface="맑은 고딕" pitchFamily="34" charset="-120"/>
              </a:rPr>
              <a:t>Human+AI 최적 규모 안정화</a:t>
            </a:r>
            <a:endParaRPr lang="en-US" sz="900" dirty="0"/>
          </a:p>
        </p:txBody>
      </p:sp>
      <p:sp>
        <p:nvSpPr>
          <p:cNvPr id="33" name="Text 31"/>
          <p:cNvSpPr/>
          <p:nvPr/>
        </p:nvSpPr>
        <p:spPr>
          <a:xfrm>
            <a:off x="8083296" y="2926080"/>
            <a:ext cx="548640" cy="86868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850" b="1" dirty="0">
                <a:solidFill>
                  <a:srgbClr val="0B2D5B"/>
                </a:solidFill>
                <a:latin typeface="맑은 고딕" pitchFamily="34" charset="0"/>
                <a:ea typeface="맑은 고딕" pitchFamily="34" charset="-122"/>
                <a:cs typeface="맑은 고딕" pitchFamily="34" charset="-120"/>
              </a:rPr>
              <a:t>인력</a:t>
            </a:r>
            <a:endParaRPr lang="en-US" sz="85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규모</a:t>
            </a:r>
            <a:endParaRPr lang="en-US" sz="850" dirty="0"/>
          </a:p>
        </p:txBody>
      </p:sp>
      <p:sp>
        <p:nvSpPr>
          <p:cNvPr id="34" name="Shape 32"/>
          <p:cNvSpPr/>
          <p:nvPr/>
        </p:nvSpPr>
        <p:spPr>
          <a:xfrm>
            <a:off x="8631936" y="2926080"/>
            <a:ext cx="3191256" cy="868680"/>
          </a:xfrm>
          <a:prstGeom prst="rect">
            <a:avLst/>
          </a:prstGeom>
          <a:solidFill>
            <a:srgbClr val="FFFFFF"/>
          </a:solidFill>
          <a:ln w="9525">
            <a:solidFill>
              <a:srgbClr val="BFC7D2"/>
            </a:solidFill>
            <a:prstDash val="solid"/>
          </a:ln>
        </p:spPr>
      </p:sp>
      <p:sp>
        <p:nvSpPr>
          <p:cNvPr id="35" name="Text 33"/>
          <p:cNvSpPr/>
          <p:nvPr/>
        </p:nvSpPr>
        <p:spPr>
          <a:xfrm>
            <a:off x="8686800" y="2953512"/>
            <a:ext cx="3099816" cy="201168"/>
          </a:xfrm>
          <a:prstGeom prst="rect">
            <a:avLst/>
          </a:prstGeom>
          <a:noFill/>
          <a:ln/>
        </p:spPr>
        <p:txBody>
          <a:bodyPr wrap="square" lIns="25400" tIns="25400" rIns="25400" bIns="25400" rtlCol="0" anchor="ctr"/>
          <a:lstStyle/>
          <a:p>
            <a:pPr indent="0" marL="0">
              <a:buNone/>
            </a:pPr>
            <a:r>
              <a:rPr lang="en-US" sz="950" b="1" dirty="0">
                <a:solidFill>
                  <a:srgbClr val="0B2D5B"/>
                </a:solidFill>
                <a:latin typeface="맑은 고딕" pitchFamily="34" charset="0"/>
                <a:ea typeface="맑은 고딕" pitchFamily="34" charset="-122"/>
                <a:cs typeface="맑은 고딕" pitchFamily="34" charset="-120"/>
              </a:rPr>
              <a:t>全 직군 Total 인력(TO) 2만명 수준 안정화</a:t>
            </a:r>
            <a:endParaRPr lang="en-US" sz="950" dirty="0"/>
          </a:p>
        </p:txBody>
      </p:sp>
      <p:sp>
        <p:nvSpPr>
          <p:cNvPr id="36" name="Text 34"/>
          <p:cNvSpPr/>
          <p:nvPr/>
        </p:nvSpPr>
        <p:spPr>
          <a:xfrm>
            <a:off x="8686800" y="3209544"/>
            <a:ext cx="384048" cy="146304"/>
          </a:xfrm>
          <a:prstGeom prst="rect">
            <a:avLst/>
          </a:prstGeom>
          <a:noFill/>
          <a:ln/>
        </p:spPr>
        <p:txBody>
          <a:bodyPr wrap="square" lIns="0" tIns="0" rIns="0" bIns="0" rtlCol="0" anchor="ctr"/>
          <a:lstStyle/>
          <a:p>
            <a:pPr algn="r" indent="0" marL="0">
              <a:buNone/>
            </a:pPr>
            <a:r>
              <a:rPr lang="en-US" sz="750" dirty="0">
                <a:solidFill>
                  <a:srgbClr val="222222"/>
                </a:solidFill>
                <a:latin typeface="맑은 고딕" pitchFamily="34" charset="0"/>
                <a:ea typeface="맑은 고딕" pitchFamily="34" charset="-122"/>
                <a:cs typeface="맑은 고딕" pitchFamily="34" charset="-120"/>
              </a:rPr>
              <a:t>'24.E</a:t>
            </a:r>
            <a:endParaRPr lang="en-US" sz="750" dirty="0"/>
          </a:p>
        </p:txBody>
      </p:sp>
      <p:sp>
        <p:nvSpPr>
          <p:cNvPr id="37" name="Shape 35"/>
          <p:cNvSpPr/>
          <p:nvPr/>
        </p:nvSpPr>
        <p:spPr>
          <a:xfrm>
            <a:off x="9089136" y="3209544"/>
            <a:ext cx="914400" cy="146304"/>
          </a:xfrm>
          <a:prstGeom prst="rect">
            <a:avLst/>
          </a:prstGeom>
          <a:solidFill>
            <a:srgbClr val="0B2D5B"/>
          </a:solidFill>
          <a:ln w="12700">
            <a:solidFill>
              <a:srgbClr val="0B2D5B"/>
            </a:solidFill>
            <a:prstDash val="solid"/>
          </a:ln>
        </p:spPr>
      </p:sp>
      <p:sp>
        <p:nvSpPr>
          <p:cNvPr id="38" name="Text 36"/>
          <p:cNvSpPr/>
          <p:nvPr/>
        </p:nvSpPr>
        <p:spPr>
          <a:xfrm>
            <a:off x="10040112" y="3209544"/>
            <a:ext cx="914400" cy="146304"/>
          </a:xfrm>
          <a:prstGeom prst="rect">
            <a:avLst/>
          </a:prstGeom>
          <a:noFill/>
          <a:ln/>
        </p:spPr>
        <p:txBody>
          <a:bodyPr wrap="square" lIns="0" tIns="0" rIns="0" bIns="0" rtlCol="0" anchor="ctr"/>
          <a:lstStyle/>
          <a:p>
            <a:pPr indent="0" marL="0">
              <a:buNone/>
            </a:pPr>
            <a:r>
              <a:rPr lang="en-US" sz="750" b="1" dirty="0">
                <a:solidFill>
                  <a:srgbClr val="0B2D5B"/>
                </a:solidFill>
                <a:latin typeface="맑은 고딕" pitchFamily="34" charset="0"/>
                <a:ea typeface="맑은 고딕" pitchFamily="34" charset="-122"/>
                <a:cs typeface="맑은 고딕" pitchFamily="34" charset="-120"/>
              </a:rPr>
              <a:t>28,104</a:t>
            </a:r>
            <a:endParaRPr lang="en-US" sz="750" dirty="0"/>
          </a:p>
        </p:txBody>
      </p:sp>
      <p:sp>
        <p:nvSpPr>
          <p:cNvPr id="39" name="Text 37"/>
          <p:cNvSpPr/>
          <p:nvPr/>
        </p:nvSpPr>
        <p:spPr>
          <a:xfrm>
            <a:off x="8686800" y="3396996"/>
            <a:ext cx="384048" cy="146304"/>
          </a:xfrm>
          <a:prstGeom prst="rect">
            <a:avLst/>
          </a:prstGeom>
          <a:noFill/>
          <a:ln/>
        </p:spPr>
        <p:txBody>
          <a:bodyPr wrap="square" lIns="0" tIns="0" rIns="0" bIns="0" rtlCol="0" anchor="ctr"/>
          <a:lstStyle/>
          <a:p>
            <a:pPr algn="r" indent="0" marL="0">
              <a:buNone/>
            </a:pPr>
            <a:r>
              <a:rPr lang="en-US" sz="750" dirty="0">
                <a:solidFill>
                  <a:srgbClr val="222222"/>
                </a:solidFill>
                <a:latin typeface="맑은 고딕" pitchFamily="34" charset="0"/>
                <a:ea typeface="맑은 고딕" pitchFamily="34" charset="-122"/>
                <a:cs typeface="맑은 고딕" pitchFamily="34" charset="-120"/>
              </a:rPr>
              <a:t>'30.E</a:t>
            </a:r>
            <a:endParaRPr lang="en-US" sz="750" dirty="0"/>
          </a:p>
        </p:txBody>
      </p:sp>
      <p:sp>
        <p:nvSpPr>
          <p:cNvPr id="40" name="Shape 38"/>
          <p:cNvSpPr/>
          <p:nvPr/>
        </p:nvSpPr>
        <p:spPr>
          <a:xfrm>
            <a:off x="9089136" y="3396996"/>
            <a:ext cx="723314" cy="146304"/>
          </a:xfrm>
          <a:prstGeom prst="rect">
            <a:avLst/>
          </a:prstGeom>
          <a:solidFill>
            <a:srgbClr val="1F5FA8"/>
          </a:solidFill>
          <a:ln w="12700">
            <a:solidFill>
              <a:srgbClr val="1F5FA8"/>
            </a:solidFill>
            <a:prstDash val="solid"/>
          </a:ln>
        </p:spPr>
      </p:sp>
      <p:sp>
        <p:nvSpPr>
          <p:cNvPr id="41" name="Text 39"/>
          <p:cNvSpPr/>
          <p:nvPr/>
        </p:nvSpPr>
        <p:spPr>
          <a:xfrm>
            <a:off x="9849026" y="3396996"/>
            <a:ext cx="914400" cy="146304"/>
          </a:xfrm>
          <a:prstGeom prst="rect">
            <a:avLst/>
          </a:prstGeom>
          <a:noFill/>
          <a:ln/>
        </p:spPr>
        <p:txBody>
          <a:bodyPr wrap="square" lIns="0" tIns="0" rIns="0" bIns="0" rtlCol="0" anchor="ctr"/>
          <a:lstStyle/>
          <a:p>
            <a:pPr indent="0" marL="0">
              <a:buNone/>
            </a:pPr>
            <a:r>
              <a:rPr lang="en-US" sz="750" b="1" dirty="0">
                <a:solidFill>
                  <a:srgbClr val="0B2D5B"/>
                </a:solidFill>
                <a:latin typeface="맑은 고딕" pitchFamily="34" charset="0"/>
                <a:ea typeface="맑은 고딕" pitchFamily="34" charset="-122"/>
                <a:cs typeface="맑은 고딕" pitchFamily="34" charset="-120"/>
              </a:rPr>
              <a:t>22,231 (△20.9%)</a:t>
            </a:r>
            <a:endParaRPr lang="en-US" sz="750" dirty="0"/>
          </a:p>
        </p:txBody>
      </p:sp>
      <p:sp>
        <p:nvSpPr>
          <p:cNvPr id="42" name="Text 40"/>
          <p:cNvSpPr/>
          <p:nvPr/>
        </p:nvSpPr>
        <p:spPr>
          <a:xfrm>
            <a:off x="8686800" y="3584448"/>
            <a:ext cx="384048" cy="146304"/>
          </a:xfrm>
          <a:prstGeom prst="rect">
            <a:avLst/>
          </a:prstGeom>
          <a:noFill/>
          <a:ln/>
        </p:spPr>
        <p:txBody>
          <a:bodyPr wrap="square" lIns="0" tIns="0" rIns="0" bIns="0" rtlCol="0" anchor="ctr"/>
          <a:lstStyle/>
          <a:p>
            <a:pPr algn="r" indent="0" marL="0">
              <a:buNone/>
            </a:pPr>
            <a:r>
              <a:rPr lang="en-US" sz="750" b="1" dirty="0">
                <a:solidFill>
                  <a:srgbClr val="222222"/>
                </a:solidFill>
                <a:latin typeface="맑은 고딕" pitchFamily="34" charset="0"/>
                <a:ea typeface="맑은 고딕" pitchFamily="34" charset="-122"/>
                <a:cs typeface="맑은 고딕" pitchFamily="34" charset="-120"/>
              </a:rPr>
              <a:t>'35</a:t>
            </a:r>
            <a:endParaRPr lang="en-US" sz="750" dirty="0"/>
          </a:p>
        </p:txBody>
      </p:sp>
      <p:sp>
        <p:nvSpPr>
          <p:cNvPr id="43" name="Shape 41"/>
          <p:cNvSpPr/>
          <p:nvPr/>
        </p:nvSpPr>
        <p:spPr>
          <a:xfrm>
            <a:off x="9089136" y="3584448"/>
            <a:ext cx="650726" cy="146304"/>
          </a:xfrm>
          <a:prstGeom prst="rect">
            <a:avLst/>
          </a:prstGeom>
          <a:solidFill>
            <a:srgbClr val="EEF3FA"/>
          </a:solidFill>
          <a:ln w="12700">
            <a:solidFill>
              <a:srgbClr val="1F5FA8"/>
            </a:solidFill>
            <a:prstDash val="dash"/>
          </a:ln>
        </p:spPr>
      </p:sp>
      <p:sp>
        <p:nvSpPr>
          <p:cNvPr id="44" name="Text 42"/>
          <p:cNvSpPr/>
          <p:nvPr/>
        </p:nvSpPr>
        <p:spPr>
          <a:xfrm>
            <a:off x="9776438" y="3584448"/>
            <a:ext cx="914400" cy="146304"/>
          </a:xfrm>
          <a:prstGeom prst="rect">
            <a:avLst/>
          </a:prstGeom>
          <a:noFill/>
          <a:ln/>
        </p:spPr>
        <p:txBody>
          <a:bodyPr wrap="square" lIns="0" tIns="0" rIns="0" bIns="0" rtlCol="0" anchor="ctr"/>
          <a:lstStyle/>
          <a:p>
            <a:pPr indent="0" marL="0">
              <a:buNone/>
            </a:pPr>
            <a:r>
              <a:rPr lang="en-US" sz="750" b="1" dirty="0">
                <a:solidFill>
                  <a:srgbClr val="C2410C"/>
                </a:solidFill>
                <a:latin typeface="맑은 고딕" pitchFamily="34" charset="0"/>
                <a:ea typeface="맑은 고딕" pitchFamily="34" charset="-122"/>
                <a:cs typeface="맑은 고딕" pitchFamily="34" charset="-120"/>
              </a:rPr>
              <a:t>약 2만 (△약 29%)</a:t>
            </a:r>
            <a:endParaRPr lang="en-US" sz="750" dirty="0"/>
          </a:p>
        </p:txBody>
      </p:sp>
      <p:sp>
        <p:nvSpPr>
          <p:cNvPr id="45" name="Shape 43"/>
          <p:cNvSpPr/>
          <p:nvPr/>
        </p:nvSpPr>
        <p:spPr>
          <a:xfrm>
            <a:off x="10808208" y="3218688"/>
            <a:ext cx="0" cy="512064"/>
          </a:xfrm>
          <a:prstGeom prst="line">
            <a:avLst/>
          </a:prstGeom>
          <a:noFill/>
          <a:ln w="9525">
            <a:solidFill>
              <a:srgbClr val="BFC7D2"/>
            </a:solidFill>
            <a:prstDash val="solid"/>
          </a:ln>
        </p:spPr>
      </p:sp>
      <p:sp>
        <p:nvSpPr>
          <p:cNvPr id="46" name="Text 44"/>
          <p:cNvSpPr/>
          <p:nvPr/>
        </p:nvSpPr>
        <p:spPr>
          <a:xfrm>
            <a:off x="10826496" y="3182112"/>
            <a:ext cx="978408" cy="585216"/>
          </a:xfrm>
          <a:prstGeom prst="rect">
            <a:avLst/>
          </a:prstGeom>
          <a:noFill/>
          <a:ln/>
        </p:spPr>
        <p:txBody>
          <a:bodyPr wrap="square" lIns="0" tIns="0" rIns="0" bIns="0" rtlCol="0" anchor="ctr"/>
          <a:lstStyle/>
          <a:p>
            <a:pPr algn="ctr" indent="0" marL="0">
              <a:buNone/>
            </a:pPr>
            <a:r>
              <a:rPr lang="en-US" sz="750" b="1" dirty="0">
                <a:solidFill>
                  <a:srgbClr val="0B2D5B"/>
                </a:solidFill>
                <a:latin typeface="맑은 고딕" pitchFamily="34" charset="0"/>
                <a:ea typeface="맑은 고딕" pitchFamily="34" charset="-122"/>
                <a:cs typeface="맑은 고딕" pitchFamily="34" charset="-120"/>
              </a:rPr>
              <a:t>인당생산성</a:t>
            </a:r>
            <a:endParaRPr lang="en-US" sz="900" dirty="0"/>
          </a:p>
          <a:p>
            <a:pPr algn="ctr" indent="0" marL="0">
              <a:buNone/>
            </a:pPr>
            <a:r>
              <a:rPr lang="en-US" sz="1300" b="1" dirty="0">
                <a:solidFill>
                  <a:srgbClr val="E8541E"/>
                </a:solidFill>
                <a:latin typeface="맑은 고딕" pitchFamily="34" charset="0"/>
                <a:ea typeface="맑은 고딕" pitchFamily="34" charset="-122"/>
                <a:cs typeface="맑은 고딕" pitchFamily="34" charset="-120"/>
              </a:rPr>
              <a:t>약 1.4배</a:t>
            </a:r>
            <a:endParaRPr lang="en-US" sz="900" dirty="0"/>
          </a:p>
          <a:p>
            <a:pPr algn="ctr" indent="0" marL="0">
              <a:buNone/>
            </a:pPr>
            <a:r>
              <a:rPr lang="en-US" sz="650" dirty="0">
                <a:solidFill>
                  <a:srgbClr val="555555"/>
                </a:solidFill>
                <a:latin typeface="맑은 고딕" pitchFamily="34" charset="0"/>
                <a:ea typeface="맑은 고딕" pitchFamily="34" charset="-122"/>
                <a:cs typeface="맑은 고딕" pitchFamily="34" charset="-120"/>
              </a:rPr>
              <a:t>'24.E比 (생산량 동일)</a:t>
            </a:r>
            <a:endParaRPr lang="en-US" sz="900" dirty="0"/>
          </a:p>
        </p:txBody>
      </p:sp>
      <p:sp>
        <p:nvSpPr>
          <p:cNvPr id="47" name="Text 45"/>
          <p:cNvSpPr/>
          <p:nvPr/>
        </p:nvSpPr>
        <p:spPr>
          <a:xfrm>
            <a:off x="8083296" y="3831336"/>
            <a:ext cx="548640" cy="868680"/>
          </a:xfrm>
          <a:prstGeom prst="rect">
            <a:avLst/>
          </a:prstGeom>
          <a:solidFill>
            <a:srgbClr val="D6E4F5"/>
          </a:solidFill>
          <a:ln w="9525">
            <a:solidFill>
              <a:srgbClr val="BFC7D2"/>
            </a:solidFill>
          </a:ln>
        </p:spPr>
        <p:txBody>
          <a:bodyPr wrap="square" lIns="0" tIns="0" rIns="0" bIns="0" rtlCol="0" anchor="ctr"/>
          <a:lstStyle/>
          <a:p>
            <a:pPr algn="ctr" indent="0" marL="0">
              <a:buNone/>
            </a:pPr>
            <a:r>
              <a:rPr lang="en-US" sz="850" b="1" dirty="0">
                <a:solidFill>
                  <a:srgbClr val="0B2D5B"/>
                </a:solidFill>
                <a:latin typeface="맑은 고딕" pitchFamily="34" charset="0"/>
                <a:ea typeface="맑은 고딕" pitchFamily="34" charset="-122"/>
                <a:cs typeface="맑은 고딕" pitchFamily="34" charset="-120"/>
              </a:rPr>
              <a:t>운영</a:t>
            </a:r>
            <a:endParaRPr lang="en-US" sz="850" dirty="0"/>
          </a:p>
          <a:p>
            <a:pPr algn="ctr" indent="0" marL="0">
              <a:buNone/>
            </a:pPr>
            <a:r>
              <a:rPr lang="en-US" sz="850" b="1" dirty="0">
                <a:solidFill>
                  <a:srgbClr val="0B2D5B"/>
                </a:solidFill>
                <a:latin typeface="맑은 고딕" pitchFamily="34" charset="0"/>
                <a:ea typeface="맑은 고딕" pitchFamily="34" charset="-122"/>
                <a:cs typeface="맑은 고딕" pitchFamily="34" charset="-120"/>
              </a:rPr>
              <a:t>모습</a:t>
            </a:r>
            <a:endParaRPr lang="en-US" sz="850" dirty="0"/>
          </a:p>
        </p:txBody>
      </p:sp>
      <p:sp>
        <p:nvSpPr>
          <p:cNvPr id="48" name="Shape 46"/>
          <p:cNvSpPr/>
          <p:nvPr/>
        </p:nvSpPr>
        <p:spPr>
          <a:xfrm>
            <a:off x="8631936" y="3831336"/>
            <a:ext cx="3191256" cy="868680"/>
          </a:xfrm>
          <a:prstGeom prst="rect">
            <a:avLst/>
          </a:prstGeom>
          <a:solidFill>
            <a:srgbClr val="FFFFFF"/>
          </a:solidFill>
          <a:ln w="9525">
            <a:solidFill>
              <a:srgbClr val="BFC7D2"/>
            </a:solidFill>
            <a:prstDash val="solid"/>
          </a:ln>
        </p:spPr>
      </p:sp>
      <p:sp>
        <p:nvSpPr>
          <p:cNvPr id="49" name="Text 47"/>
          <p:cNvSpPr/>
          <p:nvPr/>
        </p:nvSpPr>
        <p:spPr>
          <a:xfrm>
            <a:off x="8686800" y="3831336"/>
            <a:ext cx="3099816" cy="868680"/>
          </a:xfrm>
          <a:prstGeom prst="rect">
            <a:avLst/>
          </a:prstGeom>
          <a:noFill/>
          <a:ln/>
        </p:spPr>
        <p:txBody>
          <a:bodyPr wrap="square" lIns="25400" tIns="25400" rIns="25400" bIns="25400" rtlCol="0" anchor="ctr"/>
          <a:lstStyle/>
          <a:p>
            <a:pPr indent="0" marL="0">
              <a:buNone/>
            </a:pPr>
            <a:r>
              <a:rPr lang="en-US" sz="950" b="1" dirty="0">
                <a:solidFill>
                  <a:srgbClr val="0B2D5B"/>
                </a:solidFill>
                <a:latin typeface="맑은 고딕" pitchFamily="34" charset="0"/>
                <a:ea typeface="맑은 고딕" pitchFamily="34" charset="-122"/>
                <a:cs typeface="맑은 고딕" pitchFamily="34" charset="-120"/>
              </a:rPr>
              <a:t>Human+AI/로봇 합동 근무</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全 직군 인력 정예화, 재채용 계약직 대폭 축소</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자동화·무인화 투자 성과 창출, 최적 효율 인력</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AGI·AI/로봇과 사람이 합동 근무하는 운영체계</a:t>
            </a:r>
            <a:endParaRPr lang="en-US" sz="900" dirty="0"/>
          </a:p>
        </p:txBody>
      </p:sp>
      <p:sp>
        <p:nvSpPr>
          <p:cNvPr id="50" name="Text 48"/>
          <p:cNvSpPr/>
          <p:nvPr/>
        </p:nvSpPr>
        <p:spPr>
          <a:xfrm>
            <a:off x="8083296" y="4754880"/>
            <a:ext cx="548640" cy="402336"/>
          </a:xfrm>
          <a:prstGeom prst="rect">
            <a:avLst/>
          </a:prstGeom>
          <a:solidFill>
            <a:srgbClr val="1F5FA8"/>
          </a:solidFill>
          <a:ln>
            <a:solidFill>
              <a:srgbClr val="1F5FA8"/>
            </a:solid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'30 전략</a:t>
            </a:r>
            <a:endParaRPr lang="en-US" sz="800" dirty="0"/>
          </a:p>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연계</a:t>
            </a:r>
            <a:endParaRPr lang="en-US" sz="800" dirty="0"/>
          </a:p>
        </p:txBody>
      </p:sp>
      <p:sp>
        <p:nvSpPr>
          <p:cNvPr id="51" name="Text 49"/>
          <p:cNvSpPr/>
          <p:nvPr/>
        </p:nvSpPr>
        <p:spPr>
          <a:xfrm>
            <a:off x="8631936" y="4754880"/>
            <a:ext cx="3191256" cy="402336"/>
          </a:xfrm>
          <a:prstGeom prst="rect">
            <a:avLst/>
          </a:prstGeom>
          <a:solidFill>
            <a:srgbClr val="F2F4F7"/>
          </a:solidFill>
          <a:ln w="9525">
            <a:solidFill>
              <a:srgbClr val="BFC7D2"/>
            </a:solidFill>
          </a:ln>
        </p:spPr>
        <p:txBody>
          <a:bodyPr wrap="square" lIns="50800" tIns="50800" rIns="50800" bIns="5080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 Total TO 22,231명(△20.9%), TO·노무비 통합관리</a:t>
            </a:r>
            <a:endParaRPr lang="en-US" sz="900" dirty="0"/>
          </a:p>
          <a:p>
            <a:pPr indent="0" marL="0">
              <a:buNone/>
            </a:pPr>
            <a:r>
              <a:rPr lang="en-US" sz="800" dirty="0">
                <a:solidFill>
                  <a:srgbClr val="222222"/>
                </a:solidFill>
                <a:latin typeface="맑은 고딕" pitchFamily="34" charset="0"/>
                <a:ea typeface="맑은 고딕" pitchFamily="34" charset="-122"/>
                <a:cs typeface="맑은 고딕" pitchFamily="34" charset="-120"/>
              </a:rPr>
              <a:t>· '31년~ 감축 속도 조절, 자연감소 연동 규모 안정화</a:t>
            </a:r>
            <a:endParaRPr lang="en-US" sz="900" dirty="0"/>
          </a:p>
        </p:txBody>
      </p:sp>
      <p:sp>
        <p:nvSpPr>
          <p:cNvPr id="52" name="Text 50"/>
          <p:cNvSpPr/>
          <p:nvPr/>
        </p:nvSpPr>
        <p:spPr>
          <a:xfrm>
            <a:off x="365760" y="5248656"/>
            <a:ext cx="914400" cy="1225296"/>
          </a:xfrm>
          <a:prstGeom prst="rect">
            <a:avLst/>
          </a:prstGeom>
          <a:solidFill>
            <a:srgbClr val="0B2D5B"/>
          </a:solidFill>
          <a:ln>
            <a:solidFill>
              <a:srgbClr val="0B2D5B"/>
            </a:solid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불확실성</a:t>
            </a:r>
            <a:endParaRPr lang="en-US" sz="1000" dirty="0"/>
          </a:p>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대응</a:t>
            </a:r>
            <a:endParaRPr lang="en-US" sz="1000" dirty="0"/>
          </a:p>
        </p:txBody>
      </p:sp>
      <p:sp>
        <p:nvSpPr>
          <p:cNvPr id="53" name="Text 51"/>
          <p:cNvSpPr/>
          <p:nvPr/>
        </p:nvSpPr>
        <p:spPr>
          <a:xfrm>
            <a:off x="1353312" y="5248656"/>
            <a:ext cx="5943600" cy="219456"/>
          </a:xfrm>
          <a:prstGeom prst="rect">
            <a:avLst/>
          </a:prstGeom>
          <a:solidFill>
            <a:srgbClr val="D6E4F5"/>
          </a:solidFill>
          <a:ln>
            <a:solidFill>
              <a:srgbClr val="D6E4F5"/>
            </a:solidFill>
          </a:ln>
        </p:spPr>
        <p:txBody>
          <a:bodyPr wrap="square" lIns="76200" tIns="76200" rIns="76200" bIns="76200" rtlCol="0" anchor="ctr"/>
          <a:lstStyle/>
          <a:p>
            <a:pPr algn="l" indent="0" marL="0">
              <a:buNone/>
            </a:pPr>
            <a:r>
              <a:rPr lang="en-US" sz="900" b="1" dirty="0">
                <a:solidFill>
                  <a:srgbClr val="0B2D5B"/>
                </a:solidFill>
                <a:latin typeface="맑은 고딕" pitchFamily="34" charset="0"/>
                <a:ea typeface="맑은 고딕" pitchFamily="34" charset="-122"/>
                <a:cs typeface="맑은 고딕" pitchFamily="34" charset="-120"/>
              </a:rPr>
              <a:t>핵심 불확실성 (Signpost)  ─  '35 경로 보정 Trigger로 매년 점검</a:t>
            </a:r>
            <a:endParaRPr lang="en-US" sz="900" dirty="0"/>
          </a:p>
        </p:txBody>
      </p:sp>
      <p:sp>
        <p:nvSpPr>
          <p:cNvPr id="54" name="Shape 52"/>
          <p:cNvSpPr/>
          <p:nvPr/>
        </p:nvSpPr>
        <p:spPr>
          <a:xfrm>
            <a:off x="1353312" y="5504688"/>
            <a:ext cx="2944368" cy="466344"/>
          </a:xfrm>
          <a:prstGeom prst="rect">
            <a:avLst/>
          </a:prstGeom>
          <a:solidFill>
            <a:srgbClr val="FFFFFF"/>
          </a:solidFill>
          <a:ln w="9525">
            <a:solidFill>
              <a:srgbClr val="BFC7D2"/>
            </a:solidFill>
            <a:prstDash val="solid"/>
          </a:ln>
        </p:spPr>
      </p:sp>
      <p:sp>
        <p:nvSpPr>
          <p:cNvPr id="55" name="Text 53"/>
          <p:cNvSpPr/>
          <p:nvPr/>
        </p:nvSpPr>
        <p:spPr>
          <a:xfrm>
            <a:off x="1408176" y="5532120"/>
            <a:ext cx="2103120" cy="201168"/>
          </a:xfrm>
          <a:prstGeom prst="rect">
            <a:avLst/>
          </a:prstGeom>
          <a:noFill/>
          <a:ln/>
        </p:spPr>
        <p:txBody>
          <a:bodyPr wrap="square" lIns="12700" tIns="12700" rIns="12700" bIns="12700" rtlCol="0" anchor="ctr"/>
          <a:lstStyle/>
          <a:p>
            <a:pPr indent="0" marL="0">
              <a:buNone/>
            </a:pPr>
            <a:r>
              <a:rPr lang="en-US" sz="900" b="1" dirty="0">
                <a:solidFill>
                  <a:srgbClr val="222222"/>
                </a:solidFill>
                <a:latin typeface="맑은 고딕" pitchFamily="34" charset="0"/>
                <a:ea typeface="맑은 고딕" pitchFamily="34" charset="-122"/>
                <a:cs typeface="맑은 고딕" pitchFamily="34" charset="-120"/>
              </a:rPr>
              <a:t>AI·로봇 기술 성숙 속도</a:t>
            </a:r>
            <a:endParaRPr lang="en-US" sz="900" dirty="0"/>
          </a:p>
        </p:txBody>
      </p:sp>
      <p:sp>
        <p:nvSpPr>
          <p:cNvPr id="56" name="Text 54"/>
          <p:cNvSpPr/>
          <p:nvPr/>
        </p:nvSpPr>
        <p:spPr>
          <a:xfrm>
            <a:off x="3639312" y="5559552"/>
            <a:ext cx="585216" cy="155448"/>
          </a:xfrm>
          <a:prstGeom prst="rect">
            <a:avLst/>
          </a:prstGeom>
          <a:solidFill>
            <a:srgbClr val="FDEDE6"/>
          </a:solidFill>
          <a:ln w="6350">
            <a:solidFill>
              <a:srgbClr val="E8541E"/>
            </a:solidFill>
          </a:ln>
        </p:spPr>
        <p:txBody>
          <a:bodyPr wrap="square" lIns="0" tIns="0" rIns="0" bIns="0" rtlCol="0" anchor="ctr"/>
          <a:lstStyle/>
          <a:p>
            <a:pPr algn="ctr" indent="0" marL="0">
              <a:buNone/>
            </a:pPr>
            <a:r>
              <a:rPr lang="en-US" sz="700" b="1" dirty="0">
                <a:solidFill>
                  <a:srgbClr val="C2410C"/>
                </a:solidFill>
                <a:latin typeface="맑은 고딕" pitchFamily="34" charset="0"/>
                <a:ea typeface="맑은 고딕" pitchFamily="34" charset="-122"/>
                <a:cs typeface="맑은 고딕" pitchFamily="34" charset="-120"/>
              </a:rPr>
              <a:t>영향 ①③</a:t>
            </a:r>
            <a:endParaRPr lang="en-US" sz="700" dirty="0"/>
          </a:p>
        </p:txBody>
      </p:sp>
      <p:sp>
        <p:nvSpPr>
          <p:cNvPr id="57" name="Text 55"/>
          <p:cNvSpPr/>
          <p:nvPr/>
        </p:nvSpPr>
        <p:spPr>
          <a:xfrm>
            <a:off x="1408176" y="5742432"/>
            <a:ext cx="2852928" cy="201168"/>
          </a:xfrm>
          <a:prstGeom prst="rect">
            <a:avLst/>
          </a:prstGeom>
          <a:noFill/>
          <a:ln/>
        </p:spPr>
        <p:txBody>
          <a:bodyPr wrap="square" lIns="12700" tIns="12700" rIns="12700" bIns="12700" rtlCol="0" anchor="ctr"/>
          <a:lstStyle/>
          <a:p>
            <a:pPr indent="0" marL="0">
              <a:buNone/>
            </a:pPr>
            <a:r>
              <a:rPr lang="en-US" sz="800" dirty="0">
                <a:solidFill>
                  <a:srgbClr val="555555"/>
                </a:solidFill>
                <a:latin typeface="맑은 고딕" pitchFamily="34" charset="0"/>
                <a:ea typeface="맑은 고딕" pitchFamily="34" charset="-122"/>
                <a:cs typeface="맑은 고딕" pitchFamily="34" charset="-120"/>
              </a:rPr>
              <a:t>AGI 상용화, 자율제조 적용 범위·투자 회수 시점</a:t>
            </a:r>
            <a:endParaRPr lang="en-US" sz="800" dirty="0"/>
          </a:p>
        </p:txBody>
      </p:sp>
      <p:sp>
        <p:nvSpPr>
          <p:cNvPr id="58" name="Shape 56"/>
          <p:cNvSpPr/>
          <p:nvPr/>
        </p:nvSpPr>
        <p:spPr>
          <a:xfrm>
            <a:off x="4352544" y="5504688"/>
            <a:ext cx="2944368" cy="466344"/>
          </a:xfrm>
          <a:prstGeom prst="rect">
            <a:avLst/>
          </a:prstGeom>
          <a:solidFill>
            <a:srgbClr val="FFFFFF"/>
          </a:solidFill>
          <a:ln w="9525">
            <a:solidFill>
              <a:srgbClr val="BFC7D2"/>
            </a:solidFill>
            <a:prstDash val="solid"/>
          </a:ln>
        </p:spPr>
      </p:sp>
      <p:sp>
        <p:nvSpPr>
          <p:cNvPr id="59" name="Text 57"/>
          <p:cNvSpPr/>
          <p:nvPr/>
        </p:nvSpPr>
        <p:spPr>
          <a:xfrm>
            <a:off x="4407408" y="5532120"/>
            <a:ext cx="2103120" cy="201168"/>
          </a:xfrm>
          <a:prstGeom prst="rect">
            <a:avLst/>
          </a:prstGeom>
          <a:noFill/>
          <a:ln/>
        </p:spPr>
        <p:txBody>
          <a:bodyPr wrap="square" lIns="12700" tIns="12700" rIns="12700" bIns="12700" rtlCol="0" anchor="ctr"/>
          <a:lstStyle/>
          <a:p>
            <a:pPr indent="0" marL="0">
              <a:buNone/>
            </a:pPr>
            <a:r>
              <a:rPr lang="en-US" sz="900" b="1" dirty="0">
                <a:solidFill>
                  <a:srgbClr val="222222"/>
                </a:solidFill>
                <a:latin typeface="맑은 고딕" pitchFamily="34" charset="0"/>
                <a:ea typeface="맑은 고딕" pitchFamily="34" charset="-122"/>
                <a:cs typeface="맑은 고딕" pitchFamily="34" charset="-120"/>
              </a:rPr>
              <a:t>노동 규제·노사 환경</a:t>
            </a:r>
            <a:endParaRPr lang="en-US" sz="900" dirty="0"/>
          </a:p>
        </p:txBody>
      </p:sp>
      <p:sp>
        <p:nvSpPr>
          <p:cNvPr id="60" name="Text 58"/>
          <p:cNvSpPr/>
          <p:nvPr/>
        </p:nvSpPr>
        <p:spPr>
          <a:xfrm>
            <a:off x="6638544" y="5559552"/>
            <a:ext cx="585216" cy="155448"/>
          </a:xfrm>
          <a:prstGeom prst="rect">
            <a:avLst/>
          </a:prstGeom>
          <a:solidFill>
            <a:srgbClr val="FDEDE6"/>
          </a:solidFill>
          <a:ln w="6350">
            <a:solidFill>
              <a:srgbClr val="E8541E"/>
            </a:solidFill>
          </a:ln>
        </p:spPr>
        <p:txBody>
          <a:bodyPr wrap="square" lIns="0" tIns="0" rIns="0" bIns="0" rtlCol="0" anchor="ctr"/>
          <a:lstStyle/>
          <a:p>
            <a:pPr algn="ctr" indent="0" marL="0">
              <a:buNone/>
            </a:pPr>
            <a:r>
              <a:rPr lang="en-US" sz="700" b="1" dirty="0">
                <a:solidFill>
                  <a:srgbClr val="C2410C"/>
                </a:solidFill>
                <a:latin typeface="맑은 고딕" pitchFamily="34" charset="0"/>
                <a:ea typeface="맑은 고딕" pitchFamily="34" charset="-122"/>
                <a:cs typeface="맑은 고딕" pitchFamily="34" charset="-120"/>
              </a:rPr>
              <a:t>영향 ②③</a:t>
            </a:r>
            <a:endParaRPr lang="en-US" sz="700" dirty="0"/>
          </a:p>
        </p:txBody>
      </p:sp>
      <p:sp>
        <p:nvSpPr>
          <p:cNvPr id="61" name="Text 59"/>
          <p:cNvSpPr/>
          <p:nvPr/>
        </p:nvSpPr>
        <p:spPr>
          <a:xfrm>
            <a:off x="4407408" y="5742432"/>
            <a:ext cx="2852928" cy="201168"/>
          </a:xfrm>
          <a:prstGeom prst="rect">
            <a:avLst/>
          </a:prstGeom>
          <a:noFill/>
          <a:ln/>
        </p:spPr>
        <p:txBody>
          <a:bodyPr wrap="square" lIns="12700" tIns="12700" rIns="12700" bIns="12700" rtlCol="0" anchor="ctr"/>
          <a:lstStyle/>
          <a:p>
            <a:pPr indent="0" marL="0">
              <a:buNone/>
            </a:pPr>
            <a:r>
              <a:rPr lang="en-US" sz="800" dirty="0">
                <a:solidFill>
                  <a:srgbClr val="555555"/>
                </a:solidFill>
                <a:latin typeface="맑은 고딕" pitchFamily="34" charset="0"/>
                <a:ea typeface="맑은 고딕" pitchFamily="34" charset="-122"/>
                <a:cs typeface="맑은 고딕" pitchFamily="34" charset="-120"/>
              </a:rPr>
              <a:t>정년연장, 노란봉투법, 근로시간 단축 등 유연성 제약</a:t>
            </a:r>
            <a:endParaRPr lang="en-US" sz="800" dirty="0"/>
          </a:p>
        </p:txBody>
      </p:sp>
      <p:sp>
        <p:nvSpPr>
          <p:cNvPr id="62" name="Shape 60"/>
          <p:cNvSpPr/>
          <p:nvPr/>
        </p:nvSpPr>
        <p:spPr>
          <a:xfrm>
            <a:off x="1353312" y="6007608"/>
            <a:ext cx="2944368" cy="466344"/>
          </a:xfrm>
          <a:prstGeom prst="rect">
            <a:avLst/>
          </a:prstGeom>
          <a:solidFill>
            <a:srgbClr val="FFFFFF"/>
          </a:solidFill>
          <a:ln w="9525">
            <a:solidFill>
              <a:srgbClr val="BFC7D2"/>
            </a:solidFill>
            <a:prstDash val="solid"/>
          </a:ln>
        </p:spPr>
      </p:sp>
      <p:sp>
        <p:nvSpPr>
          <p:cNvPr id="63" name="Text 61"/>
          <p:cNvSpPr/>
          <p:nvPr/>
        </p:nvSpPr>
        <p:spPr>
          <a:xfrm>
            <a:off x="1408176" y="6035040"/>
            <a:ext cx="2103120" cy="201168"/>
          </a:xfrm>
          <a:prstGeom prst="rect">
            <a:avLst/>
          </a:prstGeom>
          <a:noFill/>
          <a:ln/>
        </p:spPr>
        <p:txBody>
          <a:bodyPr wrap="square" lIns="12700" tIns="12700" rIns="12700" bIns="12700" rtlCol="0" anchor="ctr"/>
          <a:lstStyle/>
          <a:p>
            <a:pPr indent="0" marL="0">
              <a:buNone/>
            </a:pPr>
            <a:r>
              <a:rPr lang="en-US" sz="900" b="1" dirty="0">
                <a:solidFill>
                  <a:srgbClr val="222222"/>
                </a:solidFill>
                <a:latin typeface="맑은 고딕" pitchFamily="34" charset="0"/>
                <a:ea typeface="맑은 고딕" pitchFamily="34" charset="-122"/>
                <a:cs typeface="맑은 고딕" pitchFamily="34" charset="-120"/>
              </a:rPr>
              <a:t>철강 시황·사업 포트폴리오</a:t>
            </a:r>
            <a:endParaRPr lang="en-US" sz="900" dirty="0"/>
          </a:p>
        </p:txBody>
      </p:sp>
      <p:sp>
        <p:nvSpPr>
          <p:cNvPr id="64" name="Text 62"/>
          <p:cNvSpPr/>
          <p:nvPr/>
        </p:nvSpPr>
        <p:spPr>
          <a:xfrm>
            <a:off x="3639312" y="6062472"/>
            <a:ext cx="585216" cy="155448"/>
          </a:xfrm>
          <a:prstGeom prst="rect">
            <a:avLst/>
          </a:prstGeom>
          <a:solidFill>
            <a:srgbClr val="FDEDE6"/>
          </a:solidFill>
          <a:ln w="6350">
            <a:solidFill>
              <a:srgbClr val="E8541E"/>
            </a:solidFill>
          </a:ln>
        </p:spPr>
        <p:txBody>
          <a:bodyPr wrap="square" lIns="0" tIns="0" rIns="0" bIns="0" rtlCol="0" anchor="ctr"/>
          <a:lstStyle/>
          <a:p>
            <a:pPr algn="ctr" indent="0" marL="0">
              <a:buNone/>
            </a:pPr>
            <a:r>
              <a:rPr lang="en-US" sz="700" b="1" dirty="0">
                <a:solidFill>
                  <a:srgbClr val="C2410C"/>
                </a:solidFill>
                <a:latin typeface="맑은 고딕" pitchFamily="34" charset="0"/>
                <a:ea typeface="맑은 고딕" pitchFamily="34" charset="-122"/>
                <a:cs typeface="맑은 고딕" pitchFamily="34" charset="-120"/>
              </a:rPr>
              <a:t>영향 ①③</a:t>
            </a:r>
            <a:endParaRPr lang="en-US" sz="700" dirty="0"/>
          </a:p>
        </p:txBody>
      </p:sp>
      <p:sp>
        <p:nvSpPr>
          <p:cNvPr id="65" name="Text 63"/>
          <p:cNvSpPr/>
          <p:nvPr/>
        </p:nvSpPr>
        <p:spPr>
          <a:xfrm>
            <a:off x="1408176" y="6245352"/>
            <a:ext cx="2852928" cy="201168"/>
          </a:xfrm>
          <a:prstGeom prst="rect">
            <a:avLst/>
          </a:prstGeom>
          <a:noFill/>
          <a:ln/>
        </p:spPr>
        <p:txBody>
          <a:bodyPr wrap="square" lIns="12700" tIns="12700" rIns="12700" bIns="12700" rtlCol="0" anchor="ctr"/>
          <a:lstStyle/>
          <a:p>
            <a:pPr indent="0" marL="0">
              <a:buNone/>
            </a:pPr>
            <a:r>
              <a:rPr lang="en-US" sz="800" dirty="0">
                <a:solidFill>
                  <a:srgbClr val="555555"/>
                </a:solidFill>
                <a:latin typeface="맑은 고딕" pitchFamily="34" charset="0"/>
                <a:ea typeface="맑은 고딕" pitchFamily="34" charset="-122"/>
                <a:cs typeface="맑은 고딕" pitchFamily="34" charset="-120"/>
              </a:rPr>
              <a:t>저수익 장기화, 해외거점(인도·美) 확대 및 사업재편</a:t>
            </a:r>
            <a:endParaRPr lang="en-US" sz="800" dirty="0"/>
          </a:p>
        </p:txBody>
      </p:sp>
      <p:sp>
        <p:nvSpPr>
          <p:cNvPr id="66" name="Shape 64"/>
          <p:cNvSpPr/>
          <p:nvPr/>
        </p:nvSpPr>
        <p:spPr>
          <a:xfrm>
            <a:off x="4352544" y="6007608"/>
            <a:ext cx="2944368" cy="466344"/>
          </a:xfrm>
          <a:prstGeom prst="rect">
            <a:avLst/>
          </a:prstGeom>
          <a:solidFill>
            <a:srgbClr val="FFFFFF"/>
          </a:solidFill>
          <a:ln w="9525">
            <a:solidFill>
              <a:srgbClr val="BFC7D2"/>
            </a:solidFill>
            <a:prstDash val="solid"/>
          </a:ln>
        </p:spPr>
      </p:sp>
      <p:sp>
        <p:nvSpPr>
          <p:cNvPr id="67" name="Text 65"/>
          <p:cNvSpPr/>
          <p:nvPr/>
        </p:nvSpPr>
        <p:spPr>
          <a:xfrm>
            <a:off x="4407408" y="6035040"/>
            <a:ext cx="2103120" cy="201168"/>
          </a:xfrm>
          <a:prstGeom prst="rect">
            <a:avLst/>
          </a:prstGeom>
          <a:noFill/>
          <a:ln/>
        </p:spPr>
        <p:txBody>
          <a:bodyPr wrap="square" lIns="12700" tIns="12700" rIns="12700" bIns="12700" rtlCol="0" anchor="ctr"/>
          <a:lstStyle/>
          <a:p>
            <a:pPr indent="0" marL="0">
              <a:buNone/>
            </a:pPr>
            <a:r>
              <a:rPr lang="en-US" sz="900" b="1" dirty="0">
                <a:solidFill>
                  <a:srgbClr val="222222"/>
                </a:solidFill>
                <a:latin typeface="맑은 고딕" pitchFamily="34" charset="0"/>
                <a:ea typeface="맑은 고딕" pitchFamily="34" charset="-122"/>
                <a:cs typeface="맑은 고딕" pitchFamily="34" charset="-120"/>
              </a:rPr>
              <a:t>인구·세대 구조 변화</a:t>
            </a:r>
            <a:endParaRPr lang="en-US" sz="900" dirty="0"/>
          </a:p>
        </p:txBody>
      </p:sp>
      <p:sp>
        <p:nvSpPr>
          <p:cNvPr id="68" name="Text 66"/>
          <p:cNvSpPr/>
          <p:nvPr/>
        </p:nvSpPr>
        <p:spPr>
          <a:xfrm>
            <a:off x="6638544" y="6062472"/>
            <a:ext cx="585216" cy="155448"/>
          </a:xfrm>
          <a:prstGeom prst="rect">
            <a:avLst/>
          </a:prstGeom>
          <a:solidFill>
            <a:srgbClr val="FDEDE6"/>
          </a:solidFill>
          <a:ln w="6350">
            <a:solidFill>
              <a:srgbClr val="E8541E"/>
            </a:solidFill>
          </a:ln>
        </p:spPr>
        <p:txBody>
          <a:bodyPr wrap="square" lIns="0" tIns="0" rIns="0" bIns="0" rtlCol="0" anchor="ctr"/>
          <a:lstStyle/>
          <a:p>
            <a:pPr algn="ctr" indent="0" marL="0">
              <a:buNone/>
            </a:pPr>
            <a:r>
              <a:rPr lang="en-US" sz="700" b="1" dirty="0">
                <a:solidFill>
                  <a:srgbClr val="C2410C"/>
                </a:solidFill>
                <a:latin typeface="맑은 고딕" pitchFamily="34" charset="0"/>
                <a:ea typeface="맑은 고딕" pitchFamily="34" charset="-122"/>
                <a:cs typeface="맑은 고딕" pitchFamily="34" charset="-120"/>
              </a:rPr>
              <a:t>영향 ②③</a:t>
            </a:r>
            <a:endParaRPr lang="en-US" sz="700" dirty="0"/>
          </a:p>
        </p:txBody>
      </p:sp>
      <p:sp>
        <p:nvSpPr>
          <p:cNvPr id="69" name="Text 67"/>
          <p:cNvSpPr/>
          <p:nvPr/>
        </p:nvSpPr>
        <p:spPr>
          <a:xfrm>
            <a:off x="4407408" y="6245352"/>
            <a:ext cx="2852928" cy="201168"/>
          </a:xfrm>
          <a:prstGeom prst="rect">
            <a:avLst/>
          </a:prstGeom>
          <a:noFill/>
          <a:ln/>
        </p:spPr>
        <p:txBody>
          <a:bodyPr wrap="square" lIns="12700" tIns="12700" rIns="12700" bIns="12700" rtlCol="0" anchor="ctr"/>
          <a:lstStyle/>
          <a:p>
            <a:pPr indent="0" marL="0">
              <a:buNone/>
            </a:pPr>
            <a:r>
              <a:rPr lang="en-US" sz="800" dirty="0">
                <a:solidFill>
                  <a:srgbClr val="555555"/>
                </a:solidFill>
                <a:latin typeface="맑은 고딕" pitchFamily="34" charset="0"/>
                <a:ea typeface="맑은 고딕" pitchFamily="34" charset="-122"/>
                <a:cs typeface="맑은 고딕" pitchFamily="34" charset="-120"/>
              </a:rPr>
              <a:t>생산가능인구 감소, 베이비부머 은퇴·MZ 주축 전환</a:t>
            </a:r>
            <a:endParaRPr lang="en-US" sz="800" dirty="0"/>
          </a:p>
        </p:txBody>
      </p:sp>
      <p:sp>
        <p:nvSpPr>
          <p:cNvPr id="70" name="Text 68"/>
          <p:cNvSpPr/>
          <p:nvPr/>
        </p:nvSpPr>
        <p:spPr>
          <a:xfrm>
            <a:off x="7388352" y="5248656"/>
            <a:ext cx="4434840" cy="219456"/>
          </a:xfrm>
          <a:prstGeom prst="rect">
            <a:avLst/>
          </a:prstGeom>
          <a:solidFill>
            <a:srgbClr val="D6E4F5"/>
          </a:solidFill>
          <a:ln>
            <a:solidFill>
              <a:srgbClr val="D6E4F5"/>
            </a:solidFill>
          </a:ln>
        </p:spPr>
        <p:txBody>
          <a:bodyPr wrap="square" lIns="76200" tIns="76200" rIns="76200" bIns="76200" rtlCol="0" anchor="ctr"/>
          <a:lstStyle/>
          <a:p>
            <a:pPr algn="l" indent="0" marL="0">
              <a:buNone/>
            </a:pPr>
            <a:r>
              <a:rPr lang="en-US" sz="900" b="1" dirty="0">
                <a:solidFill>
                  <a:srgbClr val="0B2D5B"/>
                </a:solidFill>
                <a:latin typeface="맑은 고딕" pitchFamily="34" charset="0"/>
                <a:ea typeface="맑은 고딕" pitchFamily="34" charset="-122"/>
                <a:cs typeface="맑은 고딕" pitchFamily="34" charset="-120"/>
              </a:rPr>
              <a:t>경로 관리 원칙</a:t>
            </a:r>
            <a:endParaRPr lang="en-US" sz="900" dirty="0"/>
          </a:p>
        </p:txBody>
      </p:sp>
      <p:sp>
        <p:nvSpPr>
          <p:cNvPr id="71" name="Text 69"/>
          <p:cNvSpPr/>
          <p:nvPr/>
        </p:nvSpPr>
        <p:spPr>
          <a:xfrm>
            <a:off x="7388352" y="5504688"/>
            <a:ext cx="868680" cy="320040"/>
          </a:xfrm>
          <a:prstGeom prst="rect">
            <a:avLst/>
          </a:prstGeom>
          <a:solidFill>
            <a:srgbClr val="FDEDE6"/>
          </a:solidFill>
          <a:ln w="9525">
            <a:solidFill>
              <a:srgbClr val="E8541E"/>
            </a:solidFill>
          </a:ln>
        </p:spPr>
        <p:txBody>
          <a:bodyPr wrap="square" lIns="0" tIns="0" rIns="0" bIns="0" rtlCol="0" anchor="ctr"/>
          <a:lstStyle/>
          <a:p>
            <a:pPr algn="ctr" indent="0" marL="0">
              <a:buNone/>
            </a:pPr>
            <a:r>
              <a:rPr lang="en-US" sz="850" b="1" dirty="0">
                <a:solidFill>
                  <a:srgbClr val="C2410C"/>
                </a:solidFill>
                <a:latin typeface="맑은 고딕" pitchFamily="34" charset="0"/>
                <a:ea typeface="맑은 고딕" pitchFamily="34" charset="-122"/>
                <a:cs typeface="맑은 고딕" pitchFamily="34" charset="-120"/>
              </a:rPr>
              <a:t>No-regret</a:t>
            </a:r>
            <a:endParaRPr lang="en-US" sz="850" dirty="0"/>
          </a:p>
        </p:txBody>
      </p:sp>
      <p:sp>
        <p:nvSpPr>
          <p:cNvPr id="72" name="Text 70"/>
          <p:cNvSpPr/>
          <p:nvPr/>
        </p:nvSpPr>
        <p:spPr>
          <a:xfrm>
            <a:off x="8257032" y="5504688"/>
            <a:ext cx="3566160" cy="320040"/>
          </a:xfrm>
          <a:prstGeom prst="rect">
            <a:avLst/>
          </a:prstGeom>
          <a:solidFill>
            <a:srgbClr val="FFFFFF"/>
          </a:solidFill>
          <a:ln w="9525">
            <a:solidFill>
              <a:srgbClr val="BFC7D2"/>
            </a:solidFill>
          </a:ln>
        </p:spPr>
        <p:txBody>
          <a:bodyPr wrap="square" lIns="19050" tIns="19050" rIns="19050" bIns="1905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시나리오 무관 선행 추진 ─ 직무·역할 중심 제도, AI 인재 확보, Total TO·노무비 관리체계</a:t>
            </a:r>
            <a:endParaRPr lang="en-US" sz="800" dirty="0"/>
          </a:p>
        </p:txBody>
      </p:sp>
      <p:sp>
        <p:nvSpPr>
          <p:cNvPr id="73" name="Text 71"/>
          <p:cNvSpPr/>
          <p:nvPr/>
        </p:nvSpPr>
        <p:spPr>
          <a:xfrm>
            <a:off x="7388352" y="5838444"/>
            <a:ext cx="868680" cy="320040"/>
          </a:xfrm>
          <a:prstGeom prst="rect">
            <a:avLst/>
          </a:prstGeom>
          <a:solidFill>
            <a:srgbClr val="FDEDE6"/>
          </a:solidFill>
          <a:ln w="9525">
            <a:solidFill>
              <a:srgbClr val="E8541E"/>
            </a:solidFill>
          </a:ln>
        </p:spPr>
        <p:txBody>
          <a:bodyPr wrap="square" lIns="0" tIns="0" rIns="0" bIns="0" rtlCol="0" anchor="ctr"/>
          <a:lstStyle/>
          <a:p>
            <a:pPr algn="ctr" indent="0" marL="0">
              <a:buNone/>
            </a:pPr>
            <a:r>
              <a:rPr lang="en-US" sz="850" b="1" dirty="0">
                <a:solidFill>
                  <a:srgbClr val="C2410C"/>
                </a:solidFill>
                <a:latin typeface="맑은 고딕" pitchFamily="34" charset="0"/>
                <a:ea typeface="맑은 고딕" pitchFamily="34" charset="-122"/>
                <a:cs typeface="맑은 고딕" pitchFamily="34" charset="-120"/>
              </a:rPr>
              <a:t>조건부 확대</a:t>
            </a:r>
            <a:endParaRPr lang="en-US" sz="850" dirty="0"/>
          </a:p>
        </p:txBody>
      </p:sp>
      <p:sp>
        <p:nvSpPr>
          <p:cNvPr id="74" name="Text 72"/>
          <p:cNvSpPr/>
          <p:nvPr/>
        </p:nvSpPr>
        <p:spPr>
          <a:xfrm>
            <a:off x="8257032" y="5838444"/>
            <a:ext cx="3566160" cy="320040"/>
          </a:xfrm>
          <a:prstGeom prst="rect">
            <a:avLst/>
          </a:prstGeom>
          <a:solidFill>
            <a:srgbClr val="FFFFFF"/>
          </a:solidFill>
          <a:ln w="9525">
            <a:solidFill>
              <a:srgbClr val="BFC7D2"/>
            </a:solidFill>
          </a:ln>
        </p:spPr>
        <p:txBody>
          <a:bodyPr wrap="square" lIns="19050" tIns="19050" rIns="19050" bIns="1905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기술 성숙·투자 성과 확인 後 자율제조·무인화 적용 범위, 조직 통합 속도 단계적 확대</a:t>
            </a:r>
            <a:endParaRPr lang="en-US" sz="800" dirty="0"/>
          </a:p>
        </p:txBody>
      </p:sp>
      <p:sp>
        <p:nvSpPr>
          <p:cNvPr id="75" name="Text 73"/>
          <p:cNvSpPr/>
          <p:nvPr/>
        </p:nvSpPr>
        <p:spPr>
          <a:xfrm>
            <a:off x="7388352" y="6172200"/>
            <a:ext cx="868680" cy="320040"/>
          </a:xfrm>
          <a:prstGeom prst="rect">
            <a:avLst/>
          </a:prstGeom>
          <a:solidFill>
            <a:srgbClr val="FDEDE6"/>
          </a:solidFill>
          <a:ln w="9525">
            <a:solidFill>
              <a:srgbClr val="E8541E"/>
            </a:solidFill>
          </a:ln>
        </p:spPr>
        <p:txBody>
          <a:bodyPr wrap="square" lIns="0" tIns="0" rIns="0" bIns="0" rtlCol="0" anchor="ctr"/>
          <a:lstStyle/>
          <a:p>
            <a:pPr algn="ctr" indent="0" marL="0">
              <a:buNone/>
            </a:pPr>
            <a:r>
              <a:rPr lang="en-US" sz="850" b="1" dirty="0">
                <a:solidFill>
                  <a:srgbClr val="C2410C"/>
                </a:solidFill>
                <a:latin typeface="맑은 고딕" pitchFamily="34" charset="0"/>
                <a:ea typeface="맑은 고딕" pitchFamily="34" charset="-122"/>
                <a:cs typeface="맑은 고딕" pitchFamily="34" charset="-120"/>
              </a:rPr>
              <a:t>Rolling 보정</a:t>
            </a:r>
            <a:endParaRPr lang="en-US" sz="850" dirty="0"/>
          </a:p>
        </p:txBody>
      </p:sp>
      <p:sp>
        <p:nvSpPr>
          <p:cNvPr id="76" name="Text 74"/>
          <p:cNvSpPr/>
          <p:nvPr/>
        </p:nvSpPr>
        <p:spPr>
          <a:xfrm>
            <a:off x="8257032" y="6172200"/>
            <a:ext cx="3566160" cy="320040"/>
          </a:xfrm>
          <a:prstGeom prst="rect">
            <a:avLst/>
          </a:prstGeom>
          <a:solidFill>
            <a:srgbClr val="FFFFFF"/>
          </a:solidFill>
          <a:ln w="9525">
            <a:solidFill>
              <a:srgbClr val="BFC7D2"/>
            </a:solidFill>
          </a:ln>
        </p:spPr>
        <p:txBody>
          <a:bodyPr wrap="square" lIns="19050" tIns="19050" rIns="19050" bIns="19050" rtlCol="0" anchor="ctr"/>
          <a:lstStyle/>
          <a:p>
            <a:pPr indent="0" marL="0">
              <a:buNone/>
            </a:pPr>
            <a:r>
              <a:rPr lang="en-US" sz="800" dirty="0">
                <a:solidFill>
                  <a:srgbClr val="222222"/>
                </a:solidFill>
                <a:latin typeface="맑은 고딕" pitchFamily="34" charset="0"/>
                <a:ea typeface="맑은 고딕" pitchFamily="34" charset="-122"/>
                <a:cs typeface="맑은 고딕" pitchFamily="34" charset="-120"/>
              </a:rPr>
              <a:t>기술 가속 時 조기 달성, 지연·규제 강화 時 속도 조절 ─ 매년 '35 규모·시점 재설정</a:t>
            </a:r>
            <a:endParaRPr lang="en-US" sz="800" dirty="0"/>
          </a:p>
        </p:txBody>
      </p:sp>
      <p:sp>
        <p:nvSpPr>
          <p:cNvPr id="77" name="Text 75"/>
          <p:cNvSpPr/>
          <p:nvPr/>
        </p:nvSpPr>
        <p:spPr>
          <a:xfrm>
            <a:off x="365760" y="6537960"/>
            <a:ext cx="10789920" cy="219456"/>
          </a:xfrm>
          <a:prstGeom prst="rect">
            <a:avLst/>
          </a:prstGeom>
          <a:noFill/>
          <a:ln/>
        </p:spPr>
        <p:txBody>
          <a:bodyPr wrap="square" lIns="0" tIns="0" rIns="0" bIns="0" rtlCol="0" anchor="ctr"/>
          <a:lstStyle/>
          <a:p>
            <a:pPr indent="0" marL="0">
              <a:buNone/>
            </a:pPr>
            <a:r>
              <a:rPr lang="en-US" sz="800" dirty="0">
                <a:solidFill>
                  <a:srgbClr val="555555"/>
                </a:solidFill>
                <a:latin typeface="맑은 고딕" pitchFamily="34" charset="0"/>
                <a:ea typeface="맑은 고딕" pitchFamily="34" charset="-122"/>
                <a:cs typeface="맑은 고딕" pitchFamily="34" charset="-120"/>
              </a:rPr>
              <a:t>※ '35 청사진은 확정 목표가 아닌 방향성(North Star)으로, 규모·시점은 매년 중기전략 Rolling 時 재점검  /  인당생산성: 생산량 동일 가정 時 Total TO('24.E) 대비 산출</a:t>
            </a:r>
            <a:endParaRPr lang="en-US" sz="800" dirty="0"/>
          </a:p>
        </p:txBody>
      </p:sp>
      <p:sp>
        <p:nvSpPr>
          <p:cNvPr id="78" name="Text 76"/>
          <p:cNvSpPr/>
          <p:nvPr/>
        </p:nvSpPr>
        <p:spPr>
          <a:xfrm>
            <a:off x="11365992" y="6537960"/>
            <a:ext cx="457200" cy="219456"/>
          </a:xfrm>
          <a:prstGeom prst="rect">
            <a:avLst/>
          </a:prstGeom>
          <a:noFill/>
          <a:ln/>
        </p:spPr>
        <p:txBody>
          <a:bodyPr wrap="square" lIns="0" tIns="0" rIns="0" bIns="0" rtlCol="0" anchor="ctr"/>
          <a:lstStyle/>
          <a:p>
            <a:pPr algn="r" indent="0" marL="0">
              <a:buNone/>
            </a:pPr>
            <a:r>
              <a:rPr lang="en-US" sz="900" dirty="0">
                <a:solidFill>
                  <a:srgbClr val="555555"/>
                </a:solidFill>
                <a:latin typeface="맑은 고딕" pitchFamily="34" charset="0"/>
                <a:ea typeface="맑은 고딕" pitchFamily="34" charset="-122"/>
                <a:cs typeface="맑은 고딕" pitchFamily="34" charset="-120"/>
              </a:rPr>
              <a:t>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중기전략('26~'30 Rolling) - 인당생산성 향상 및 2035 HR 미래 청사진</dc:title>
  <dc:subject>PptxGenJS Presentation</dc:subject>
  <dc:creator>PptxGenJS</dc:creator>
  <cp:lastModifiedBy>PptxGenJS</cp:lastModifiedBy>
  <cp:revision>1</cp:revision>
  <dcterms:created xsi:type="dcterms:W3CDTF">2026-09-14T11:53:01Z</dcterms:created>
  <dcterms:modified xsi:type="dcterms:W3CDTF">2026-09-14T11:53:01Z</dcterms:modified>
</cp:coreProperties>
</file>